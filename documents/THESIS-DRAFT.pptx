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7" r:id="rId5"/>
    <p:sldId id="263" r:id="rId6"/>
    <p:sldId id="268" r:id="rId7"/>
    <p:sldId id="275" r:id="rId8"/>
    <p:sldId id="260" r:id="rId9"/>
    <p:sldId id="276" r:id="rId10"/>
    <p:sldId id="272" r:id="rId11"/>
    <p:sldId id="277" r:id="rId12"/>
    <p:sldId id="280" r:id="rId13"/>
    <p:sldId id="278" r:id="rId14"/>
    <p:sldId id="269" r:id="rId15"/>
    <p:sldId id="279" r:id="rId16"/>
    <p:sldId id="270" r:id="rId17"/>
    <p:sldId id="274" r:id="rId18"/>
    <p:sldId id="262" r:id="rId19"/>
    <p:sldId id="259" r:id="rId20"/>
    <p:sldId id="256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5/26/2026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11627566" cy="16498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/>
              <a:t>Student Engagement Recognition from Facial and Video Features: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931747"/>
            <a:ext cx="8257833" cy="1825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/>
              <a:t>A Comparison of transferability of OpenFace, I3D, and Multimodal Temporal Models from CMOSE dataset to Vietnamese online class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08E1B1-D9CD-415A-BCE5-B57F39B2F3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/>
              <a:t>Motivation</a:t>
            </a:r>
          </a:p>
          <a:p>
            <a:pPr marL="514350" indent="-514350">
              <a:buAutoNum type="arabicPeriod"/>
            </a:pPr>
            <a:r>
              <a:rPr lang="en-US"/>
              <a:t>Problem Statement</a:t>
            </a:r>
          </a:p>
          <a:p>
            <a:pPr marL="514350" indent="-514350">
              <a:buAutoNum type="arabicPeriod"/>
            </a:pPr>
            <a:r>
              <a:rPr lang="en-US"/>
              <a:t>Dataset</a:t>
            </a:r>
          </a:p>
          <a:p>
            <a:pPr marL="514350" indent="-514350">
              <a:buAutoNum type="arabicPeriod"/>
            </a:pPr>
            <a:r>
              <a:rPr lang="en-US"/>
              <a:t>Feature Extraction</a:t>
            </a:r>
          </a:p>
          <a:p>
            <a:pPr marL="514350" indent="-514350">
              <a:buAutoNum type="arabicPeriod"/>
            </a:pPr>
            <a:r>
              <a:rPr lang="en-US"/>
              <a:t>Architectures</a:t>
            </a:r>
          </a:p>
          <a:p>
            <a:pPr marL="514350" indent="-514350">
              <a:buAutoNum type="arabicPeriod"/>
            </a:pPr>
            <a:r>
              <a:rPr lang="en-US"/>
              <a:t>Losses &amp; Metrics</a:t>
            </a:r>
          </a:p>
          <a:p>
            <a:pPr marL="514350" indent="-514350">
              <a:buAutoNum type="arabicPeriod"/>
            </a:pPr>
            <a:r>
              <a:rPr lang="en-US"/>
              <a:t>Results</a:t>
            </a:r>
          </a:p>
          <a:p>
            <a:pPr marL="514350" indent="-514350">
              <a:buAutoNum type="arabicPeriod"/>
            </a:pPr>
            <a:r>
              <a:rPr lang="en-US"/>
              <a:t>Conclusion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6941D0-D074-43AE-8875-C4BDC98A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1CA00-8B5A-4B5F-AE21-CF0691D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0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7B4C0-1A87-3AEA-CA04-910607BD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8451-2B17-4542-60DD-741660BBB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558AB-E35A-41A1-84F3-8128DEBDDA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10925208" cy="4909124"/>
          </a:xfrm>
        </p:spPr>
        <p:txBody>
          <a:bodyPr/>
          <a:lstStyle/>
          <a:p>
            <a:r>
              <a:rPr lang="en-US"/>
              <a:t>Online courses / hybrid courses (b-learning) is popular.</a:t>
            </a:r>
          </a:p>
          <a:p>
            <a:r>
              <a:rPr lang="en-US"/>
              <a:t>Make up session of offline course are sometime hosted online.</a:t>
            </a:r>
          </a:p>
          <a:p>
            <a:r>
              <a:rPr lang="en-US"/>
              <a:t>During online session, lecturer often lack visual feedback from student: Engagement, Confusion, Tiredness,…</a:t>
            </a:r>
          </a:p>
          <a:p>
            <a:r>
              <a:rPr lang="en-US"/>
              <a:t>Current research did not fully examine uncontrolled environment, especially university in Vietnam.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F71C1-125B-0929-45B0-6CF4AAF4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4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8FD1-E1EA-3E64-A1CB-4121983D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C8BAC-4AF2-C0AD-60B7-645DBA3EC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AEEF-9C40-ED71-5FC3-F1F24376A2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5802875" cy="4909124"/>
          </a:xfrm>
        </p:spPr>
        <p:txBody>
          <a:bodyPr/>
          <a:lstStyle/>
          <a:p>
            <a:r>
              <a:rPr lang="en-US"/>
              <a:t>Recognize students’ engagement level from facial features and video features.</a:t>
            </a:r>
          </a:p>
          <a:p>
            <a:r>
              <a:rPr lang="en-US"/>
              <a:t>Input:</a:t>
            </a:r>
          </a:p>
          <a:p>
            <a:pPr lvl="1"/>
            <a:r>
              <a:rPr lang="en-US"/>
              <a:t>10s clips of online classes</a:t>
            </a:r>
          </a:p>
          <a:p>
            <a:r>
              <a:rPr lang="en-US"/>
              <a:t>Output:</a:t>
            </a:r>
          </a:p>
          <a:p>
            <a:pPr lvl="1"/>
            <a:r>
              <a:rPr lang="en-US"/>
              <a:t>4 classes: HE/E/D/HD</a:t>
            </a:r>
          </a:p>
          <a:p>
            <a:r>
              <a:rPr lang="en-US"/>
              <a:t>Problem: </a:t>
            </a:r>
          </a:p>
          <a:p>
            <a:pPr lvl="1"/>
            <a:r>
              <a:rPr lang="en-US"/>
              <a:t>Class inbalance: datasets dominated by class “Engage”</a:t>
            </a:r>
          </a:p>
          <a:p>
            <a:pPr lvl="1"/>
            <a:r>
              <a:rPr lang="en-US"/>
              <a:t>Domain shift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3136A-C1C8-6A04-920D-9E70EF95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997B28-EC91-84E2-35BC-707CEB01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791" y="829849"/>
            <a:ext cx="1816909" cy="553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4683" y="1065592"/>
            <a:ext cx="5443997" cy="4909124"/>
          </a:xfrm>
        </p:spPr>
        <p:txBody>
          <a:bodyPr/>
          <a:lstStyle/>
          <a:p>
            <a:r>
              <a:rPr lang="en-US"/>
              <a:t>CMOSE dataset</a:t>
            </a:r>
          </a:p>
          <a:p>
            <a:pPr lvl="1"/>
            <a:r>
              <a:rPr lang="en-US"/>
              <a:t>12197 instances</a:t>
            </a:r>
          </a:p>
          <a:p>
            <a:pPr lvl="1"/>
            <a:r>
              <a:rPr lang="en-US"/>
              <a:t>train/eval/test = 72/18/10</a:t>
            </a:r>
          </a:p>
          <a:p>
            <a:pPr lvl="1"/>
            <a:r>
              <a:rPr lang="en-US"/>
              <a:t>Online presentation training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36B9B46-E69D-FD6C-C3B6-DE534CB96283}"/>
              </a:ext>
            </a:extLst>
          </p:cNvPr>
          <p:cNvSpPr txBox="1">
            <a:spLocks/>
          </p:cNvSpPr>
          <p:nvPr/>
        </p:nvSpPr>
        <p:spPr>
          <a:xfrm>
            <a:off x="6383322" y="1065592"/>
            <a:ext cx="3877336" cy="49091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Our dataset</a:t>
            </a:r>
          </a:p>
          <a:p>
            <a:pPr lvl="1"/>
            <a:r>
              <a:rPr lang="en-US"/>
              <a:t>368 instances</a:t>
            </a:r>
          </a:p>
          <a:p>
            <a:pPr lvl="1"/>
            <a:r>
              <a:rPr lang="en-US"/>
              <a:t>Online class of SOICT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C392BA-9A12-33A1-3B29-5B5D09C65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76" y="3300030"/>
            <a:ext cx="2197683" cy="19964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3D49902-38AC-4125-4467-9AAB958F5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59" y="3300030"/>
            <a:ext cx="2234160" cy="199648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6D7264A-3C5F-DA65-F120-762D7048B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113" y="2715161"/>
            <a:ext cx="2624398" cy="147583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0BFCE11-AD10-F763-3237-AF4E122B4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511" y="2715161"/>
            <a:ext cx="2624398" cy="148784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B97801-3B08-1C24-A3CE-A9FE95029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6511" y="4191000"/>
            <a:ext cx="2617888" cy="148784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1EED9AC-5C87-073F-C295-207F722DFC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227" y="4186535"/>
            <a:ext cx="2620284" cy="149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1944-94D8-3C6B-F8DC-17425E09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45B3-2FD8-B6B4-174C-A9DEEE7E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A4F0-81B5-F48E-E2A1-6B58713275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8969408" cy="4909124"/>
          </a:xfrm>
        </p:spPr>
        <p:txBody>
          <a:bodyPr/>
          <a:lstStyle/>
          <a:p>
            <a:r>
              <a:rPr lang="en-US"/>
              <a:t>OpenFace features:</a:t>
            </a:r>
          </a:p>
          <a:p>
            <a:pPr lvl="1"/>
            <a:r>
              <a:rPr lang="en-US"/>
              <a:t>709 features per frame, includes:</a:t>
            </a:r>
          </a:p>
          <a:p>
            <a:pPr lvl="2"/>
            <a:r>
              <a:rPr lang="en-US"/>
              <a:t>Gaze</a:t>
            </a:r>
          </a:p>
          <a:p>
            <a:pPr lvl="2"/>
            <a:r>
              <a:rPr lang="en-US"/>
              <a:t>Head pose</a:t>
            </a:r>
          </a:p>
          <a:p>
            <a:pPr lvl="2"/>
            <a:r>
              <a:rPr lang="en-US"/>
              <a:t>Face landmark</a:t>
            </a:r>
          </a:p>
          <a:p>
            <a:pPr lvl="2"/>
            <a:r>
              <a:rPr lang="en-US"/>
              <a:t>Eye landmark</a:t>
            </a:r>
          </a:p>
          <a:p>
            <a:pPr lvl="2"/>
            <a:r>
              <a:rPr lang="en-US"/>
              <a:t>Shape/PDM</a:t>
            </a:r>
          </a:p>
          <a:p>
            <a:pPr lvl="2"/>
            <a:r>
              <a:rPr lang="en-US"/>
              <a:t>Action unit</a:t>
            </a:r>
          </a:p>
          <a:p>
            <a:r>
              <a:rPr lang="en-US"/>
              <a:t>I3D features:</a:t>
            </a:r>
          </a:p>
          <a:p>
            <a:pPr lvl="1"/>
            <a:r>
              <a:rPr lang="en-US"/>
              <a:t>1024 features per clip</a:t>
            </a:r>
          </a:p>
          <a:p>
            <a:pPr lvl="1"/>
            <a:r>
              <a:rPr lang="en-US"/>
              <a:t>Trained on Kinetics-400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C3F91-8E41-5228-B954-51641802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3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B4D48-2A2E-C4B0-867C-DF38EE47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8AB5-8EDC-0AC6-D5F8-0AE2A953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3BC21-62AF-B000-23AE-D5109D3023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8550119" cy="4909124"/>
          </a:xfrm>
        </p:spPr>
        <p:txBody>
          <a:bodyPr/>
          <a:lstStyle/>
          <a:p>
            <a:pPr>
              <a:buFontTx/>
              <a:buChar char="-"/>
            </a:pPr>
            <a:r>
              <a:rPr lang="en-US"/>
              <a:t>MLP</a:t>
            </a:r>
          </a:p>
          <a:p>
            <a:pPr>
              <a:buFontTx/>
              <a:buChar char="-"/>
            </a:pPr>
            <a:r>
              <a:rPr lang="en-US"/>
              <a:t>TCN, LSTM, Transformer</a:t>
            </a:r>
          </a:p>
          <a:p>
            <a:pPr>
              <a:buFontTx/>
              <a:buChar char="-"/>
            </a:pPr>
            <a:r>
              <a:rPr lang="en-US"/>
              <a:t>Pipelines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C6B5C-84A8-4A83-8226-03521DB5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586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3FB8-6FFE-340F-33EB-CBC7B04C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44F5-59FE-2FDB-00AD-449FA227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Losses &amp;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BDFCD-BF5A-8185-F622-83A3BC87EB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2590" y="924576"/>
            <a:ext cx="8791610" cy="503370"/>
          </a:xfrm>
        </p:spPr>
        <p:txBody>
          <a:bodyPr/>
          <a:lstStyle/>
          <a:p>
            <a:r>
              <a:rPr lang="en-US"/>
              <a:t>CE loss: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EA1B-F6FA-A96F-C68B-44846797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A52718-F7A7-7A7E-68BD-B8AFA52A3CCB}"/>
              </a:ext>
            </a:extLst>
          </p:cNvPr>
          <p:cNvSpPr txBox="1">
            <a:spLocks/>
          </p:cNvSpPr>
          <p:nvPr/>
        </p:nvSpPr>
        <p:spPr>
          <a:xfrm>
            <a:off x="682589" y="2678219"/>
            <a:ext cx="8550119" cy="503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Weighted CE loss: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3DB1134-7160-ED1F-7DC5-474AE7570244}"/>
              </a:ext>
            </a:extLst>
          </p:cNvPr>
          <p:cNvSpPr txBox="1">
            <a:spLocks/>
          </p:cNvSpPr>
          <p:nvPr/>
        </p:nvSpPr>
        <p:spPr>
          <a:xfrm>
            <a:off x="682589" y="4309548"/>
            <a:ext cx="3889411" cy="527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Squared EMD loss: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54167F-CCE2-1B0F-940A-FD9E01763399}"/>
                  </a:ext>
                </a:extLst>
              </p:cNvPr>
              <p:cNvSpPr txBox="1"/>
              <p:nvPr/>
            </p:nvSpPr>
            <p:spPr>
              <a:xfrm>
                <a:off x="609440" y="1427946"/>
                <a:ext cx="2460354" cy="10574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nary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i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en-US"/>
              </a:p>
              <a:p>
                <a:endParaRPr lang="en-GB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54167F-CCE2-1B0F-940A-FD9E01763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1427946"/>
                <a:ext cx="2460354" cy="10574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788F0D-541E-1376-2840-AB2AFDE1164C}"/>
                  </a:ext>
                </a:extLst>
              </p:cNvPr>
              <p:cNvSpPr txBox="1"/>
              <p:nvPr/>
            </p:nvSpPr>
            <p:spPr>
              <a:xfrm>
                <a:off x="682589" y="3216834"/>
                <a:ext cx="2827825" cy="10574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𝑊𝐶𝐸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/>
              </a:p>
              <a:p>
                <a:endParaRPr lang="en-GB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788F0D-541E-1376-2840-AB2AFDE11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89" y="3216834"/>
                <a:ext cx="2827825" cy="1057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178ED5-1BF4-46E4-F730-7CCEEC0B78F7}"/>
                  </a:ext>
                </a:extLst>
              </p:cNvPr>
              <p:cNvSpPr txBox="1"/>
              <p:nvPr/>
            </p:nvSpPr>
            <p:spPr>
              <a:xfrm>
                <a:off x="609440" y="4872477"/>
                <a:ext cx="4235276" cy="12234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𝐸𝑀𝐷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nary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endParaRPr lang="en-GB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7178ED5-1BF4-46E4-F730-7CCEEC0B78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0" y="4872477"/>
                <a:ext cx="4235276" cy="12234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25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AFC3-C86C-54A6-D037-E072A1F7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380-9869-3F7F-BF70-140C672DD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Losses &amp;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1D1FB-C7E7-64F9-6C7F-7B8A846F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ADDF19-4C41-FA97-B0D8-35819925EBB0}"/>
              </a:ext>
            </a:extLst>
          </p:cNvPr>
          <p:cNvSpPr txBox="1">
            <a:spLocks/>
          </p:cNvSpPr>
          <p:nvPr/>
        </p:nvSpPr>
        <p:spPr>
          <a:xfrm>
            <a:off x="606391" y="1218596"/>
            <a:ext cx="2026742" cy="503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Accuracy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CE7325-08AC-F6A2-D1B7-D013AF1A01E9}"/>
              </a:ext>
            </a:extLst>
          </p:cNvPr>
          <p:cNvSpPr txBox="1">
            <a:spLocks/>
          </p:cNvSpPr>
          <p:nvPr/>
        </p:nvSpPr>
        <p:spPr>
          <a:xfrm>
            <a:off x="606390" y="2870597"/>
            <a:ext cx="3889411" cy="527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0D0123-6A0C-9A02-FE1E-47211EBB560A}"/>
              </a:ext>
            </a:extLst>
          </p:cNvPr>
          <p:cNvSpPr txBox="1">
            <a:spLocks/>
          </p:cNvSpPr>
          <p:nvPr/>
        </p:nvSpPr>
        <p:spPr>
          <a:xfrm>
            <a:off x="606391" y="4621302"/>
            <a:ext cx="2858704" cy="503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Cohen’s Kappa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CFC0B32-F07D-48B9-3BE5-3518CEE1A4FC}"/>
              </a:ext>
            </a:extLst>
          </p:cNvPr>
          <p:cNvSpPr txBox="1">
            <a:spLocks/>
          </p:cNvSpPr>
          <p:nvPr/>
        </p:nvSpPr>
        <p:spPr>
          <a:xfrm>
            <a:off x="5531764" y="1218596"/>
            <a:ext cx="3195142" cy="503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Macro Accuracy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26215A3-BF1E-DF59-CCD2-771D2080AA45}"/>
              </a:ext>
            </a:extLst>
          </p:cNvPr>
          <p:cNvSpPr txBox="1">
            <a:spLocks/>
          </p:cNvSpPr>
          <p:nvPr/>
        </p:nvSpPr>
        <p:spPr>
          <a:xfrm>
            <a:off x="5531763" y="2851255"/>
            <a:ext cx="3889411" cy="5276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Macro MAE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F55B3-1394-0D8F-D915-3CA80FF900E0}"/>
              </a:ext>
            </a:extLst>
          </p:cNvPr>
          <p:cNvSpPr txBox="1">
            <a:spLocks/>
          </p:cNvSpPr>
          <p:nvPr/>
        </p:nvSpPr>
        <p:spPr>
          <a:xfrm>
            <a:off x="5531763" y="4626547"/>
            <a:ext cx="4931221" cy="503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Quadratic Weighted Kappa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876DF-0DAA-A758-2043-18FDDB75DC2F}"/>
                  </a:ext>
                </a:extLst>
              </p:cNvPr>
              <p:cNvSpPr txBox="1"/>
              <p:nvPr/>
            </p:nvSpPr>
            <p:spPr>
              <a:xfrm>
                <a:off x="606390" y="1716732"/>
                <a:ext cx="2797754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𝕀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B876DF-0DAA-A758-2043-18FDDB75D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90" y="1716732"/>
                <a:ext cx="2797754" cy="7789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12002-0F4E-3A9A-6DF2-33860C06A22E}"/>
                  </a:ext>
                </a:extLst>
              </p:cNvPr>
              <p:cNvSpPr txBox="1"/>
              <p:nvPr/>
            </p:nvSpPr>
            <p:spPr>
              <a:xfrm>
                <a:off x="5531763" y="1716732"/>
                <a:ext cx="4733604" cy="7804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Macro</m:t>
                      </m:r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𝕀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GB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e>
                                  </m:nary>
                                </m:num>
                                <m:den>
                                  <m:nary>
                                    <m:naryPr>
                                      <m:chr m:val="∑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p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𝕀</m:t>
                                      </m:r>
                                      <m:d>
                                        <m:d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e>
                                  </m:nary>
                                </m:den>
                              </m:f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212002-0F4E-3A9A-6DF2-33860C06A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763" y="1716732"/>
                <a:ext cx="4733604" cy="7804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D04AA4-FF64-F9F2-AAC5-84EF4EDF866E}"/>
                  </a:ext>
                </a:extLst>
              </p:cNvPr>
              <p:cNvSpPr txBox="1"/>
              <p:nvPr/>
            </p:nvSpPr>
            <p:spPr>
              <a:xfrm>
                <a:off x="606390" y="3440701"/>
                <a:ext cx="2117375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D04AA4-FF64-F9F2-AAC5-84EF4EDF8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90" y="3440701"/>
                <a:ext cx="2117375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BCFEB6-FF78-A262-A271-963B44EC3BA3}"/>
                  </a:ext>
                </a:extLst>
              </p:cNvPr>
              <p:cNvSpPr txBox="1"/>
              <p:nvPr/>
            </p:nvSpPr>
            <p:spPr>
              <a:xfrm>
                <a:off x="5531763" y="3281296"/>
                <a:ext cx="3936912" cy="7861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Macro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MAE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GB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sub>
                                  </m:sSub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sub>
                                  </m:sSub>
                                </m:sup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GB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c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BCFEB6-FF78-A262-A271-963B44EC3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763" y="3281296"/>
                <a:ext cx="3936912" cy="786177"/>
              </a:xfrm>
              <a:prstGeom prst="rect">
                <a:avLst/>
              </a:prstGeom>
              <a:blipFill>
                <a:blip r:embed="rId5"/>
                <a:stretch>
                  <a:fillRect r="-26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E7BC30-479E-3432-B53C-34033DD39D47}"/>
                  </a:ext>
                </a:extLst>
              </p:cNvPr>
              <p:cNvSpPr txBox="1"/>
              <p:nvPr/>
            </p:nvSpPr>
            <p:spPr>
              <a:xfrm>
                <a:off x="606390" y="5124672"/>
                <a:ext cx="1347292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 − 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1 − 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7E7BC30-479E-3432-B53C-34033DD39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90" y="5124672"/>
                <a:ext cx="1347292" cy="563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E64A6-942C-6CDE-C604-3BE50D784E50}"/>
                  </a:ext>
                </a:extLst>
              </p:cNvPr>
              <p:cNvSpPr txBox="1"/>
              <p:nvPr/>
            </p:nvSpPr>
            <p:spPr>
              <a:xfrm>
                <a:off x="5531763" y="5127856"/>
                <a:ext cx="2191369" cy="6545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QWK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9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B5E64A6-942C-6CDE-C604-3BE50D784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763" y="5127856"/>
                <a:ext cx="2191369" cy="6545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6CC0AD-4263-09CF-81C8-5B2AE698003E}"/>
                  </a:ext>
                </a:extLst>
              </p:cNvPr>
              <p:cNvSpPr txBox="1"/>
              <p:nvPr/>
            </p:nvSpPr>
            <p:spPr>
              <a:xfrm>
                <a:off x="8726906" y="5122604"/>
                <a:ext cx="1509579" cy="59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6CC0AD-4263-09CF-81C8-5B2AE6980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6906" y="5122604"/>
                <a:ext cx="1509579" cy="5950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4421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9D35-0993-8647-6915-5859DC229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9301-6B16-6AB3-DF0F-1DA234E2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22A64-F4F0-650F-6B51-DBFB99AE0D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6107675" cy="4909124"/>
          </a:xfrm>
        </p:spPr>
        <p:txBody>
          <a:bodyPr/>
          <a:lstStyle/>
          <a:p>
            <a:r>
              <a:rPr lang="en-US"/>
              <a:t>On CMOSE dataset</a:t>
            </a:r>
          </a:p>
          <a:p>
            <a:pPr lvl="1"/>
            <a:r>
              <a:rPr lang="en-US"/>
              <a:t>CE loss exploit class imbalance, </a:t>
            </a:r>
          </a:p>
          <a:p>
            <a:pPr marL="457200" lvl="1" indent="0">
              <a:buNone/>
            </a:pPr>
            <a:r>
              <a:rPr lang="en-US"/>
              <a:t>causes class copalse.</a:t>
            </a:r>
          </a:p>
          <a:p>
            <a:pPr lvl="1"/>
            <a:r>
              <a:rPr lang="en-US"/>
              <a:t>Weighted CE still have bias.</a:t>
            </a:r>
          </a:p>
          <a:p>
            <a:pPr lvl="1"/>
            <a:r>
              <a:rPr lang="en-US"/>
              <a:t>Ordinal produce more diverse output.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02225-507C-E942-1C8C-C4D6629D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DAE1AD-FBDD-8E1A-061C-A5C112DEE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81" y="3681219"/>
            <a:ext cx="4488580" cy="2461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C964F-FE3B-16FC-2457-3705A79B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027" y="3681220"/>
            <a:ext cx="4488580" cy="2461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6F9423-2B84-BB5A-AFDE-9C42508EC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026" y="876123"/>
            <a:ext cx="4488580" cy="280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40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404E0-0A60-E9F1-70ED-1E515297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58CC-30B2-D5E3-B878-D1FDF8D36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40BE-7706-CC40-665F-479D6263AF6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11293319" cy="1571126"/>
          </a:xfrm>
        </p:spPr>
        <p:txBody>
          <a:bodyPr/>
          <a:lstStyle/>
          <a:p>
            <a:r>
              <a:rPr lang="en-US"/>
              <a:t>On CMOSE dataset</a:t>
            </a:r>
          </a:p>
          <a:p>
            <a:pPr lvl="1"/>
            <a:r>
              <a:rPr lang="en-US"/>
              <a:t>CE are best at accuracy and MAE.</a:t>
            </a:r>
          </a:p>
          <a:p>
            <a:pPr lvl="1"/>
            <a:r>
              <a:rPr lang="en-US"/>
              <a:t>Weighted CE and Ordinal outperform in macro metrics.</a:t>
            </a:r>
          </a:p>
          <a:p>
            <a:pPr lvl="1"/>
            <a:r>
              <a:rPr lang="en-US"/>
              <a:t>Architecture is less impactful.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A8BE1-D5AF-1E5A-F4E8-BDE11965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6051CC-ADFB-932A-ACE8-C8DD38531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514" y="2637322"/>
            <a:ext cx="7154972" cy="359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23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E6D8-1F43-13A3-81E8-1D5C4CF61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635D-A238-BFF5-BFB0-05D87454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8F6A-E690-5CE6-7642-FA5F6190DC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7"/>
            <a:ext cx="6458551" cy="2963936"/>
          </a:xfrm>
        </p:spPr>
        <p:txBody>
          <a:bodyPr/>
          <a:lstStyle/>
          <a:p>
            <a:r>
              <a:rPr lang="en-US"/>
              <a:t>On private dataset</a:t>
            </a:r>
          </a:p>
          <a:p>
            <a:pPr lvl="1"/>
            <a:r>
              <a:rPr lang="en-US"/>
              <a:t>CE models collapse even harder on private data.</a:t>
            </a:r>
          </a:p>
          <a:p>
            <a:pPr lvl="1"/>
            <a:r>
              <a:rPr lang="en-US"/>
              <a:t>Model using I3D features have extreme prediction distribution shift.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FA77-680B-91FB-E30C-B467CD58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4B9821-1F64-730C-3854-9CD67F26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204" y="3604207"/>
            <a:ext cx="4690796" cy="25810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A0A3D-F023-D9F6-3877-9CE8BD637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752" y="3604207"/>
            <a:ext cx="4690796" cy="2581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B04DA2-1566-0626-E186-136850705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754" y="939666"/>
            <a:ext cx="4690794" cy="25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11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0BA6E-1919-5A1A-08DB-82C21BF0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6DE4A-1FE0-1E20-2967-9685764A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2F5D5-32E7-40B8-6168-6273BECA3C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11415562" cy="1696255"/>
          </a:xfrm>
        </p:spPr>
        <p:txBody>
          <a:bodyPr/>
          <a:lstStyle/>
          <a:p>
            <a:r>
              <a:rPr lang="en-US"/>
              <a:t>On private dataset</a:t>
            </a:r>
          </a:p>
          <a:p>
            <a:pPr lvl="1"/>
            <a:r>
              <a:rPr lang="en-US"/>
              <a:t>High accuracy despite high Macro MAE is misleading.</a:t>
            </a:r>
          </a:p>
          <a:p>
            <a:pPr lvl="1"/>
            <a:r>
              <a:rPr lang="en-US"/>
              <a:t>All models suffer significant domain shift.</a:t>
            </a:r>
          </a:p>
          <a:p>
            <a:pPr lvl="1"/>
            <a:r>
              <a:rPr lang="en-US"/>
              <a:t>TCN and Transformer using Weighted CE and Ordinal Loss are more robust.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FE809-DDDB-2D3A-E256-DB4C01E1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24392D-87D5-EE06-F4DE-4688DB6A8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219" y="2762451"/>
            <a:ext cx="6843562" cy="344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33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017C-92EE-FD41-B439-FE31B4F8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93A2-C4D4-66C7-26E4-7FC6455D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7115-D02A-7156-F935-496273EB66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6392" y="1066196"/>
            <a:ext cx="10366408" cy="4909124"/>
          </a:xfrm>
        </p:spPr>
        <p:txBody>
          <a:bodyPr/>
          <a:lstStyle/>
          <a:p>
            <a:r>
              <a:rPr lang="en-US"/>
              <a:t>Contribution: </a:t>
            </a:r>
          </a:p>
          <a:p>
            <a:pPr lvl="1"/>
            <a:r>
              <a:rPr lang="en-US"/>
              <a:t>Collected and labeled a small online engagement dataset of Vietnamese online class.</a:t>
            </a:r>
          </a:p>
          <a:p>
            <a:pPr lvl="1"/>
            <a:r>
              <a:rPr lang="en-US"/>
              <a:t>Compared loss functions and architectures for ordinal engagement recognition.</a:t>
            </a:r>
          </a:p>
          <a:p>
            <a:r>
              <a:rPr lang="en-US"/>
              <a:t>Limitation: </a:t>
            </a:r>
          </a:p>
          <a:p>
            <a:pPr lvl="1"/>
            <a:r>
              <a:rPr lang="en-US"/>
              <a:t>No configuration fully overcame domain shift.</a:t>
            </a:r>
          </a:p>
          <a:p>
            <a:r>
              <a:rPr lang="en-US"/>
              <a:t>Future work: </a:t>
            </a:r>
          </a:p>
          <a:p>
            <a:pPr lvl="1"/>
            <a:r>
              <a:rPr lang="en-US"/>
              <a:t>Use more diverse training data.</a:t>
            </a:r>
          </a:p>
          <a:p>
            <a:pPr lvl="1"/>
            <a:r>
              <a:rPr lang="en-US"/>
              <a:t>Expand private dataset.</a:t>
            </a:r>
          </a:p>
          <a:p>
            <a:pPr lvl="1"/>
            <a:r>
              <a:rPr lang="en-US"/>
              <a:t>Modality-robust fusion that transfer well on private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122AE-A7DD-F39B-35DE-D341413F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473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42BA63-383F-45B9-939A-7A3B792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8898" y="2461846"/>
            <a:ext cx="4614203" cy="19343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0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2B1B2EF-F9E2-4625-AD70-EE979A3EA521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B7570B9-F44D-4F61-BF1F-C3F752BCAAB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C316FA-151E-4EDB-9E09-98DAB3D097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4D971-5E4A-4DCB-9925-F7DA6878D4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8E78E3-0A98-4D61-9B64-F38933067C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3548</TotalTime>
  <Words>490</Words>
  <Application>Microsoft Office PowerPoint</Application>
  <PresentationFormat>Widescreen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Lato</vt:lpstr>
      <vt:lpstr>Office Theme</vt:lpstr>
      <vt:lpstr>PowerPoint Presentation</vt:lpstr>
      <vt:lpstr>Content</vt:lpstr>
      <vt:lpstr>1. Motivation</vt:lpstr>
      <vt:lpstr>2. Problem Statement</vt:lpstr>
      <vt:lpstr>3. Datasets</vt:lpstr>
      <vt:lpstr>4. Feature Extraction</vt:lpstr>
      <vt:lpstr>5. Architectures</vt:lpstr>
      <vt:lpstr>6. Losses &amp; Metrics</vt:lpstr>
      <vt:lpstr>6. Losses &amp; Metrics</vt:lpstr>
      <vt:lpstr>7. Result</vt:lpstr>
      <vt:lpstr>7. Result</vt:lpstr>
      <vt:lpstr>7. Result</vt:lpstr>
      <vt:lpstr>7. Result</vt:lpstr>
      <vt:lpstr>8. Conclusion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Hòa Phan Minh</cp:lastModifiedBy>
  <cp:revision>16</cp:revision>
  <dcterms:created xsi:type="dcterms:W3CDTF">2021-05-28T04:32:29Z</dcterms:created>
  <dcterms:modified xsi:type="dcterms:W3CDTF">2026-05-26T05:35:18Z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</Properties>
</file>