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8" r:id="rId4"/>
  </p:sldMasterIdLst>
  <p:notesMasterIdLst>
    <p:notesMasterId r:id="rId32"/>
  </p:notesMasterIdLst>
  <p:handoutMasterIdLst>
    <p:handoutMasterId r:id="rId33"/>
  </p:handoutMasterIdLst>
  <p:sldIdLst>
    <p:sldId id="275" r:id="rId5"/>
    <p:sldId id="257" r:id="rId6"/>
    <p:sldId id="267" r:id="rId7"/>
    <p:sldId id="265" r:id="rId8"/>
    <p:sldId id="281" r:id="rId9"/>
    <p:sldId id="298" r:id="rId10"/>
    <p:sldId id="283" r:id="rId11"/>
    <p:sldId id="299" r:id="rId12"/>
    <p:sldId id="284" r:id="rId13"/>
    <p:sldId id="285" r:id="rId14"/>
    <p:sldId id="286" r:id="rId15"/>
    <p:sldId id="291" r:id="rId16"/>
    <p:sldId id="300" r:id="rId17"/>
    <p:sldId id="301" r:id="rId18"/>
    <p:sldId id="303" r:id="rId19"/>
    <p:sldId id="292" r:id="rId20"/>
    <p:sldId id="295" r:id="rId21"/>
    <p:sldId id="304" r:id="rId22"/>
    <p:sldId id="296" r:id="rId23"/>
    <p:sldId id="297" r:id="rId24"/>
    <p:sldId id="269" r:id="rId25"/>
    <p:sldId id="278" r:id="rId26"/>
    <p:sldId id="261" r:id="rId27"/>
    <p:sldId id="276" r:id="rId28"/>
    <p:sldId id="277" r:id="rId29"/>
    <p:sldId id="305" r:id="rId30"/>
    <p:sldId id="306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126" y="1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handoutMaster" Target="handoutMasters/handoutMaster1.xml"/><Relationship Id="rId38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han Huy Le" userId="b882b48e-f387-43e8-9906-a8bdb025cf25" providerId="ADAL" clId="{1FFF7DE7-5311-C240-8EA9-C81196114302}"/>
    <pc:docChg chg="modSld">
      <pc:chgData name="Phan Huy Le" userId="b882b48e-f387-43e8-9906-a8bdb025cf25" providerId="ADAL" clId="{1FFF7DE7-5311-C240-8EA9-C81196114302}" dt="2023-02-20T13:20:14.777" v="0"/>
      <pc:docMkLst>
        <pc:docMk/>
      </pc:docMkLst>
      <pc:sldChg chg="addSp">
        <pc:chgData name="Phan Huy Le" userId="b882b48e-f387-43e8-9906-a8bdb025cf25" providerId="ADAL" clId="{1FFF7DE7-5311-C240-8EA9-C81196114302}" dt="2023-02-20T13:20:14.777" v="0"/>
        <pc:sldMkLst>
          <pc:docMk/>
          <pc:sldMk cId="1082086453" sldId="275"/>
        </pc:sldMkLst>
        <pc:inkChg chg="add">
          <ac:chgData name="Phan Huy Le" userId="b882b48e-f387-43e8-9906-a8bdb025cf25" providerId="ADAL" clId="{1FFF7DE7-5311-C240-8EA9-C81196114302}" dt="2023-02-20T13:20:14.777" v="0"/>
          <ac:inkMkLst>
            <pc:docMk/>
            <pc:sldMk cId="1082086453" sldId="275"/>
            <ac:inkMk id="2" creationId="{3766EBD4-31D7-B665-869A-01DABDA2039D}"/>
          </ac:inkMkLst>
        </pc:inkChg>
      </pc:sldChg>
    </pc:docChg>
  </pc:docChgLst>
  <pc:docChgLst>
    <pc:chgData name="Nguyen Huy Hung" userId="S::hung.nguyenhuy@hust.edu.vn::2fc3bcd5-ca04-4ee1-b21d-406e5862d3b9" providerId="AD" clId="Web-{ACC8BDC0-93AA-4E5A-93CD-EE74F5D6190C}"/>
    <pc:docChg chg="modSld">
      <pc:chgData name="Nguyen Huy Hung" userId="S::hung.nguyenhuy@hust.edu.vn::2fc3bcd5-ca04-4ee1-b21d-406e5862d3b9" providerId="AD" clId="Web-{ACC8BDC0-93AA-4E5A-93CD-EE74F5D6190C}" dt="2023-02-17T02:49:54.924" v="5"/>
      <pc:docMkLst>
        <pc:docMk/>
      </pc:docMkLst>
      <pc:sldChg chg="addSp delSp modSp mod setBg setClrOvrMap">
        <pc:chgData name="Nguyen Huy Hung" userId="S::hung.nguyenhuy@hust.edu.vn::2fc3bcd5-ca04-4ee1-b21d-406e5862d3b9" providerId="AD" clId="Web-{ACC8BDC0-93AA-4E5A-93CD-EE74F5D6190C}" dt="2023-02-17T02:49:54.924" v="5"/>
        <pc:sldMkLst>
          <pc:docMk/>
          <pc:sldMk cId="3651498809" sldId="271"/>
        </pc:sldMkLst>
        <pc:spChg chg="mod">
          <ac:chgData name="Nguyen Huy Hung" userId="S::hung.nguyenhuy@hust.edu.vn::2fc3bcd5-ca04-4ee1-b21d-406e5862d3b9" providerId="AD" clId="Web-{ACC8BDC0-93AA-4E5A-93CD-EE74F5D6190C}" dt="2023-02-17T02:49:54.924" v="5"/>
          <ac:spMkLst>
            <pc:docMk/>
            <pc:sldMk cId="3651498809" sldId="271"/>
            <ac:spMk id="2" creationId="{A2B7E207-A869-B342-B6D9-77005A268D98}"/>
          </ac:spMkLst>
        </pc:spChg>
        <pc:spChg chg="del">
          <ac:chgData name="Nguyen Huy Hung" userId="S::hung.nguyenhuy@hust.edu.vn::2fc3bcd5-ca04-4ee1-b21d-406e5862d3b9" providerId="AD" clId="Web-{ACC8BDC0-93AA-4E5A-93CD-EE74F5D6190C}" dt="2023-02-17T02:49:28.627" v="0"/>
          <ac:spMkLst>
            <pc:docMk/>
            <pc:sldMk cId="3651498809" sldId="271"/>
            <ac:spMk id="3" creationId="{1B1994D1-B0B9-97CB-A9B2-4F2D31319A30}"/>
          </ac:spMkLst>
        </pc:spChg>
        <pc:spChg chg="mod ord">
          <ac:chgData name="Nguyen Huy Hung" userId="S::hung.nguyenhuy@hust.edu.vn::2fc3bcd5-ca04-4ee1-b21d-406e5862d3b9" providerId="AD" clId="Web-{ACC8BDC0-93AA-4E5A-93CD-EE74F5D6190C}" dt="2023-02-17T02:49:54.924" v="5"/>
          <ac:spMkLst>
            <pc:docMk/>
            <pc:sldMk cId="3651498809" sldId="271"/>
            <ac:spMk id="4" creationId="{7508968A-F2A2-8005-6E03-B78E65864C76}"/>
          </ac:spMkLst>
        </pc:spChg>
        <pc:spChg chg="mod">
          <ac:chgData name="Nguyen Huy Hung" userId="S::hung.nguyenhuy@hust.edu.vn::2fc3bcd5-ca04-4ee1-b21d-406e5862d3b9" providerId="AD" clId="Web-{ACC8BDC0-93AA-4E5A-93CD-EE74F5D6190C}" dt="2023-02-17T02:49:54.924" v="5"/>
          <ac:spMkLst>
            <pc:docMk/>
            <pc:sldMk cId="3651498809" sldId="271"/>
            <ac:spMk id="5" creationId="{853CF161-A6C1-F8C7-C9A5-5CD5BD5C176E}"/>
          </ac:spMkLst>
        </pc:spChg>
        <pc:spChg chg="add del">
          <ac:chgData name="Nguyen Huy Hung" userId="S::hung.nguyenhuy@hust.edu.vn::2fc3bcd5-ca04-4ee1-b21d-406e5862d3b9" providerId="AD" clId="Web-{ACC8BDC0-93AA-4E5A-93CD-EE74F5D6190C}" dt="2023-02-17T02:49:44.487" v="2"/>
          <ac:spMkLst>
            <pc:docMk/>
            <pc:sldMk cId="3651498809" sldId="271"/>
            <ac:spMk id="11" creationId="{F13C74B1-5B17-4795-BED0-7140497B445A}"/>
          </ac:spMkLst>
        </pc:spChg>
        <pc:spChg chg="add del">
          <ac:chgData name="Nguyen Huy Hung" userId="S::hung.nguyenhuy@hust.edu.vn::2fc3bcd5-ca04-4ee1-b21d-406e5862d3b9" providerId="AD" clId="Web-{ACC8BDC0-93AA-4E5A-93CD-EE74F5D6190C}" dt="2023-02-17T02:49:44.487" v="2"/>
          <ac:spMkLst>
            <pc:docMk/>
            <pc:sldMk cId="3651498809" sldId="271"/>
            <ac:spMk id="13" creationId="{D4974D33-8DC5-464E-8C6D-BE58F0669C17}"/>
          </ac:spMkLst>
        </pc:spChg>
        <pc:spChg chg="add del">
          <ac:chgData name="Nguyen Huy Hung" userId="S::hung.nguyenhuy@hust.edu.vn::2fc3bcd5-ca04-4ee1-b21d-406e5862d3b9" providerId="AD" clId="Web-{ACC8BDC0-93AA-4E5A-93CD-EE74F5D6190C}" dt="2023-02-17T02:49:54.909" v="4"/>
          <ac:spMkLst>
            <pc:docMk/>
            <pc:sldMk cId="3651498809" sldId="271"/>
            <ac:spMk id="15" creationId="{4F74D28C-3268-4E35-8EE1-D92CB4A85A7D}"/>
          </ac:spMkLst>
        </pc:spChg>
        <pc:spChg chg="add">
          <ac:chgData name="Nguyen Huy Hung" userId="S::hung.nguyenhuy@hust.edu.vn::2fc3bcd5-ca04-4ee1-b21d-406e5862d3b9" providerId="AD" clId="Web-{ACC8BDC0-93AA-4E5A-93CD-EE74F5D6190C}" dt="2023-02-17T02:49:54.924" v="5"/>
          <ac:spMkLst>
            <pc:docMk/>
            <pc:sldMk cId="3651498809" sldId="271"/>
            <ac:spMk id="17" creationId="{4F74D28C-3268-4E35-8EE1-D92CB4A85A7D}"/>
          </ac:spMkLst>
        </pc:spChg>
        <pc:picChg chg="add mod ord">
          <ac:chgData name="Nguyen Huy Hung" userId="S::hung.nguyenhuy@hust.edu.vn::2fc3bcd5-ca04-4ee1-b21d-406e5862d3b9" providerId="AD" clId="Web-{ACC8BDC0-93AA-4E5A-93CD-EE74F5D6190C}" dt="2023-02-17T02:49:54.924" v="5"/>
          <ac:picMkLst>
            <pc:docMk/>
            <pc:sldMk cId="3651498809" sldId="271"/>
            <ac:picMk id="6" creationId="{8D296E74-50DF-B7DF-59BD-7C076F6CAF88}"/>
          </ac:picMkLst>
        </pc:picChg>
      </pc:sldChg>
    </pc:docChg>
  </pc:docChgLst>
  <pc:docChgLst>
    <pc:chgData name="Hoang Quang Huy" userId="de59c2fa-6a56-41ce-8c4c-bbeafec493c9" providerId="ADAL" clId="{3064626A-1036-43E0-AE20-3F0AE02E25AE}"/>
    <pc:docChg chg="modSld sldOrd">
      <pc:chgData name="Hoang Quang Huy" userId="de59c2fa-6a56-41ce-8c4c-bbeafec493c9" providerId="ADAL" clId="{3064626A-1036-43E0-AE20-3F0AE02E25AE}" dt="2023-04-01T06:20:58.502" v="1"/>
      <pc:docMkLst>
        <pc:docMk/>
      </pc:docMkLst>
      <pc:sldChg chg="ord">
        <pc:chgData name="Hoang Quang Huy" userId="de59c2fa-6a56-41ce-8c4c-bbeafec493c9" providerId="ADAL" clId="{3064626A-1036-43E0-AE20-3F0AE02E25AE}" dt="2023-04-01T06:20:58.502" v="1"/>
        <pc:sldMkLst>
          <pc:docMk/>
          <pc:sldMk cId="945003436" sldId="276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5EAC724-B034-4F10-A9E8-56851A79B80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0872BB-3892-4F66-9266-36ADB83FAD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B45424-6BAC-416C-8F6C-5F9DE854A36B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CA138F-B9BA-4997-B3C2-DA8B17B6D5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E86FBF-0AC4-4904-8ED7-0BD6E9AC71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4D737-83BD-4FDE-8CF3-8BC01E7FC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07374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733702-C25A-40B9-9167-54BAA79B29B0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2FC7A4-3D1B-482D-8C9D-7642A2CE30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92653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59802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64949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0FC03-A82E-4B34-AE4B-8AC40A0CD5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7/14/2026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9FB7E-C73B-452D-861A-6C73FF59E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733BD-32DD-483E-A597-B70529CBD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6">
            <a:extLst>
              <a:ext uri="{FF2B5EF4-FFF2-40B4-BE49-F238E27FC236}">
                <a16:creationId xmlns:a16="http://schemas.microsoft.com/office/drawing/2014/main" id="{44DCE4FD-DEE1-4DE9-A40E-616ACEB2FE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1: ………………………………………</a:t>
            </a:r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90DFCEB3-810D-48E5-B7BA-1A6C924A64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5077" y="841247"/>
            <a:ext cx="8674100" cy="530339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7547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1D2FCDAA-D1AE-440A-ADEA-98F1ACB064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7/14/2026</a:t>
            </a:fld>
            <a:endParaRPr 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C4186984-389F-440C-BD79-8D1349BD8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5C66723D-7FE6-462E-9733-48764D89B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3483232-D29A-4255-9149-0177F87858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8828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A1BAF8AD-67D8-46AD-A292-05589E8273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0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itle 6">
            <a:extLst>
              <a:ext uri="{FF2B5EF4-FFF2-40B4-BE49-F238E27FC236}">
                <a16:creationId xmlns:a16="http://schemas.microsoft.com/office/drawing/2014/main" id="{EFD61387-9809-4E21-B8EA-93815E5E8F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2: ………………………………………</a:t>
            </a:r>
          </a:p>
        </p:txBody>
      </p:sp>
    </p:spTree>
    <p:extLst>
      <p:ext uri="{BB962C8B-B14F-4D97-AF65-F5344CB8AC3E}">
        <p14:creationId xmlns:p14="http://schemas.microsoft.com/office/powerpoint/2010/main" val="3148809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1D2FCDAA-D1AE-440A-ADEA-98F1ACB064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7/14/2026</a:t>
            </a:fld>
            <a:endParaRPr 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C4186984-389F-440C-BD79-8D1349BD8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5C66723D-7FE6-462E-9733-48764D89B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3483232-D29A-4255-9149-0177F87858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8828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A1BAF8AD-67D8-46AD-A292-05589E8273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0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itle 6">
            <a:extLst>
              <a:ext uri="{FF2B5EF4-FFF2-40B4-BE49-F238E27FC236}">
                <a16:creationId xmlns:a16="http://schemas.microsoft.com/office/drawing/2014/main" id="{EFD61387-9809-4E21-B8EA-93815E5E8F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4: ………………………………………</a:t>
            </a:r>
          </a:p>
        </p:txBody>
      </p:sp>
    </p:spTree>
    <p:extLst>
      <p:ext uri="{BB962C8B-B14F-4D97-AF65-F5344CB8AC3E}">
        <p14:creationId xmlns:p14="http://schemas.microsoft.com/office/powerpoint/2010/main" val="13534025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6">
            <a:extLst>
              <a:ext uri="{FF2B5EF4-FFF2-40B4-BE49-F238E27FC236}">
                <a16:creationId xmlns:a16="http://schemas.microsoft.com/office/drawing/2014/main" id="{689FBFE6-E7AD-40DE-88B8-794C73F956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11295" y="224917"/>
            <a:ext cx="5397627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5: ……………………………………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1C2ED7A5-CBB5-4B5C-BD2A-3596087A71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24251" y="1011238"/>
            <a:ext cx="5384672" cy="552926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E21F2271-B488-4DC9-A50E-592D82F22CE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7/14/2026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706E966D-F219-41DE-82BF-3F3121B7D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AF61A491-C108-489A-B2EA-9FC27DAD4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33887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74BADCE4-794A-4B69-9AB7-3D794A1F9A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6: ………………………………………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8375D86-D290-4003-A314-C916116C42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5884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B62406B-26DB-4A01-B048-1F2C7540F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9056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A52862E5-D8E1-49BF-8D1B-BF0ED6579E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7/14/2026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591AAF74-01FB-49A8-9375-959140F1D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BBF4BC2F-980C-499D-A4B9-E7CD3D447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85406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7/14/2026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7: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963168"/>
            <a:ext cx="8674100" cy="513283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342310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74BADCE4-794A-4B69-9AB7-3D794A1F9A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8: ………………………………………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8375D86-D290-4003-A314-C916116C42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5884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B62406B-26DB-4A01-B048-1F2C7540F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9056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A52862E5-D8E1-49BF-8D1B-BF0ED6579E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7/14/2026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591AAF74-01FB-49A8-9375-959140F1D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BBF4BC2F-980C-499D-A4B9-E7CD3D447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0188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7/14/2026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9: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1215024"/>
            <a:ext cx="8674100" cy="4880975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664829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6EAE966-F590-4BAF-A55B-75735FCC66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7/14/2026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330CA1C-4366-43E8-9DC8-B360FC115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2DB13F6-9193-4FE2-AE85-5B96248CC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7046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9895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2" r:id="rId2"/>
    <p:sldLayoutId id="2147483673" r:id="rId3"/>
    <p:sldLayoutId id="2147483674" r:id="rId4"/>
    <p:sldLayoutId id="2147483683" r:id="rId5"/>
    <p:sldLayoutId id="2147483676" r:id="rId6"/>
    <p:sldLayoutId id="2147483679" r:id="rId7"/>
    <p:sldLayoutId id="2147483680" r:id="rId8"/>
    <p:sldLayoutId id="2147483681" r:id="rId9"/>
    <p:sldLayoutId id="2147483682" r:id="rId10"/>
    <p:sldLayoutId id="2147483678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20864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3">
            <a:extLst>
              <a:ext uri="{FF2B5EF4-FFF2-40B4-BE49-F238E27FC236}">
                <a16:creationId xmlns:a16="http://schemas.microsoft.com/office/drawing/2014/main" id="{67FB4AA9-E9AF-4CE0-A0DC-99D7952890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3012" y="398419"/>
            <a:ext cx="2037225" cy="611594"/>
          </a:xfrm>
          <a:prstGeom prst="rect">
            <a:avLst/>
          </a:prstGeom>
        </p:spPr>
      </p:pic>
      <p:sp>
        <p:nvSpPr>
          <p:cNvPr id="11" name="Title 6">
            <a:extLst>
              <a:ext uri="{FF2B5EF4-FFF2-40B4-BE49-F238E27FC236}">
                <a16:creationId xmlns:a16="http://schemas.microsoft.com/office/drawing/2014/main" id="{FF8BDF70-CFA6-4031-86B7-31F910D8115D}"/>
              </a:ext>
            </a:extLst>
          </p:cNvPr>
          <p:cNvSpPr txBox="1">
            <a:spLocks/>
          </p:cNvSpPr>
          <p:nvPr/>
        </p:nvSpPr>
        <p:spPr>
          <a:xfrm>
            <a:off x="413012" y="2421636"/>
            <a:ext cx="7527028" cy="84879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4000" b="0" dirty="0"/>
              <a:t>Student’s engagement detection in online classes</a:t>
            </a:r>
          </a:p>
        </p:txBody>
      </p:sp>
      <p:sp>
        <p:nvSpPr>
          <p:cNvPr id="12" name="Title 6">
            <a:extLst>
              <a:ext uri="{FF2B5EF4-FFF2-40B4-BE49-F238E27FC236}">
                <a16:creationId xmlns:a16="http://schemas.microsoft.com/office/drawing/2014/main" id="{A4ACF486-B7D8-4A5A-B633-83527A2F99E2}"/>
              </a:ext>
            </a:extLst>
          </p:cNvPr>
          <p:cNvSpPr txBox="1">
            <a:spLocks/>
          </p:cNvSpPr>
          <p:nvPr/>
        </p:nvSpPr>
        <p:spPr>
          <a:xfrm>
            <a:off x="413012" y="3567622"/>
            <a:ext cx="7342482" cy="84879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2800" b="0" dirty="0"/>
              <a:t>Phan Minh Hòa - 20225495</a:t>
            </a:r>
          </a:p>
          <a:p>
            <a:endParaRPr lang="en-US" sz="2800" b="0" dirty="0"/>
          </a:p>
          <a:p>
            <a:endParaRPr lang="en-US" sz="2800" b="0" dirty="0"/>
          </a:p>
          <a:p>
            <a:endParaRPr lang="en-US" sz="2800" b="0" dirty="0"/>
          </a:p>
        </p:txBody>
      </p:sp>
    </p:spTree>
    <p:extLst>
      <p:ext uri="{BB962C8B-B14F-4D97-AF65-F5344CB8AC3E}">
        <p14:creationId xmlns:p14="http://schemas.microsoft.com/office/powerpoint/2010/main" val="7431729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A7ECF-1792-4255-AF79-1338056A1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7A365B-2C63-46A3-AD64-BA52831BEC4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US" dirty="0"/>
              <a:t>Introduction</a:t>
            </a:r>
          </a:p>
          <a:p>
            <a:pPr marL="514350" indent="-514350">
              <a:buAutoNum type="arabicPeriod"/>
            </a:pPr>
            <a:r>
              <a:rPr lang="en-US" dirty="0"/>
              <a:t>Literature Review</a:t>
            </a:r>
          </a:p>
          <a:p>
            <a:pPr marL="514350" indent="-514350">
              <a:buAutoNum type="arabicPeriod"/>
            </a:pPr>
            <a:r>
              <a:rPr lang="en-US" dirty="0"/>
              <a:t>Methodology</a:t>
            </a:r>
          </a:p>
          <a:p>
            <a:pPr marL="514350" indent="-514350">
              <a:buAutoNum type="arabicPeriod"/>
            </a:pPr>
            <a:r>
              <a:rPr lang="en-US" dirty="0"/>
              <a:t>Experimental Results</a:t>
            </a:r>
          </a:p>
          <a:p>
            <a:pPr marL="514350" indent="-514350">
              <a:buAutoNum type="arabicPeriod"/>
            </a:pPr>
            <a:r>
              <a:rPr lang="en-US" dirty="0"/>
              <a:t>Conclusions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67697B-E2F6-452F-B4AF-9444ACC6F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40127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101F79-2CBF-4392-B538-B0B5700DB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8C00D3C-7D1F-9FE8-B334-57768F25B3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950" y="79375"/>
            <a:ext cx="8674100" cy="450850"/>
          </a:xfrm>
        </p:spPr>
        <p:txBody>
          <a:bodyPr/>
          <a:lstStyle/>
          <a:p>
            <a:r>
              <a:rPr lang="en-US" dirty="0"/>
              <a:t>1. Introduction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6B71059-7483-DB28-8736-CC12D5BDAE1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47772" y="1038075"/>
            <a:ext cx="4010578" cy="657673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Problem Statement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ADDADAF-4CEB-CAEB-C80B-6E3D81DB3BEE}"/>
              </a:ext>
            </a:extLst>
          </p:cNvPr>
          <p:cNvSpPr txBox="1">
            <a:spLocks/>
          </p:cNvSpPr>
          <p:nvPr/>
        </p:nvSpPr>
        <p:spPr>
          <a:xfrm>
            <a:off x="180421" y="1572273"/>
            <a:ext cx="8744362" cy="452070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Online and hybrid classes are common.</a:t>
            </a:r>
          </a:p>
          <a:p>
            <a:r>
              <a:rPr lang="en-US" dirty="0"/>
              <a:t>Tiles of webcam cannot convey the signal teachers needed to read the room, hence, adapts the lesson.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6BD332-A6CF-8332-5527-D89DDC08801C}"/>
              </a:ext>
            </a:extLst>
          </p:cNvPr>
          <p:cNvSpPr txBox="1">
            <a:spLocks/>
          </p:cNvSpPr>
          <p:nvPr/>
        </p:nvSpPr>
        <p:spPr>
          <a:xfrm>
            <a:off x="180421" y="3100163"/>
            <a:ext cx="4010578" cy="65767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/>
              <a:t>The Task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0B81278-546E-F0AC-29A4-DB07A69982C9}"/>
              </a:ext>
            </a:extLst>
          </p:cNvPr>
          <p:cNvSpPr txBox="1">
            <a:spLocks/>
          </p:cNvSpPr>
          <p:nvPr/>
        </p:nvSpPr>
        <p:spPr>
          <a:xfrm>
            <a:off x="247772" y="3566079"/>
            <a:ext cx="8744362" cy="315514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Task: Detect students’ engagement level</a:t>
            </a:r>
          </a:p>
          <a:p>
            <a:r>
              <a:rPr lang="en-US" dirty="0"/>
              <a:t>Input: 10s clips from students’ webcams</a:t>
            </a:r>
          </a:p>
          <a:p>
            <a:r>
              <a:rPr lang="en-US" dirty="0"/>
              <a:t>Output: 4 classes (E0 -&gt; E3)</a:t>
            </a:r>
          </a:p>
        </p:txBody>
      </p:sp>
    </p:spTree>
    <p:extLst>
      <p:ext uri="{BB962C8B-B14F-4D97-AF65-F5344CB8AC3E}">
        <p14:creationId xmlns:p14="http://schemas.microsoft.com/office/powerpoint/2010/main" val="2923640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156356-BD30-FA35-4456-D063AECE4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F74C0FB-2BC7-C634-E758-015E4DA5C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386F889-F0B0-0F98-73A4-58E2C655A3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950" y="79375"/>
            <a:ext cx="8674100" cy="450850"/>
          </a:xfrm>
        </p:spPr>
        <p:txBody>
          <a:bodyPr/>
          <a:lstStyle/>
          <a:p>
            <a:r>
              <a:rPr lang="en-US" dirty="0"/>
              <a:t>1. Introduction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B202917-6BD2-8AF5-BA27-03AF10D5C7E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47772" y="1038075"/>
            <a:ext cx="4010578" cy="657673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Related Works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1C02A5F-F4E4-1E1B-A6CB-E8ADC6310702}"/>
              </a:ext>
            </a:extLst>
          </p:cNvPr>
          <p:cNvSpPr txBox="1">
            <a:spLocks/>
          </p:cNvSpPr>
          <p:nvPr/>
        </p:nvSpPr>
        <p:spPr>
          <a:xfrm>
            <a:off x="180422" y="1572273"/>
            <a:ext cx="8744362" cy="177290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Black box end-to-end.</a:t>
            </a:r>
          </a:p>
          <a:p>
            <a:r>
              <a:rPr lang="en-US" dirty="0"/>
              <a:t>Extract facial-behavior features first.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DC22E-A442-8A0E-F168-3F9FE7B9E5A8}"/>
              </a:ext>
            </a:extLst>
          </p:cNvPr>
          <p:cNvSpPr txBox="1">
            <a:spLocks/>
          </p:cNvSpPr>
          <p:nvPr/>
        </p:nvSpPr>
        <p:spPr>
          <a:xfrm>
            <a:off x="234951" y="3345180"/>
            <a:ext cx="4010578" cy="65767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Research Gaps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C73DE1E-3C58-50E1-935B-B1471F170FF9}"/>
              </a:ext>
            </a:extLst>
          </p:cNvPr>
          <p:cNvSpPr txBox="1">
            <a:spLocks/>
          </p:cNvSpPr>
          <p:nvPr/>
        </p:nvSpPr>
        <p:spPr>
          <a:xfrm>
            <a:off x="180421" y="3877758"/>
            <a:ext cx="8814990" cy="177290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Facial features are always flatten.</a:t>
            </a:r>
          </a:p>
          <a:p>
            <a:r>
              <a:rPr lang="en-US" dirty="0"/>
              <a:t>Only accuracy is used for evaluation.</a:t>
            </a:r>
          </a:p>
          <a:p>
            <a:r>
              <a:rPr lang="en-US" dirty="0"/>
              <a:t>Cross dataset generalization evaluation is limited.</a:t>
            </a:r>
          </a:p>
        </p:txBody>
      </p:sp>
    </p:spTree>
    <p:extLst>
      <p:ext uri="{BB962C8B-B14F-4D97-AF65-F5344CB8AC3E}">
        <p14:creationId xmlns:p14="http://schemas.microsoft.com/office/powerpoint/2010/main" val="20446863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73EDE1-C3D1-8184-C9CD-899BBAF53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ED54D3B-4A79-6D16-10B7-341D42CED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C5470A9-0B95-CF19-B2A6-9FCDAAFB4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950" y="79375"/>
            <a:ext cx="8674100" cy="450850"/>
          </a:xfrm>
        </p:spPr>
        <p:txBody>
          <a:bodyPr/>
          <a:lstStyle/>
          <a:p>
            <a:r>
              <a:rPr lang="en-US" dirty="0"/>
              <a:t>1. Introduction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0BCA198-51C8-FD74-601D-77ED7BF0D47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47772" y="1038075"/>
            <a:ext cx="4010578" cy="657673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Contributions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5659621-56C4-075D-F870-058B51DE41FA}"/>
              </a:ext>
            </a:extLst>
          </p:cNvPr>
          <p:cNvSpPr txBox="1">
            <a:spLocks/>
          </p:cNvSpPr>
          <p:nvPr/>
        </p:nvSpPr>
        <p:spPr>
          <a:xfrm>
            <a:off x="180422" y="1572273"/>
            <a:ext cx="7243420" cy="177290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New hybrid architecture.</a:t>
            </a:r>
          </a:p>
          <a:p>
            <a:r>
              <a:rPr lang="en-US" dirty="0"/>
              <a:t>New private dataset manually labeled from a SOICT online class.</a:t>
            </a:r>
          </a:p>
          <a:p>
            <a:r>
              <a:rPr lang="en-US" dirty="0"/>
              <a:t>Evaluation protocol with multiple metrics.</a:t>
            </a:r>
          </a:p>
        </p:txBody>
      </p:sp>
    </p:spTree>
    <p:extLst>
      <p:ext uri="{BB962C8B-B14F-4D97-AF65-F5344CB8AC3E}">
        <p14:creationId xmlns:p14="http://schemas.microsoft.com/office/powerpoint/2010/main" val="6994503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37565D-FD95-6C57-8773-639E78DFEA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847D98-73AB-CB90-B70A-174C3B7AF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F53A29A-487A-353A-A392-B1A58985F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950" y="79375"/>
            <a:ext cx="8674100" cy="450850"/>
          </a:xfrm>
        </p:spPr>
        <p:txBody>
          <a:bodyPr/>
          <a:lstStyle/>
          <a:p>
            <a:r>
              <a:rPr lang="en-US" dirty="0"/>
              <a:t>2. Background Knowledge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DAC2EFA-0212-2B26-ACD0-928842B44D2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47772" y="1038075"/>
            <a:ext cx="4010578" cy="657673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Features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13AED44-E5A4-4358-9D2A-0D672F876CAD}"/>
              </a:ext>
            </a:extLst>
          </p:cNvPr>
          <p:cNvSpPr txBox="1">
            <a:spLocks/>
          </p:cNvSpPr>
          <p:nvPr/>
        </p:nvSpPr>
        <p:spPr>
          <a:xfrm>
            <a:off x="180421" y="1572273"/>
            <a:ext cx="5595539" cy="414272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OpenFace</a:t>
            </a:r>
            <a:r>
              <a:rPr lang="en-US" dirty="0"/>
              <a:t> features:</a:t>
            </a:r>
          </a:p>
          <a:p>
            <a:pPr lvl="1"/>
            <a:r>
              <a:rPr lang="en-US" dirty="0"/>
              <a:t>709 facial features per frame.</a:t>
            </a:r>
          </a:p>
          <a:p>
            <a:r>
              <a:rPr lang="en-US" dirty="0"/>
              <a:t>I3D features:</a:t>
            </a:r>
          </a:p>
          <a:p>
            <a:pPr lvl="1"/>
            <a:r>
              <a:rPr lang="en-US" dirty="0"/>
              <a:t>1024 features per clip</a:t>
            </a:r>
          </a:p>
          <a:p>
            <a:pPr lvl="1"/>
            <a:r>
              <a:rPr lang="en-US" dirty="0"/>
              <a:t>Trained on Kinetics-400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5E43C4-C1E0-8104-CABC-A0BB02ADCC8E}"/>
              </a:ext>
            </a:extLst>
          </p:cNvPr>
          <p:cNvSpPr txBox="1">
            <a:spLocks/>
          </p:cNvSpPr>
          <p:nvPr/>
        </p:nvSpPr>
        <p:spPr>
          <a:xfrm>
            <a:off x="247772" y="3665798"/>
            <a:ext cx="4010578" cy="65767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/>
              <a:t>Architecture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4453715-B1DE-DAA2-F08E-B1E7D6EEBA3B}"/>
              </a:ext>
            </a:extLst>
          </p:cNvPr>
          <p:cNvSpPr txBox="1">
            <a:spLocks/>
          </p:cNvSpPr>
          <p:nvPr/>
        </p:nvSpPr>
        <p:spPr>
          <a:xfrm>
            <a:off x="247772" y="4161297"/>
            <a:ext cx="7867528" cy="224886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MLP (Multilayer Perceptron)</a:t>
            </a:r>
          </a:p>
          <a:p>
            <a:r>
              <a:rPr lang="en-US" dirty="0"/>
              <a:t>TCN (Temporal Convolutional Network)</a:t>
            </a:r>
          </a:p>
          <a:p>
            <a:r>
              <a:rPr lang="en-US" dirty="0"/>
              <a:t>LSTM (Long Short-Term Memory)</a:t>
            </a:r>
          </a:p>
          <a:p>
            <a:r>
              <a:rPr lang="en-US" dirty="0"/>
              <a:t>Transformer</a:t>
            </a:r>
          </a:p>
        </p:txBody>
      </p:sp>
    </p:spTree>
    <p:extLst>
      <p:ext uri="{BB962C8B-B14F-4D97-AF65-F5344CB8AC3E}">
        <p14:creationId xmlns:p14="http://schemas.microsoft.com/office/powerpoint/2010/main" val="27272434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0B8701-4887-F53A-5814-C47021935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56A6E7B-2F53-F3AB-3806-AA6FA91F9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A107ECA-5F80-D4D2-9139-E25FC6B8E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950" y="79375"/>
            <a:ext cx="8674100" cy="450850"/>
          </a:xfrm>
        </p:spPr>
        <p:txBody>
          <a:bodyPr/>
          <a:lstStyle/>
          <a:p>
            <a:r>
              <a:rPr lang="en-US" dirty="0"/>
              <a:t>2. Background Knowledge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2E78F05-8E14-8CCF-1604-36BD7A647A9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47772" y="1038075"/>
            <a:ext cx="4010578" cy="657673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Evaluation Metrics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4B1ABEF-193F-2B17-5B4C-3A1175C3FAF9}"/>
              </a:ext>
            </a:extLst>
          </p:cNvPr>
          <p:cNvSpPr txBox="1">
            <a:spLocks/>
          </p:cNvSpPr>
          <p:nvPr/>
        </p:nvSpPr>
        <p:spPr>
          <a:xfrm>
            <a:off x="180421" y="1479813"/>
            <a:ext cx="6455769" cy="314824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Accuracy</a:t>
            </a:r>
          </a:p>
          <a:p>
            <a:r>
              <a:rPr lang="en-US" dirty="0"/>
              <a:t>Macro-accuracy</a:t>
            </a:r>
          </a:p>
          <a:p>
            <a:r>
              <a:rPr lang="en-US" dirty="0"/>
              <a:t>Mean absolute error (MAE)</a:t>
            </a:r>
          </a:p>
          <a:p>
            <a:r>
              <a:rPr lang="en-US" dirty="0"/>
              <a:t>Macro-MAE</a:t>
            </a:r>
          </a:p>
          <a:p>
            <a:r>
              <a:rPr lang="en-US" dirty="0"/>
              <a:t>Cohen’s Kappa</a:t>
            </a:r>
          </a:p>
          <a:p>
            <a:r>
              <a:rPr lang="en-US" dirty="0"/>
              <a:t>Quadratic-weighted kappa (QWK)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26610-25CD-8F74-8FA9-10702DC70D85}"/>
              </a:ext>
            </a:extLst>
          </p:cNvPr>
          <p:cNvSpPr txBox="1">
            <a:spLocks/>
          </p:cNvSpPr>
          <p:nvPr/>
        </p:nvSpPr>
        <p:spPr>
          <a:xfrm>
            <a:off x="180421" y="4836283"/>
            <a:ext cx="4010578" cy="65767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/>
              <a:t>Statistical Measures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7EF8A84-7690-946F-1179-08E9EB92D1F1}"/>
              </a:ext>
            </a:extLst>
          </p:cNvPr>
          <p:cNvSpPr txBox="1">
            <a:spLocks/>
          </p:cNvSpPr>
          <p:nvPr/>
        </p:nvSpPr>
        <p:spPr>
          <a:xfrm>
            <a:off x="180421" y="5332997"/>
            <a:ext cx="7867528" cy="56986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Spearman’s rank correlation</a:t>
            </a:r>
          </a:p>
        </p:txBody>
      </p:sp>
    </p:spTree>
    <p:extLst>
      <p:ext uri="{BB962C8B-B14F-4D97-AF65-F5344CB8AC3E}">
        <p14:creationId xmlns:p14="http://schemas.microsoft.com/office/powerpoint/2010/main" val="16023492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CAB763-A4F9-58F7-D2DE-12E4CBC8E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5663803-1434-B2E0-9616-4949C7D59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405F807-4D8D-7EEA-9384-FCF7CFB06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950" y="79375"/>
            <a:ext cx="8674100" cy="450850"/>
          </a:xfrm>
        </p:spPr>
        <p:txBody>
          <a:bodyPr/>
          <a:lstStyle/>
          <a:p>
            <a:r>
              <a:rPr lang="en-US" dirty="0"/>
              <a:t>3. Methodology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38F9E73-C07C-AE21-3C5D-CF16BBCE66A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47772" y="1038075"/>
            <a:ext cx="2716408" cy="657673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Datasets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00040A6-4DAF-6740-4FD1-F084F943690B}"/>
              </a:ext>
            </a:extLst>
          </p:cNvPr>
          <p:cNvSpPr txBox="1">
            <a:spLocks/>
          </p:cNvSpPr>
          <p:nvPr/>
        </p:nvSpPr>
        <p:spPr>
          <a:xfrm>
            <a:off x="247772" y="3177023"/>
            <a:ext cx="4590928" cy="224886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7436A755-CF66-A754-25F2-FDA965ECF256}"/>
              </a:ext>
            </a:extLst>
          </p:cNvPr>
          <p:cNvSpPr txBox="1">
            <a:spLocks/>
          </p:cNvSpPr>
          <p:nvPr/>
        </p:nvSpPr>
        <p:spPr>
          <a:xfrm>
            <a:off x="247772" y="1560345"/>
            <a:ext cx="4590928" cy="224886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CMOSE</a:t>
            </a:r>
          </a:p>
          <a:p>
            <a:r>
              <a:rPr lang="en-US" dirty="0"/>
              <a:t>DAiSEE</a:t>
            </a:r>
          </a:p>
          <a:p>
            <a:r>
              <a:rPr lang="en-US" dirty="0"/>
              <a:t>Private</a:t>
            </a:r>
          </a:p>
          <a:p>
            <a:pPr lvl="1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C30675C-3F5C-8A49-1965-B970CF1A85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9938" y="4560570"/>
            <a:ext cx="1650886" cy="12394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D5FFC9C-6185-4E5E-4787-708E93CEC3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208" y="3342829"/>
            <a:ext cx="1365817" cy="124077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B6141C1-3643-3EE9-9B75-0F373485CF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769" y="4583607"/>
            <a:ext cx="1370256" cy="122448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1499A82-D785-74DE-4D0F-5A23D6A3B5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39938" y="3342829"/>
            <a:ext cx="1650886" cy="124077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DB53DE2-C50E-FD74-54DB-0D78B5215C0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24693" y="3331141"/>
            <a:ext cx="2165438" cy="121774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16216FB6-337E-F413-0AA6-B3C37AFEAE3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41712" y="4527149"/>
            <a:ext cx="2186296" cy="1239475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75F685FA-D5B1-B9C1-882F-CBA788CA693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9832" y="3331140"/>
            <a:ext cx="2138175" cy="1217741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47E51169-F404-FC54-50B8-8E26F010547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23447" y="4548882"/>
            <a:ext cx="2166386" cy="1217741"/>
          </a:xfrm>
          <a:prstGeom prst="rect">
            <a:avLst/>
          </a:prstGeom>
        </p:spPr>
      </p:pic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D21E85FA-F1FC-05DE-FE9B-EC7E46BCE0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8584480"/>
              </p:ext>
            </p:extLst>
          </p:nvPr>
        </p:nvGraphicFramePr>
        <p:xfrm>
          <a:off x="3391717" y="1006179"/>
          <a:ext cx="44085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9228">
                  <a:extLst>
                    <a:ext uri="{9D8B030D-6E8A-4147-A177-3AD203B41FA5}">
                      <a16:colId xmlns:a16="http://schemas.microsoft.com/office/drawing/2014/main" val="1834286826"/>
                    </a:ext>
                  </a:extLst>
                </a:gridCol>
                <a:gridCol w="1177141">
                  <a:extLst>
                    <a:ext uri="{9D8B030D-6E8A-4147-A177-3AD203B41FA5}">
                      <a16:colId xmlns:a16="http://schemas.microsoft.com/office/drawing/2014/main" val="948797892"/>
                    </a:ext>
                  </a:extLst>
                </a:gridCol>
                <a:gridCol w="1285592">
                  <a:extLst>
                    <a:ext uri="{9D8B030D-6E8A-4147-A177-3AD203B41FA5}">
                      <a16:colId xmlns:a16="http://schemas.microsoft.com/office/drawing/2014/main" val="658952351"/>
                    </a:ext>
                  </a:extLst>
                </a:gridCol>
                <a:gridCol w="1276539">
                  <a:extLst>
                    <a:ext uri="{9D8B030D-6E8A-4147-A177-3AD203B41FA5}">
                      <a16:colId xmlns:a16="http://schemas.microsoft.com/office/drawing/2014/main" val="35196375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CMOSE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DAiSEE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Private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2297558"/>
                  </a:ext>
                </a:extLst>
              </a:tr>
              <a:tr h="336400">
                <a:tc>
                  <a:txBody>
                    <a:bodyPr/>
                    <a:lstStyle/>
                    <a:p>
                      <a:r>
                        <a:rPr lang="en-US" dirty="0"/>
                        <a:t>E3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43.8%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30.6%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6501692"/>
                  </a:ext>
                </a:extLst>
              </a:tr>
              <a:tr h="336400">
                <a:tc>
                  <a:txBody>
                    <a:bodyPr/>
                    <a:lstStyle/>
                    <a:p>
                      <a:r>
                        <a:rPr lang="en-US" dirty="0"/>
                        <a:t>E2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69.4%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50.3%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58.2%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301495"/>
                  </a:ext>
                </a:extLst>
              </a:tr>
              <a:tr h="336400">
                <a:tc>
                  <a:txBody>
                    <a:bodyPr/>
                    <a:lstStyle/>
                    <a:p>
                      <a:r>
                        <a:rPr lang="en-US" dirty="0"/>
                        <a:t>E1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18.1%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8.5%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9799225"/>
                  </a:ext>
                </a:extLst>
              </a:tr>
              <a:tr h="336400">
                <a:tc>
                  <a:txBody>
                    <a:bodyPr/>
                    <a:lstStyle/>
                    <a:p>
                      <a:r>
                        <a:rPr lang="en-US" dirty="0"/>
                        <a:t>E0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2.7%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07058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5686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D8E170-B809-5D4C-8441-B5D2E1937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EACDB49-8208-A20B-2152-3EF724C8C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C12EDC0-7A65-0A8E-551E-18368DEDF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950" y="79375"/>
            <a:ext cx="8674100" cy="450850"/>
          </a:xfrm>
        </p:spPr>
        <p:txBody>
          <a:bodyPr/>
          <a:lstStyle/>
          <a:p>
            <a:r>
              <a:rPr lang="en-US" dirty="0"/>
              <a:t>3. Methodology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311AC8E-96CC-E4E2-A27A-88652D5EBC7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47772" y="1038075"/>
            <a:ext cx="3920368" cy="657673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Baseline Architectures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2E27154-3E6F-BFAA-9D0D-37FA2390C1B9}"/>
              </a:ext>
            </a:extLst>
          </p:cNvPr>
          <p:cNvSpPr txBox="1">
            <a:spLocks/>
          </p:cNvSpPr>
          <p:nvPr/>
        </p:nvSpPr>
        <p:spPr>
          <a:xfrm>
            <a:off x="247772" y="1560345"/>
            <a:ext cx="3752728" cy="234753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5 single-encoder baselines:</a:t>
            </a:r>
          </a:p>
          <a:p>
            <a:pPr lvl="1"/>
            <a:r>
              <a:rPr lang="en-US" dirty="0"/>
              <a:t>4 over </a:t>
            </a:r>
            <a:r>
              <a:rPr lang="en-US" dirty="0" err="1"/>
              <a:t>OpenFace</a:t>
            </a:r>
            <a:r>
              <a:rPr lang="en-US" dirty="0"/>
              <a:t> (MLP, TCN, LSTM, Transformer)</a:t>
            </a:r>
          </a:p>
          <a:p>
            <a:pPr lvl="1"/>
            <a:r>
              <a:rPr lang="en-US" dirty="0"/>
              <a:t>1 over I3D (MLP)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53FAEF-196E-5E19-D124-0EF360F45C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1315" y="4365982"/>
            <a:ext cx="5860174" cy="1561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5376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F06781-69C5-D6A0-FD55-9E2B1BC52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1E60419-ED73-1515-F028-F80B47194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E64A625-597B-7A0C-2A6E-CD31C45A2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950" y="79375"/>
            <a:ext cx="8674100" cy="450850"/>
          </a:xfrm>
        </p:spPr>
        <p:txBody>
          <a:bodyPr/>
          <a:lstStyle/>
          <a:p>
            <a:r>
              <a:rPr lang="en-US" dirty="0"/>
              <a:t>3. Methodology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B44EC75-1339-E1A4-2955-30932816A9A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47772" y="1038075"/>
            <a:ext cx="5410644" cy="657673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Proposed Hybrid Architecture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6523DD1-7423-3221-0A31-A8D811BA1180}"/>
              </a:ext>
            </a:extLst>
          </p:cNvPr>
          <p:cNvSpPr txBox="1">
            <a:spLocks/>
          </p:cNvSpPr>
          <p:nvPr/>
        </p:nvSpPr>
        <p:spPr>
          <a:xfrm>
            <a:off x="253056" y="1557643"/>
            <a:ext cx="6540500" cy="224886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1F0A2EF-BBB8-153C-3012-940D3D743A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2736" y="3473544"/>
            <a:ext cx="5798266" cy="2770733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9175D73-A7E5-3E2B-FAA9-E2550A541D15}"/>
              </a:ext>
            </a:extLst>
          </p:cNvPr>
          <p:cNvSpPr txBox="1">
            <a:spLocks/>
          </p:cNvSpPr>
          <p:nvPr/>
        </p:nvSpPr>
        <p:spPr>
          <a:xfrm>
            <a:off x="247771" y="1560345"/>
            <a:ext cx="6540499" cy="234753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5 feature groups</a:t>
            </a:r>
          </a:p>
          <a:p>
            <a:r>
              <a:rPr lang="en-US" dirty="0"/>
              <a:t>Each group have its own encoder </a:t>
            </a:r>
          </a:p>
          <a:p>
            <a:r>
              <a:rPr lang="en-US" dirty="0"/>
              <a:t>Optional I3D motion</a:t>
            </a:r>
          </a:p>
          <a:p>
            <a:r>
              <a:rPr lang="en-US" dirty="0"/>
              <a:t>Each stream have auxiliary head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037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3B0017-47EB-C0E8-EAE3-D8484F7B47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B093735-4F08-A978-4B8E-022C597CF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E0355EF-95CC-0D67-CCBE-2634C5835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950" y="79375"/>
            <a:ext cx="8674100" cy="450850"/>
          </a:xfrm>
        </p:spPr>
        <p:txBody>
          <a:bodyPr/>
          <a:lstStyle/>
          <a:p>
            <a:r>
              <a:rPr lang="en-US" dirty="0"/>
              <a:t>4. Experimental Results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AB7B245-955A-154C-0184-8803E512BE7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47772" y="1038075"/>
            <a:ext cx="7773598" cy="657673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CMOSE In-Domain Result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C6D2412-72B8-FDA9-5D46-D3613108C9F6}"/>
              </a:ext>
            </a:extLst>
          </p:cNvPr>
          <p:cNvSpPr txBox="1">
            <a:spLocks/>
          </p:cNvSpPr>
          <p:nvPr/>
        </p:nvSpPr>
        <p:spPr>
          <a:xfrm>
            <a:off x="180421" y="1572273"/>
            <a:ext cx="8674100" cy="97175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Best proposed model outperform best baseline.</a:t>
            </a:r>
          </a:p>
          <a:p>
            <a:r>
              <a:rPr lang="en-US" dirty="0"/>
              <a:t>I3D stream enabled shows in-domain improvement.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25B52F-2B9D-FF57-356C-1DAEEB557E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7545" y="2544024"/>
            <a:ext cx="5694629" cy="3618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4712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C7DCA5-2264-4C2F-F89A-1BB02B5383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D95E831-F03A-E9D6-477B-16158246D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D4EB3F0-219A-DBCD-63E7-B9F55D561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950" y="79375"/>
            <a:ext cx="8674100" cy="450850"/>
          </a:xfrm>
        </p:spPr>
        <p:txBody>
          <a:bodyPr/>
          <a:lstStyle/>
          <a:p>
            <a:r>
              <a:rPr lang="en-US" dirty="0"/>
              <a:t>4. Experimental Results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045C380-2216-AAB1-04F5-715C7CA9F57C}"/>
              </a:ext>
            </a:extLst>
          </p:cNvPr>
          <p:cNvSpPr txBox="1">
            <a:spLocks/>
          </p:cNvSpPr>
          <p:nvPr/>
        </p:nvSpPr>
        <p:spPr>
          <a:xfrm>
            <a:off x="180421" y="1572273"/>
            <a:ext cx="8188879" cy="414272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Feature groups don’t show clear preference.</a:t>
            </a:r>
          </a:p>
          <a:p>
            <a:r>
              <a:rPr lang="en-US" dirty="0"/>
              <a:t>Head pose lightly prefers TCN.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677ED99-1826-0BB4-6A68-915A858237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186" y="2633401"/>
            <a:ext cx="6863348" cy="3295342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95D9609C-AD72-9824-0FED-CA95D0826FA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47772" y="1038075"/>
            <a:ext cx="7458762" cy="657673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CMOSE In-Domain Result</a:t>
            </a:r>
          </a:p>
        </p:txBody>
      </p:sp>
    </p:spTree>
    <p:extLst>
      <p:ext uri="{BB962C8B-B14F-4D97-AF65-F5344CB8AC3E}">
        <p14:creationId xmlns:p14="http://schemas.microsoft.com/office/powerpoint/2010/main" val="12706405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6A04DC-7EC5-F707-7927-7CCF31CB5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B7DD5F1-AD2A-47AE-F013-A57864341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714075F-9CB5-36CC-C1FB-E88F30AD6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950" y="79375"/>
            <a:ext cx="8674100" cy="450850"/>
          </a:xfrm>
        </p:spPr>
        <p:txBody>
          <a:bodyPr/>
          <a:lstStyle/>
          <a:p>
            <a:r>
              <a:rPr lang="en-US" dirty="0"/>
              <a:t>4. Experimental Results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4E63C6A-7878-DAE6-85AC-894F1F3033DD}"/>
              </a:ext>
            </a:extLst>
          </p:cNvPr>
          <p:cNvSpPr txBox="1">
            <a:spLocks/>
          </p:cNvSpPr>
          <p:nvPr/>
        </p:nvSpPr>
        <p:spPr>
          <a:xfrm>
            <a:off x="180421" y="1572274"/>
            <a:ext cx="7985679" cy="81448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QWK value collapses off-diagonal while accuracy is still good.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935E2954-262D-0130-9314-FCFF02415B0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47772" y="1038075"/>
            <a:ext cx="7918328" cy="657673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Cross-Dataset Result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31F91E1-F923-D7E4-2FED-98FD510F3D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3279" y="2386758"/>
            <a:ext cx="6617442" cy="3819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61335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AD7088-6DDF-79CA-EF61-E0712ECD9B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9508B90-3450-F3E7-071F-0FE31237A9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1065" y="2386758"/>
            <a:ext cx="6581869" cy="379882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76BAF88-6DB1-B616-3CDC-C614D6AC1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2B58B20-2C8B-646F-3184-4DF74BF3A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950" y="79375"/>
            <a:ext cx="8674100" cy="450850"/>
          </a:xfrm>
        </p:spPr>
        <p:txBody>
          <a:bodyPr/>
          <a:lstStyle/>
          <a:p>
            <a:r>
              <a:rPr lang="en-US" dirty="0"/>
              <a:t>4. Experimental Results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9E6437C-9160-C20D-D706-D4CDD123E839}"/>
              </a:ext>
            </a:extLst>
          </p:cNvPr>
          <p:cNvSpPr txBox="1">
            <a:spLocks/>
          </p:cNvSpPr>
          <p:nvPr/>
        </p:nvSpPr>
        <p:spPr>
          <a:xfrm>
            <a:off x="180421" y="1572274"/>
            <a:ext cx="7985679" cy="81448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Best proposed model outperform best baseline cross dataset .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F303A80-AB49-D3F7-1901-08B1DD8FF96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47772" y="1038075"/>
            <a:ext cx="7918328" cy="657673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Cross-Dataset Result</a:t>
            </a:r>
          </a:p>
        </p:txBody>
      </p:sp>
    </p:spTree>
    <p:extLst>
      <p:ext uri="{BB962C8B-B14F-4D97-AF65-F5344CB8AC3E}">
        <p14:creationId xmlns:p14="http://schemas.microsoft.com/office/powerpoint/2010/main" val="5130768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9A4DB3-2ED7-9D0B-6B3B-3FF7FDA77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878FBF3-8B75-95DD-E4D4-E62F7A20C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3C029AF-8357-892B-3A1D-D9508BD488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950" y="79375"/>
            <a:ext cx="8674100" cy="450850"/>
          </a:xfrm>
        </p:spPr>
        <p:txBody>
          <a:bodyPr/>
          <a:lstStyle/>
          <a:p>
            <a:r>
              <a:rPr lang="en-US" dirty="0"/>
              <a:t>4. Experimental Results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06783A5-ADDB-57DE-194F-0F6F381E2955}"/>
              </a:ext>
            </a:extLst>
          </p:cNvPr>
          <p:cNvSpPr txBox="1">
            <a:spLocks/>
          </p:cNvSpPr>
          <p:nvPr/>
        </p:nvSpPr>
        <p:spPr>
          <a:xfrm>
            <a:off x="180421" y="1572274"/>
            <a:ext cx="7985679" cy="45085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Improvement from I3D stream is not significant cross-dataset.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6F422F7-9E26-9B93-DF86-579A9AF4966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47772" y="1038075"/>
            <a:ext cx="7918328" cy="657673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Cross-Dataset Result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7A77FDB-D94C-E231-20E1-EFEA80F510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308" y="3514135"/>
            <a:ext cx="7509149" cy="1892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7949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230C4A-9E4D-E8C7-0270-4E15B5325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0AFD47A-3499-582E-21C9-A066DB42E2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3178" y="2439629"/>
            <a:ext cx="5717643" cy="3809569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4073B2E-7E72-1893-7F90-AA5723613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272E5D6-4B27-F48E-0A24-EC2D40DD1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950" y="79375"/>
            <a:ext cx="8674100" cy="450850"/>
          </a:xfrm>
        </p:spPr>
        <p:txBody>
          <a:bodyPr/>
          <a:lstStyle/>
          <a:p>
            <a:r>
              <a:rPr lang="en-US" dirty="0"/>
              <a:t>4. Experimental Results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C4638E4-8ED0-2CEF-BD02-B9C3240E874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47772" y="1038075"/>
            <a:ext cx="8324728" cy="657673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Private Dataset Result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85F96A1-6509-A8CF-DB49-D6E6B06570A4}"/>
              </a:ext>
            </a:extLst>
          </p:cNvPr>
          <p:cNvSpPr txBox="1">
            <a:spLocks/>
          </p:cNvSpPr>
          <p:nvPr/>
        </p:nvSpPr>
        <p:spPr>
          <a:xfrm>
            <a:off x="180421" y="1572273"/>
            <a:ext cx="8963579" cy="414272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F1 score of the rare E0 class drop to zero.</a:t>
            </a:r>
          </a:p>
          <a:p>
            <a:r>
              <a:rPr lang="en-US" dirty="0"/>
              <a:t>F1 score of other classes are lifted. </a:t>
            </a:r>
          </a:p>
        </p:txBody>
      </p:sp>
    </p:spTree>
    <p:extLst>
      <p:ext uri="{BB962C8B-B14F-4D97-AF65-F5344CB8AC3E}">
        <p14:creationId xmlns:p14="http://schemas.microsoft.com/office/powerpoint/2010/main" val="33020755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BC3036-6A84-6FD5-060D-EDD6AA4A8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943F800-1A33-6BF3-3AF9-D070835C8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3A78E3A-E458-6922-DA6E-1D3EABE4B4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950" y="79375"/>
            <a:ext cx="8674100" cy="450850"/>
          </a:xfrm>
        </p:spPr>
        <p:txBody>
          <a:bodyPr/>
          <a:lstStyle/>
          <a:p>
            <a:r>
              <a:rPr lang="en-US" dirty="0"/>
              <a:t>4. Experimental Results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96FCFC7-6D91-1B86-0796-6A07A88C95AA}"/>
              </a:ext>
            </a:extLst>
          </p:cNvPr>
          <p:cNvSpPr txBox="1">
            <a:spLocks/>
          </p:cNvSpPr>
          <p:nvPr/>
        </p:nvSpPr>
        <p:spPr>
          <a:xfrm>
            <a:off x="180421" y="1572274"/>
            <a:ext cx="7985679" cy="45085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In-domain performance cannot predict transferability.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0115CA7F-74BA-60F8-296C-203FB894FA3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47772" y="1038075"/>
            <a:ext cx="7918328" cy="657673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Private Dataset Result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0C4032-DA9D-ACCB-DEBE-ACD97E2ACD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4084" y="2546732"/>
            <a:ext cx="4995832" cy="3698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02783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A377DB-EAC7-184F-2A05-3372E807A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781FC6F-5ABA-41B0-4D84-D248F0F5B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E13A60D-A411-8FB6-3EF4-039452EE1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950" y="79375"/>
            <a:ext cx="8674100" cy="450850"/>
          </a:xfrm>
        </p:spPr>
        <p:txBody>
          <a:bodyPr/>
          <a:lstStyle/>
          <a:p>
            <a:r>
              <a:rPr lang="en-US" dirty="0"/>
              <a:t>5. Conclusions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CA37248-CBC8-9774-1445-64614FE4C55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47772" y="1038075"/>
            <a:ext cx="4010578" cy="657673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Summary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A629EFE-AD37-19FC-C956-74B24B7AD68C}"/>
              </a:ext>
            </a:extLst>
          </p:cNvPr>
          <p:cNvSpPr txBox="1">
            <a:spLocks/>
          </p:cNvSpPr>
          <p:nvPr/>
        </p:nvSpPr>
        <p:spPr>
          <a:xfrm>
            <a:off x="180422" y="1572273"/>
            <a:ext cx="7596506" cy="433964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dirty="0"/>
              <a:t>Architecture:</a:t>
            </a:r>
          </a:p>
          <a:p>
            <a:pPr lvl="1"/>
            <a:r>
              <a:rPr lang="en-US" dirty="0"/>
              <a:t>New hybrid architecture </a:t>
            </a:r>
          </a:p>
          <a:p>
            <a:pPr lvl="1"/>
            <a:r>
              <a:rPr lang="en-US" dirty="0"/>
              <a:t>+0.068 QWK in-domain</a:t>
            </a:r>
          </a:p>
          <a:p>
            <a:pPr lvl="1"/>
            <a:r>
              <a:rPr lang="en-US" dirty="0"/>
              <a:t>+ 0.094 QWK on private set</a:t>
            </a:r>
          </a:p>
          <a:p>
            <a:pPr lvl="0"/>
            <a:r>
              <a:rPr lang="en-US" dirty="0"/>
              <a:t>Private dataset:</a:t>
            </a:r>
          </a:p>
          <a:p>
            <a:pPr lvl="1"/>
            <a:r>
              <a:rPr lang="en-US" dirty="0"/>
              <a:t>366 clips.</a:t>
            </a:r>
          </a:p>
          <a:p>
            <a:pPr lvl="1"/>
            <a:r>
              <a:rPr lang="en-US" dirty="0"/>
              <a:t>Manually labeled.</a:t>
            </a:r>
          </a:p>
          <a:p>
            <a:pPr lvl="0"/>
            <a:r>
              <a:rPr lang="en-US" dirty="0"/>
              <a:t>Generalization:</a:t>
            </a:r>
          </a:p>
          <a:p>
            <a:pPr lvl="1"/>
            <a:r>
              <a:rPr lang="en-US" dirty="0"/>
              <a:t>Low QWK exposes low transferability</a:t>
            </a:r>
          </a:p>
        </p:txBody>
      </p:sp>
    </p:spTree>
    <p:extLst>
      <p:ext uri="{BB962C8B-B14F-4D97-AF65-F5344CB8AC3E}">
        <p14:creationId xmlns:p14="http://schemas.microsoft.com/office/powerpoint/2010/main" val="17804362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72B82C-CA49-624F-733A-F051F1EFDF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FBAF1AD-A237-0871-93CE-188C33ACA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4C947F3-5734-D49F-7937-1F3B1EF318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950" y="79375"/>
            <a:ext cx="8674100" cy="450850"/>
          </a:xfrm>
        </p:spPr>
        <p:txBody>
          <a:bodyPr/>
          <a:lstStyle/>
          <a:p>
            <a:r>
              <a:rPr lang="en-US" dirty="0"/>
              <a:t>5. Conclusions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6F85CD6-B78C-66AE-B490-C4855E6444A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47772" y="1038075"/>
            <a:ext cx="4010578" cy="657673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Limitations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1ABE3E5-CC15-A3B2-8E97-2B216116EEC6}"/>
              </a:ext>
            </a:extLst>
          </p:cNvPr>
          <p:cNvSpPr txBox="1">
            <a:spLocks/>
          </p:cNvSpPr>
          <p:nvPr/>
        </p:nvSpPr>
        <p:spPr>
          <a:xfrm>
            <a:off x="180421" y="1572274"/>
            <a:ext cx="7236379" cy="185277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Private dataset</a:t>
            </a:r>
          </a:p>
          <a:p>
            <a:pPr lvl="1"/>
            <a:r>
              <a:rPr lang="en-US" dirty="0"/>
              <a:t>Small</a:t>
            </a:r>
          </a:p>
          <a:p>
            <a:pPr lvl="1"/>
            <a:r>
              <a:rPr lang="en-US" dirty="0"/>
              <a:t>Single annotator</a:t>
            </a:r>
          </a:p>
          <a:p>
            <a:r>
              <a:rPr lang="en-US" dirty="0"/>
              <a:t>Inability to discriminate class E0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645698-F1A4-AD70-7984-6284368ACAC4}"/>
              </a:ext>
            </a:extLst>
          </p:cNvPr>
          <p:cNvSpPr txBox="1">
            <a:spLocks/>
          </p:cNvSpPr>
          <p:nvPr/>
        </p:nvSpPr>
        <p:spPr>
          <a:xfrm>
            <a:off x="180421" y="3425048"/>
            <a:ext cx="4010578" cy="65767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Future Work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A25B3F7-762C-EF5B-F4AD-45DDD95A974B}"/>
              </a:ext>
            </a:extLst>
          </p:cNvPr>
          <p:cNvSpPr txBox="1">
            <a:spLocks/>
          </p:cNvSpPr>
          <p:nvPr/>
        </p:nvSpPr>
        <p:spPr>
          <a:xfrm>
            <a:off x="180420" y="3959246"/>
            <a:ext cx="8674101" cy="224886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Private dataset</a:t>
            </a:r>
          </a:p>
          <a:p>
            <a:pPr lvl="1"/>
            <a:r>
              <a:rPr lang="en-US" dirty="0"/>
              <a:t>Larger dataset</a:t>
            </a:r>
          </a:p>
          <a:p>
            <a:pPr lvl="1"/>
            <a:r>
              <a:rPr lang="en-US" dirty="0"/>
              <a:t>Multi-annotator with reported inter-annotator agreement</a:t>
            </a:r>
          </a:p>
          <a:p>
            <a:r>
              <a:rPr lang="en-US" dirty="0"/>
              <a:t>Domain Adaptation for Private Dataset</a:t>
            </a:r>
          </a:p>
          <a:p>
            <a:r>
              <a:rPr lang="en-US" dirty="0"/>
              <a:t>Learned group encoders</a:t>
            </a:r>
          </a:p>
        </p:txBody>
      </p:sp>
    </p:spTree>
    <p:extLst>
      <p:ext uri="{BB962C8B-B14F-4D97-AF65-F5344CB8AC3E}">
        <p14:creationId xmlns:p14="http://schemas.microsoft.com/office/powerpoint/2010/main" val="11724353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37B5C8-2095-4D2D-97FE-E4E8D8937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3" name="Title 10">
            <a:extLst>
              <a:ext uri="{FF2B5EF4-FFF2-40B4-BE49-F238E27FC236}">
                <a16:creationId xmlns:a16="http://schemas.microsoft.com/office/drawing/2014/main" id="{F78B3876-6ECC-4098-BDD1-C48CE4B42721}"/>
              </a:ext>
            </a:extLst>
          </p:cNvPr>
          <p:cNvSpPr txBox="1">
            <a:spLocks/>
          </p:cNvSpPr>
          <p:nvPr/>
        </p:nvSpPr>
        <p:spPr>
          <a:xfrm>
            <a:off x="4181094" y="3021991"/>
            <a:ext cx="4197975" cy="81401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4800" dirty="0"/>
              <a:t>THANK YOU !</a:t>
            </a:r>
          </a:p>
        </p:txBody>
      </p:sp>
    </p:spTree>
    <p:extLst>
      <p:ext uri="{BB962C8B-B14F-4D97-AF65-F5344CB8AC3E}">
        <p14:creationId xmlns:p14="http://schemas.microsoft.com/office/powerpoint/2010/main" val="28305356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579835-E923-64E8-5073-2A183806A9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9E83E4-06C9-DF48-A531-B5A387328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492878"/>
            <a:ext cx="2057400" cy="365125"/>
          </a:xfrm>
          <a:prstGeom prst="rect">
            <a:avLst/>
          </a:prstGeom>
        </p:spPr>
        <p:txBody>
          <a:bodyPr/>
          <a:lstStyle/>
          <a:p>
            <a:fld id="{9EA0BE3B-158A-4EDF-80DC-E394A0D1600F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5EBAFAD-4B92-64F7-F71A-D2979C9EC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736" y="112543"/>
            <a:ext cx="2645764" cy="436098"/>
          </a:xfrm>
        </p:spPr>
        <p:txBody>
          <a:bodyPr/>
          <a:lstStyle/>
          <a:p>
            <a:r>
              <a:rPr lang="en-US" dirty="0"/>
              <a:t>Backup Slides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7DB0612-14FE-5E56-2303-967B671044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652" y="1780945"/>
            <a:ext cx="8392696" cy="3296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70590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76946D-AB92-4D05-97ED-4EDF0AB0F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492878"/>
            <a:ext cx="2057400" cy="365125"/>
          </a:xfrm>
          <a:prstGeom prst="rect">
            <a:avLst/>
          </a:prstGeom>
        </p:spPr>
        <p:txBody>
          <a:bodyPr/>
          <a:lstStyle/>
          <a:p>
            <a:fld id="{9EA0BE3B-158A-4EDF-80DC-E394A0D1600F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D2BE057-9ED3-BE01-FAA3-C92231930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736" y="112543"/>
            <a:ext cx="2645764" cy="436098"/>
          </a:xfrm>
        </p:spPr>
        <p:txBody>
          <a:bodyPr/>
          <a:lstStyle/>
          <a:p>
            <a:r>
              <a:rPr lang="en-US" dirty="0"/>
              <a:t>Backup Slides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053647-3301-A49E-DBDD-46279A6FFE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3676" y="1164523"/>
            <a:ext cx="6296647" cy="4528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846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8545A3-169F-3D75-B976-EC022955F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E75116-4339-31E7-670D-1BCF8F302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492878"/>
            <a:ext cx="2057400" cy="365125"/>
          </a:xfrm>
          <a:prstGeom prst="rect">
            <a:avLst/>
          </a:prstGeom>
        </p:spPr>
        <p:txBody>
          <a:bodyPr/>
          <a:lstStyle/>
          <a:p>
            <a:fld id="{9EA0BE3B-158A-4EDF-80DC-E394A0D1600F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F9220C9-E976-764C-2109-019F788FA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736" y="112543"/>
            <a:ext cx="2645764" cy="436098"/>
          </a:xfrm>
        </p:spPr>
        <p:txBody>
          <a:bodyPr/>
          <a:lstStyle/>
          <a:p>
            <a:r>
              <a:rPr lang="en-US" dirty="0"/>
              <a:t>Backup Slides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70F3920-94A8-FD56-7610-F1B0AC2333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040" y="2133600"/>
            <a:ext cx="8193920" cy="25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68384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D459B-C53F-EC4A-872D-201719249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AC0F6F-9B1A-93B2-0474-BF712C2B2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492878"/>
            <a:ext cx="2057400" cy="365125"/>
          </a:xfrm>
          <a:prstGeom prst="rect">
            <a:avLst/>
          </a:prstGeom>
        </p:spPr>
        <p:txBody>
          <a:bodyPr/>
          <a:lstStyle/>
          <a:p>
            <a:fld id="{9EA0BE3B-158A-4EDF-80DC-E394A0D1600F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9346C15-3F46-F5CE-A966-26D27591E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736" y="112543"/>
            <a:ext cx="2645764" cy="436098"/>
          </a:xfrm>
        </p:spPr>
        <p:txBody>
          <a:bodyPr/>
          <a:lstStyle/>
          <a:p>
            <a:r>
              <a:rPr lang="en-US" dirty="0"/>
              <a:t>Backup Slides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B1EA185-8C25-8D5F-9F27-E6DA143989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1469694"/>
            <a:ext cx="7685737" cy="4296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05774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94DFBB-280A-0A08-C7C6-8E586A337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D86B1F-99FC-192A-ACCB-E8FF75761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492878"/>
            <a:ext cx="2057400" cy="365125"/>
          </a:xfrm>
          <a:prstGeom prst="rect">
            <a:avLst/>
          </a:prstGeom>
        </p:spPr>
        <p:txBody>
          <a:bodyPr/>
          <a:lstStyle/>
          <a:p>
            <a:fld id="{9EA0BE3B-158A-4EDF-80DC-E394A0D1600F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3BEC5AE-6EC9-6346-099B-3253EE8ED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736" y="112543"/>
            <a:ext cx="2645764" cy="436098"/>
          </a:xfrm>
        </p:spPr>
        <p:txBody>
          <a:bodyPr/>
          <a:lstStyle/>
          <a:p>
            <a:r>
              <a:rPr lang="en-US" dirty="0"/>
              <a:t>Backup Slides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EEE0A2B-DC0F-6F33-AE94-432EEB1C0D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6575" y="1155157"/>
            <a:ext cx="5795746" cy="5016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262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03DF02-B450-FD5B-9796-F1BC7555A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132B48-7DC6-1F1B-D856-43F001400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492878"/>
            <a:ext cx="2057400" cy="365125"/>
          </a:xfrm>
          <a:prstGeom prst="rect">
            <a:avLst/>
          </a:prstGeom>
        </p:spPr>
        <p:txBody>
          <a:bodyPr/>
          <a:lstStyle/>
          <a:p>
            <a:fld id="{9EA0BE3B-158A-4EDF-80DC-E394A0D1600F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40EA68D-6B04-22A0-2E97-3CDE9CC66F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736" y="112543"/>
            <a:ext cx="2645764" cy="436098"/>
          </a:xfrm>
        </p:spPr>
        <p:txBody>
          <a:bodyPr/>
          <a:lstStyle/>
          <a:p>
            <a:r>
              <a:rPr lang="en-US" dirty="0"/>
              <a:t>Backup Slides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792871-17C5-16DB-D379-E189757521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285" y="1231900"/>
            <a:ext cx="7613429" cy="439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80633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CB19AD86CDF2D4DBF9DAD694EFBC09D" ma:contentTypeVersion="7" ma:contentTypeDescription="Create a new document." ma:contentTypeScope="" ma:versionID="6423fc3df46fff0625ec86a02e55459f">
  <xsd:schema xmlns:xsd="http://www.w3.org/2001/XMLSchema" xmlns:xs="http://www.w3.org/2001/XMLSchema" xmlns:p="http://schemas.microsoft.com/office/2006/metadata/properties" xmlns:ns2="757826ba-dfa3-48aa-98b2-1e988427fee5" xmlns:ns3="e4770848-7955-4ec6-9f06-ace3904740ab" targetNamespace="http://schemas.microsoft.com/office/2006/metadata/properties" ma:root="true" ma:fieldsID="24cf96f43bac35fd0bad3b1a63bec25f" ns2:_="" ns3:_="">
    <xsd:import namespace="757826ba-dfa3-48aa-98b2-1e988427fee5"/>
    <xsd:import namespace="e4770848-7955-4ec6-9f06-ace3904740a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57826ba-dfa3-48aa-98b2-1e988427fee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770848-7955-4ec6-9f06-ace3904740ab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B3CAD26-AD2C-4FFF-9DF5-EC2C983C2D6F}">
  <ds:schemaRefs>
    <ds:schemaRef ds:uri="http://schemas.openxmlformats.org/package/2006/metadata/core-properties"/>
    <ds:schemaRef ds:uri="http://purl.org/dc/terms/"/>
    <ds:schemaRef ds:uri="http://purl.org/dc/dcmitype/"/>
    <ds:schemaRef ds:uri="http://www.w3.org/XML/1998/namespace"/>
    <ds:schemaRef ds:uri="http://purl.org/dc/elements/1.1/"/>
    <ds:schemaRef ds:uri="http://schemas.microsoft.com/office/infopath/2007/PartnerControls"/>
    <ds:schemaRef ds:uri="http://schemas.microsoft.com/office/2006/documentManagement/types"/>
    <ds:schemaRef ds:uri="c72df4cc-d2de-4b7e-8388-06b9b73bb217"/>
    <ds:schemaRef ds:uri="c070d92c-e005-4177-a1a8-b2208be38bba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045DE4D0-16BA-461B-9401-3A89C2173BD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4646CC4-8286-4FA4-AD82-BCB62112438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57826ba-dfa3-48aa-98b2-1e988427fee5"/>
    <ds:schemaRef ds:uri="e4770848-7955-4ec6-9f06-ace3904740a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772</TotalTime>
  <Words>531</Words>
  <Application>Microsoft Office PowerPoint</Application>
  <PresentationFormat>On-screen Show (4:3)</PresentationFormat>
  <Paragraphs>167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Arial</vt:lpstr>
      <vt:lpstr>Calibri</vt:lpstr>
      <vt:lpstr>Lato</vt:lpstr>
      <vt:lpstr>Office Theme</vt:lpstr>
      <vt:lpstr>PowerPoint Presentation</vt:lpstr>
      <vt:lpstr>PowerPoint Presentation</vt:lpstr>
      <vt:lpstr>Content</vt:lpstr>
      <vt:lpstr>1. Introduction</vt:lpstr>
      <vt:lpstr>1. Introduction</vt:lpstr>
      <vt:lpstr>1. Introduction</vt:lpstr>
      <vt:lpstr>2. Background Knowledge</vt:lpstr>
      <vt:lpstr>2. Background Knowledge</vt:lpstr>
      <vt:lpstr>3. Methodology</vt:lpstr>
      <vt:lpstr>3. Methodology</vt:lpstr>
      <vt:lpstr>3. Methodology</vt:lpstr>
      <vt:lpstr>4. Experimental Results</vt:lpstr>
      <vt:lpstr>4. Experimental Results</vt:lpstr>
      <vt:lpstr>4. Experimental Results</vt:lpstr>
      <vt:lpstr>4. Experimental Results</vt:lpstr>
      <vt:lpstr>4. Experimental Results</vt:lpstr>
      <vt:lpstr>4. Experimental Results</vt:lpstr>
      <vt:lpstr>4. Experimental Results</vt:lpstr>
      <vt:lpstr>5. Conclusions</vt:lpstr>
      <vt:lpstr>5. Conclusions</vt:lpstr>
      <vt:lpstr>PowerPoint Presentation</vt:lpstr>
      <vt:lpstr>Backup Slides</vt:lpstr>
      <vt:lpstr>Backup Slides</vt:lpstr>
      <vt:lpstr>Backup Slides</vt:lpstr>
      <vt:lpstr>Backup Slides</vt:lpstr>
      <vt:lpstr>Backup Slides</vt:lpstr>
      <vt:lpstr>Backup Slides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Phong TT &amp; QTTH</dc:creator>
  <cp:lastModifiedBy>Hòa Phan Minh</cp:lastModifiedBy>
  <cp:revision>23</cp:revision>
  <dcterms:created xsi:type="dcterms:W3CDTF">2021-05-28T04:32:29Z</dcterms:created>
  <dcterms:modified xsi:type="dcterms:W3CDTF">2026-07-14T03:37:54Z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0x010100ECB19AD86CDF2D4DBF9DAD694EFBC09D</vt:lpwstr>
  </property>
  <property fmtid="{D5CDD505-2E9C-101B-9397-08002B2CF9AE}" pid="3" name="MediaServiceImageTags">
    <vt:lpwstr/>
  </property>
</Properties>
</file>