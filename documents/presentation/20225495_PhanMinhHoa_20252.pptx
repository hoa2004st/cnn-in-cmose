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28"/>
  </p:notesMasterIdLst>
  <p:handoutMasterIdLst>
    <p:handoutMasterId r:id="rId29"/>
  </p:handoutMasterIdLst>
  <p:sldIdLst>
    <p:sldId id="275" r:id="rId5"/>
    <p:sldId id="257" r:id="rId6"/>
    <p:sldId id="267" r:id="rId7"/>
    <p:sldId id="265" r:id="rId8"/>
    <p:sldId id="280" r:id="rId9"/>
    <p:sldId id="281" r:id="rId10"/>
    <p:sldId id="283" r:id="rId11"/>
    <p:sldId id="284" r:id="rId12"/>
    <p:sldId id="285" r:id="rId13"/>
    <p:sldId id="286" r:id="rId14"/>
    <p:sldId id="289" r:id="rId15"/>
    <p:sldId id="294" r:id="rId16"/>
    <p:sldId id="291" r:id="rId17"/>
    <p:sldId id="292" r:id="rId18"/>
    <p:sldId id="293" r:id="rId19"/>
    <p:sldId id="295" r:id="rId20"/>
    <p:sldId id="296" r:id="rId21"/>
    <p:sldId id="297" r:id="rId22"/>
    <p:sldId id="269" r:id="rId23"/>
    <p:sldId id="278" r:id="rId24"/>
    <p:sldId id="261" r:id="rId25"/>
    <p:sldId id="276" r:id="rId26"/>
    <p:sldId id="27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 Huy Le" userId="b882b48e-f387-43e8-9906-a8bdb025cf25" providerId="ADAL" clId="{1FFF7DE7-5311-C240-8EA9-C81196114302}"/>
    <pc:docChg chg="modSld">
      <pc:chgData name="Phan Huy Le" userId="b882b48e-f387-43e8-9906-a8bdb025cf25" providerId="ADAL" clId="{1FFF7DE7-5311-C240-8EA9-C81196114302}" dt="2023-02-20T13:20:14.777" v="0"/>
      <pc:docMkLst>
        <pc:docMk/>
      </pc:docMkLst>
      <pc:sldChg chg="addSp">
        <pc:chgData name="Phan Huy Le" userId="b882b48e-f387-43e8-9906-a8bdb025cf25" providerId="ADAL" clId="{1FFF7DE7-5311-C240-8EA9-C81196114302}" dt="2023-02-20T13:20:14.777" v="0"/>
        <pc:sldMkLst>
          <pc:docMk/>
          <pc:sldMk cId="1082086453" sldId="275"/>
        </pc:sldMkLst>
        <pc:inkChg chg="add">
          <ac:chgData name="Phan Huy Le" userId="b882b48e-f387-43e8-9906-a8bdb025cf25" providerId="ADAL" clId="{1FFF7DE7-5311-C240-8EA9-C81196114302}" dt="2023-02-20T13:20:14.777" v="0"/>
          <ac:inkMkLst>
            <pc:docMk/>
            <pc:sldMk cId="1082086453" sldId="275"/>
            <ac:inkMk id="2" creationId="{3766EBD4-31D7-B665-869A-01DABDA2039D}"/>
          </ac:inkMkLst>
        </pc:inkChg>
      </pc:sldChg>
    </pc:docChg>
  </pc:docChgLst>
  <pc:docChgLst>
    <pc:chgData name="Nguyen Huy Hung" userId="S::hung.nguyenhuy@hust.edu.vn::2fc3bcd5-ca04-4ee1-b21d-406e5862d3b9" providerId="AD" clId="Web-{ACC8BDC0-93AA-4E5A-93CD-EE74F5D6190C}"/>
    <pc:docChg chg="modSld">
      <pc:chgData name="Nguyen Huy Hung" userId="S::hung.nguyenhuy@hust.edu.vn::2fc3bcd5-ca04-4ee1-b21d-406e5862d3b9" providerId="AD" clId="Web-{ACC8BDC0-93AA-4E5A-93CD-EE74F5D6190C}" dt="2023-02-17T02:49:54.924" v="5"/>
      <pc:docMkLst>
        <pc:docMk/>
      </pc:docMkLst>
      <pc:sldChg chg="addSp delSp modSp mod setBg setClrOvrMap">
        <pc:chgData name="Nguyen Huy Hung" userId="S::hung.nguyenhuy@hust.edu.vn::2fc3bcd5-ca04-4ee1-b21d-406e5862d3b9" providerId="AD" clId="Web-{ACC8BDC0-93AA-4E5A-93CD-EE74F5D6190C}" dt="2023-02-17T02:49:54.924" v="5"/>
        <pc:sldMkLst>
          <pc:docMk/>
          <pc:sldMk cId="3651498809" sldId="271"/>
        </pc:sldMkLst>
        <pc:spChg chg="mo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2" creationId="{A2B7E207-A869-B342-B6D9-77005A268D98}"/>
          </ac:spMkLst>
        </pc:spChg>
        <pc:spChg chg="del">
          <ac:chgData name="Nguyen Huy Hung" userId="S::hung.nguyenhuy@hust.edu.vn::2fc3bcd5-ca04-4ee1-b21d-406e5862d3b9" providerId="AD" clId="Web-{ACC8BDC0-93AA-4E5A-93CD-EE74F5D6190C}" dt="2023-02-17T02:49:28.627" v="0"/>
          <ac:spMkLst>
            <pc:docMk/>
            <pc:sldMk cId="3651498809" sldId="271"/>
            <ac:spMk id="3" creationId="{1B1994D1-B0B9-97CB-A9B2-4F2D31319A30}"/>
          </ac:spMkLst>
        </pc:spChg>
        <pc:spChg chg="mod or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4" creationId="{7508968A-F2A2-8005-6E03-B78E65864C76}"/>
          </ac:spMkLst>
        </pc:spChg>
        <pc:spChg chg="mo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5" creationId="{853CF161-A6C1-F8C7-C9A5-5CD5BD5C176E}"/>
          </ac:spMkLst>
        </pc:spChg>
        <pc:spChg chg="add del">
          <ac:chgData name="Nguyen Huy Hung" userId="S::hung.nguyenhuy@hust.edu.vn::2fc3bcd5-ca04-4ee1-b21d-406e5862d3b9" providerId="AD" clId="Web-{ACC8BDC0-93AA-4E5A-93CD-EE74F5D6190C}" dt="2023-02-17T02:49:44.487" v="2"/>
          <ac:spMkLst>
            <pc:docMk/>
            <pc:sldMk cId="3651498809" sldId="271"/>
            <ac:spMk id="11" creationId="{F13C74B1-5B17-4795-BED0-7140497B445A}"/>
          </ac:spMkLst>
        </pc:spChg>
        <pc:spChg chg="add del">
          <ac:chgData name="Nguyen Huy Hung" userId="S::hung.nguyenhuy@hust.edu.vn::2fc3bcd5-ca04-4ee1-b21d-406e5862d3b9" providerId="AD" clId="Web-{ACC8BDC0-93AA-4E5A-93CD-EE74F5D6190C}" dt="2023-02-17T02:49:44.487" v="2"/>
          <ac:spMkLst>
            <pc:docMk/>
            <pc:sldMk cId="3651498809" sldId="271"/>
            <ac:spMk id="13" creationId="{D4974D33-8DC5-464E-8C6D-BE58F0669C17}"/>
          </ac:spMkLst>
        </pc:spChg>
        <pc:spChg chg="add del">
          <ac:chgData name="Nguyen Huy Hung" userId="S::hung.nguyenhuy@hust.edu.vn::2fc3bcd5-ca04-4ee1-b21d-406e5862d3b9" providerId="AD" clId="Web-{ACC8BDC0-93AA-4E5A-93CD-EE74F5D6190C}" dt="2023-02-17T02:49:54.909" v="4"/>
          <ac:spMkLst>
            <pc:docMk/>
            <pc:sldMk cId="3651498809" sldId="271"/>
            <ac:spMk id="15" creationId="{4F74D28C-3268-4E35-8EE1-D92CB4A85A7D}"/>
          </ac:spMkLst>
        </pc:spChg>
        <pc:spChg chg="add">
          <ac:chgData name="Nguyen Huy Hung" userId="S::hung.nguyenhuy@hust.edu.vn::2fc3bcd5-ca04-4ee1-b21d-406e5862d3b9" providerId="AD" clId="Web-{ACC8BDC0-93AA-4E5A-93CD-EE74F5D6190C}" dt="2023-02-17T02:49:54.924" v="5"/>
          <ac:spMkLst>
            <pc:docMk/>
            <pc:sldMk cId="3651498809" sldId="271"/>
            <ac:spMk id="17" creationId="{4F74D28C-3268-4E35-8EE1-D92CB4A85A7D}"/>
          </ac:spMkLst>
        </pc:spChg>
        <pc:picChg chg="add mod ord">
          <ac:chgData name="Nguyen Huy Hung" userId="S::hung.nguyenhuy@hust.edu.vn::2fc3bcd5-ca04-4ee1-b21d-406e5862d3b9" providerId="AD" clId="Web-{ACC8BDC0-93AA-4E5A-93CD-EE74F5D6190C}" dt="2023-02-17T02:49:54.924" v="5"/>
          <ac:picMkLst>
            <pc:docMk/>
            <pc:sldMk cId="3651498809" sldId="271"/>
            <ac:picMk id="6" creationId="{8D296E74-50DF-B7DF-59BD-7C076F6CAF88}"/>
          </ac:picMkLst>
        </pc:picChg>
      </pc:sldChg>
    </pc:docChg>
  </pc:docChgLst>
  <pc:docChgLst>
    <pc:chgData name="Hoang Quang Huy" userId="de59c2fa-6a56-41ce-8c4c-bbeafec493c9" providerId="ADAL" clId="{3064626A-1036-43E0-AE20-3F0AE02E25AE}"/>
    <pc:docChg chg="modSld sldOrd">
      <pc:chgData name="Hoang Quang Huy" userId="de59c2fa-6a56-41ce-8c4c-bbeafec493c9" providerId="ADAL" clId="{3064626A-1036-43E0-AE20-3F0AE02E25AE}" dt="2023-04-01T06:20:58.502" v="1"/>
      <pc:docMkLst>
        <pc:docMk/>
      </pc:docMkLst>
      <pc:sldChg chg="ord">
        <pc:chgData name="Hoang Quang Huy" userId="de59c2fa-6a56-41ce-8c4c-bbeafec493c9" providerId="ADAL" clId="{3064626A-1036-43E0-AE20-3F0AE02E25AE}" dt="2023-04-01T06:20:58.502" v="1"/>
        <pc:sldMkLst>
          <pc:docMk/>
          <pc:sldMk cId="945003436" sldId="2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0T13:20:14.7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4378 1 7881,'-80'10'0,"-9"-1"0,-9-2-468,-2-3 458,9-2 0,-3-1 0,1 7 1,44-1-1,-1 2 0,-5 3 0,-1 2 1,-2 3-1,-2 0 0,-3 2 1,-2 0-1,-1-1 0,-1-1 0,-4 1 1,-1-2-1,-1 0 0,0 0 1,-2 0-1,0-2 0,1 0 0,-1-1 1,-2-2-1,0 0 0,-1-2 0,-2-1 1,-4 1-1,0-2 0,-1 1 1,-1 0-1,-1 1 0,0 0 0,-1 1 1,1 2-1,-3 1 0,0 2 1,-2 2-1,-1 2-45,-3 1 0,-1 3 0,32-5 0,-1 3 0,1 0 1,1 2-1,1 0 0,0 2-511,0 1 0,2 1 0,-2 2 0,-7 6 0,-2 2 0,2 2 0,-1 2 0,0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7/11/2026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7/11/2026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7/11/2026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7/11/2026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7/11/2026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83" r:id="rId5"/>
    <p:sldLayoutId id="2147483676" r:id="rId6"/>
    <p:sldLayoutId id="2147483679" r:id="rId7"/>
    <p:sldLayoutId id="2147483680" r:id="rId8"/>
    <p:sldLayoutId id="2147483681" r:id="rId9"/>
    <p:sldLayoutId id="2147483682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Viết tay 1">
                <a:extLst>
                  <a:ext uri="{FF2B5EF4-FFF2-40B4-BE49-F238E27FC236}">
                    <a16:creationId xmlns:a16="http://schemas.microsoft.com/office/drawing/2014/main" id="{3766EBD4-31D7-B665-869A-01DABDA2039D}"/>
                  </a:ext>
                </a:extLst>
              </p14:cNvPr>
              <p14:cNvContentPartPr/>
              <p14:nvPr/>
            </p14:nvContentPartPr>
            <p14:xfrm>
              <a:off x="5899505" y="3203640"/>
              <a:ext cx="1576440" cy="352440"/>
            </p14:xfrm>
          </p:contentPart>
        </mc:Choice>
        <mc:Fallback xmlns="">
          <p:pic>
            <p:nvPicPr>
              <p:cNvPr id="2" name="Viết tay 1">
                <a:extLst>
                  <a:ext uri="{FF2B5EF4-FFF2-40B4-BE49-F238E27FC236}">
                    <a16:creationId xmlns:a16="http://schemas.microsoft.com/office/drawing/2014/main" id="{3766EBD4-31D7-B665-869A-01DABDA203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4385" y="3188520"/>
                <a:ext cx="1606680" cy="38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527028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000" b="0" dirty="0"/>
              <a:t>Student’s engagement detection in online classes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Phan Minh Hòa - 20225495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AutoNum type="arabicPeriod"/>
            </a:pPr>
            <a:r>
              <a:rPr lang="en-US" dirty="0"/>
              <a:t>Literature Review</a:t>
            </a:r>
          </a:p>
          <a:p>
            <a:pPr marL="514350" indent="-514350">
              <a:buAutoNum type="arabicPeriod"/>
            </a:pPr>
            <a:r>
              <a:rPr lang="en-US" dirty="0"/>
              <a:t>Methodology</a:t>
            </a:r>
          </a:p>
          <a:p>
            <a:pPr marL="514350" indent="-514350">
              <a:buAutoNum type="arabicPeriod"/>
            </a:pPr>
            <a:r>
              <a:rPr lang="en-US" dirty="0"/>
              <a:t>Experimental Results</a:t>
            </a:r>
          </a:p>
          <a:p>
            <a:pPr marL="514350" indent="-514350">
              <a:buAutoNum type="arabicPeriod"/>
            </a:pPr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C00D3C-7D1F-9FE8-B334-57768F25B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B71059-7483-DB28-8736-CC12D5BDAE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 Statement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DDADAF-4CEB-CAEB-C80B-6E3D81DB3BEE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7393859" cy="31591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Task: Recognize students’ engagement level </a:t>
            </a:r>
          </a:p>
          <a:p>
            <a:r>
              <a:rPr lang="en-US" dirty="0"/>
              <a:t>Input: 10s clips from students’ webcams</a:t>
            </a:r>
          </a:p>
          <a:p>
            <a:r>
              <a:rPr lang="en-US" dirty="0"/>
              <a:t>Output: 4 classes</a:t>
            </a:r>
          </a:p>
          <a:p>
            <a:pPr lvl="1"/>
            <a:r>
              <a:rPr lang="en-US" dirty="0"/>
              <a:t>Highly Engage (HE)</a:t>
            </a:r>
          </a:p>
          <a:p>
            <a:pPr lvl="1"/>
            <a:r>
              <a:rPr lang="en-US" dirty="0"/>
              <a:t>Engage (EG)</a:t>
            </a:r>
          </a:p>
          <a:p>
            <a:pPr lvl="1"/>
            <a:r>
              <a:rPr lang="en-US" dirty="0"/>
              <a:t>Disengage (DE)</a:t>
            </a:r>
          </a:p>
          <a:p>
            <a:pPr lvl="1"/>
            <a:r>
              <a:rPr lang="en-US" dirty="0"/>
              <a:t>Highly Disengage (HD)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4A24F8-82E8-306B-C5AD-70BF8EEC5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419" y="4582284"/>
            <a:ext cx="2234160" cy="16773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74A317-6CCA-78CB-122D-978666F90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736" y="2611452"/>
            <a:ext cx="2197683" cy="1996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5C9F6C-3C23-36B2-FAB0-4815C4C10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419" y="2611452"/>
            <a:ext cx="2234160" cy="19964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42BDC2-C296-FC40-A5A7-DBB24DA91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0736" y="4607937"/>
            <a:ext cx="2197683" cy="165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46808-D0F1-888E-D2A1-49AD3055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08B24A-4311-50D3-7756-70F3CBD7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D0A65E-C2C4-0316-24C7-D01ED65CC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73F7E4-81A4-B2F8-D430-0403DCCA1E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Challenges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1A5EE7-6B81-F0AB-240F-E52F03D51F07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7393859" cy="31591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Ordinality</a:t>
            </a:r>
          </a:p>
          <a:p>
            <a:r>
              <a:rPr lang="en-US" dirty="0"/>
              <a:t>Imbalance</a:t>
            </a:r>
          </a:p>
          <a:p>
            <a:r>
              <a:rPr lang="en-US" dirty="0"/>
              <a:t>Angle Diversity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130ACC-AC41-07A0-57B6-5FF02B97C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892869"/>
              </p:ext>
            </p:extLst>
          </p:nvPr>
        </p:nvGraphicFramePr>
        <p:xfrm>
          <a:off x="3845249" y="1225219"/>
          <a:ext cx="50063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313">
                  <a:extLst>
                    <a:ext uri="{9D8B030D-6E8A-4147-A177-3AD203B41FA5}">
                      <a16:colId xmlns:a16="http://schemas.microsoft.com/office/drawing/2014/main" val="1834286826"/>
                    </a:ext>
                  </a:extLst>
                </a:gridCol>
                <a:gridCol w="1356087">
                  <a:extLst>
                    <a:ext uri="{9D8B030D-6E8A-4147-A177-3AD203B41FA5}">
                      <a16:colId xmlns:a16="http://schemas.microsoft.com/office/drawing/2014/main" val="94879789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65895235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519637500"/>
                    </a:ext>
                  </a:extLst>
                </a:gridCol>
              </a:tblGrid>
              <a:tr h="331792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CMOSE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DAiSEE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297558"/>
                  </a:ext>
                </a:extLst>
              </a:tr>
              <a:tr h="336400">
                <a:tc>
                  <a:txBody>
                    <a:bodyPr/>
                    <a:lstStyle/>
                    <a:p>
                      <a:r>
                        <a:rPr lang="en-US" dirty="0"/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501692"/>
                  </a:ext>
                </a:extLst>
              </a:tr>
              <a:tr h="336400">
                <a:tc>
                  <a:txBody>
                    <a:bodyPr/>
                    <a:lstStyle/>
                    <a:p>
                      <a:r>
                        <a:rPr lang="en-US" dirty="0"/>
                        <a:t>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01495"/>
                  </a:ext>
                </a:extLst>
              </a:tr>
              <a:tr h="336400">
                <a:tc>
                  <a:txBody>
                    <a:bodyPr/>
                    <a:lstStyle/>
                    <a:p>
                      <a:r>
                        <a:rPr lang="en-US" dirty="0"/>
                        <a:t>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799225"/>
                  </a:ext>
                </a:extLst>
              </a:tr>
              <a:tr h="336400">
                <a:tc>
                  <a:txBody>
                    <a:bodyPr/>
                    <a:lstStyle/>
                    <a:p>
                      <a:r>
                        <a:rPr lang="en-US" dirty="0"/>
                        <a:t>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70582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ABB782B-CF55-B54F-7E1E-FDE38461D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3" y="4377237"/>
            <a:ext cx="2232660" cy="12555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45B593-C2BD-C4E5-BD71-EB96880CD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187" y="4379422"/>
            <a:ext cx="2206930" cy="12511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814BF8-7F81-ED52-D98A-CEECDC716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543" y="4375898"/>
            <a:ext cx="2201457" cy="12537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BDE08-D169-2164-C0C9-8418EC5BA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375898"/>
            <a:ext cx="2210187" cy="12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2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6356-BD30-FA35-4456-D063AECE4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74C0FB-2BC7-C634-E758-015E4DA5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86F889-F0B0-0F98-73A4-58E2C655A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202917-6BD2-8AF5-BA27-03AF10D5C7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Gaps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C02A5F-F4E4-1E1B-A6CB-E8ADC6310702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9222659" cy="17729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Facial features are mixed but are encoded as </a:t>
            </a:r>
            <a:br>
              <a:rPr lang="en-US" dirty="0"/>
            </a:br>
            <a:r>
              <a:rPr lang="en-US" dirty="0"/>
              <a:t>one block.</a:t>
            </a:r>
          </a:p>
          <a:p>
            <a:r>
              <a:rPr lang="en-US" dirty="0"/>
              <a:t>Studies mostly use accuracy for evaluation and </a:t>
            </a:r>
            <a:br>
              <a:rPr lang="en-US" dirty="0"/>
            </a:br>
            <a:r>
              <a:rPr lang="en-US" dirty="0"/>
              <a:t>cross dataset </a:t>
            </a:r>
            <a:r>
              <a:rPr lang="en-US" dirty="0" err="1"/>
              <a:t>generalisation</a:t>
            </a:r>
            <a:r>
              <a:rPr lang="en-US" dirty="0"/>
              <a:t> is limited.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DC22E-A442-8A0E-F168-3F9FE7B9E5A8}"/>
              </a:ext>
            </a:extLst>
          </p:cNvPr>
          <p:cNvSpPr txBox="1">
            <a:spLocks/>
          </p:cNvSpPr>
          <p:nvPr/>
        </p:nvSpPr>
        <p:spPr>
          <a:xfrm>
            <a:off x="234951" y="3345180"/>
            <a:ext cx="4010578" cy="6576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Contributions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73DE1E-3C58-50E1-935B-B1471F170FF9}"/>
              </a:ext>
            </a:extLst>
          </p:cNvPr>
          <p:cNvSpPr txBox="1">
            <a:spLocks/>
          </p:cNvSpPr>
          <p:nvPr/>
        </p:nvSpPr>
        <p:spPr>
          <a:xfrm>
            <a:off x="180421" y="3877758"/>
            <a:ext cx="8814990" cy="17729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New hybrid architecture.</a:t>
            </a:r>
          </a:p>
          <a:p>
            <a:r>
              <a:rPr lang="en-US" dirty="0"/>
              <a:t>New private dataset manually labeled from a SOICT online class.</a:t>
            </a:r>
          </a:p>
          <a:p>
            <a:r>
              <a:rPr lang="en-US" dirty="0"/>
              <a:t>Generalization study using QWK instead of accuracy.</a:t>
            </a:r>
          </a:p>
        </p:txBody>
      </p:sp>
    </p:spTree>
    <p:extLst>
      <p:ext uri="{BB962C8B-B14F-4D97-AF65-F5344CB8AC3E}">
        <p14:creationId xmlns:p14="http://schemas.microsoft.com/office/powerpoint/2010/main" val="2044686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7565D-FD95-6C57-8773-639E78DFE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47D98-73AB-CB90-B70A-174C3B7A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53A29A-487A-353A-A392-B1A58985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2. Literature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AC2EFA-0212-2B26-ACD0-928842B44D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Features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3AED44-E5A4-4358-9D2A-0D672F876CAD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5595539" cy="414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OpenFace</a:t>
            </a:r>
            <a:r>
              <a:rPr lang="en-US" dirty="0"/>
              <a:t> features:</a:t>
            </a:r>
          </a:p>
          <a:p>
            <a:pPr lvl="1"/>
            <a:r>
              <a:rPr lang="en-US" dirty="0"/>
              <a:t>709 facial features per frame.</a:t>
            </a:r>
          </a:p>
          <a:p>
            <a:r>
              <a:rPr lang="en-US" dirty="0"/>
              <a:t>I3D features:</a:t>
            </a:r>
          </a:p>
          <a:p>
            <a:pPr lvl="1"/>
            <a:r>
              <a:rPr lang="en-US" dirty="0"/>
              <a:t>1024 features per clip</a:t>
            </a:r>
          </a:p>
          <a:p>
            <a:pPr lvl="1"/>
            <a:r>
              <a:rPr lang="en-US" dirty="0"/>
              <a:t>Trained on Kinetics-400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E43C4-C1E0-8104-CABC-A0BB02ADCC8E}"/>
              </a:ext>
            </a:extLst>
          </p:cNvPr>
          <p:cNvSpPr txBox="1">
            <a:spLocks/>
          </p:cNvSpPr>
          <p:nvPr/>
        </p:nvSpPr>
        <p:spPr>
          <a:xfrm>
            <a:off x="247772" y="4056372"/>
            <a:ext cx="4010578" cy="6576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Encoder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453715-B1DE-DAA2-F08E-B1E7D6EEBA3B}"/>
              </a:ext>
            </a:extLst>
          </p:cNvPr>
          <p:cNvSpPr txBox="1">
            <a:spLocks/>
          </p:cNvSpPr>
          <p:nvPr/>
        </p:nvSpPr>
        <p:spPr>
          <a:xfrm>
            <a:off x="247772" y="4590570"/>
            <a:ext cx="7867528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TCN (Temporal Convolutional Network)</a:t>
            </a:r>
          </a:p>
          <a:p>
            <a:r>
              <a:rPr lang="en-US" dirty="0"/>
              <a:t>LSTM (Long Short-Term Memory)</a:t>
            </a:r>
          </a:p>
          <a:p>
            <a:r>
              <a:rPr lang="en-US" dirty="0"/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2727243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B763-A4F9-58F7-D2DE-12E4CBC8E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37D5237-5159-8B45-A132-A830D20A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182" y="883363"/>
            <a:ext cx="5364480" cy="381993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663803-1434-B2E0-9616-4949C7D5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05F807-4D8D-7EEA-9384-FCF7CFB0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3. Methodology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8F9E73-C07C-AE21-3C5D-CF16BBCE66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271640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Public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7053A-3534-D78C-7E6A-6DACCFCF197C}"/>
              </a:ext>
            </a:extLst>
          </p:cNvPr>
          <p:cNvSpPr txBox="1">
            <a:spLocks/>
          </p:cNvSpPr>
          <p:nvPr/>
        </p:nvSpPr>
        <p:spPr>
          <a:xfrm>
            <a:off x="247772" y="4173225"/>
            <a:ext cx="2868808" cy="6576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Private </a:t>
            </a:r>
            <a:r>
              <a:rPr lang="en-US" b="1" dirty="0" err="1"/>
              <a:t>Datset</a:t>
            </a: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0040A6-4DAF-6740-4FD1-F084F943690B}"/>
              </a:ext>
            </a:extLst>
          </p:cNvPr>
          <p:cNvSpPr txBox="1">
            <a:spLocks/>
          </p:cNvSpPr>
          <p:nvPr/>
        </p:nvSpPr>
        <p:spPr>
          <a:xfrm>
            <a:off x="247772" y="4624380"/>
            <a:ext cx="4590928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366  10-second-long clips</a:t>
            </a:r>
          </a:p>
          <a:p>
            <a:r>
              <a:rPr lang="en-US" dirty="0"/>
              <a:t>Single annotator</a:t>
            </a:r>
          </a:p>
          <a:p>
            <a:r>
              <a:rPr lang="en-US" dirty="0"/>
              <a:t>Test only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436A755-CF66-A754-25F2-FDA965ECF256}"/>
              </a:ext>
            </a:extLst>
          </p:cNvPr>
          <p:cNvSpPr txBox="1">
            <a:spLocks/>
          </p:cNvSpPr>
          <p:nvPr/>
        </p:nvSpPr>
        <p:spPr>
          <a:xfrm>
            <a:off x="247772" y="1560345"/>
            <a:ext cx="4590928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CMOSE</a:t>
            </a:r>
          </a:p>
          <a:p>
            <a:r>
              <a:rPr lang="en-US" dirty="0"/>
              <a:t>DAiSEE</a:t>
            </a:r>
          </a:p>
          <a:p>
            <a:r>
              <a:rPr lang="en-US" dirty="0"/>
              <a:t>Combined</a:t>
            </a:r>
          </a:p>
        </p:txBody>
      </p:sp>
    </p:spTree>
    <p:extLst>
      <p:ext uri="{BB962C8B-B14F-4D97-AF65-F5344CB8AC3E}">
        <p14:creationId xmlns:p14="http://schemas.microsoft.com/office/powerpoint/2010/main" val="119568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8E170-B809-5D4C-8441-B5D2E193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ACDB49-8208-A20B-2152-3EF724C8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12EDC0-7A65-0A8E-551E-18368DEDF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3. Methodology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11AC8E-96CC-E4E2-A27A-88652D5EBC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392036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Baseline Architectures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E27154-3E6F-BFAA-9D0D-37FA2390C1B9}"/>
              </a:ext>
            </a:extLst>
          </p:cNvPr>
          <p:cNvSpPr txBox="1">
            <a:spLocks/>
          </p:cNvSpPr>
          <p:nvPr/>
        </p:nvSpPr>
        <p:spPr>
          <a:xfrm>
            <a:off x="247772" y="1560345"/>
            <a:ext cx="3752728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 single-encoder baselines:</a:t>
            </a:r>
          </a:p>
          <a:p>
            <a:pPr lvl="1"/>
            <a:r>
              <a:rPr lang="en-US" dirty="0"/>
              <a:t>4 over </a:t>
            </a:r>
            <a:r>
              <a:rPr lang="en-US" dirty="0" err="1"/>
              <a:t>OpenFace</a:t>
            </a:r>
            <a:r>
              <a:rPr lang="en-US" dirty="0"/>
              <a:t> (MLP, TCN, LSTM, Transformer)</a:t>
            </a:r>
          </a:p>
          <a:p>
            <a:pPr lvl="1"/>
            <a:r>
              <a:rPr lang="en-US" dirty="0"/>
              <a:t>1 over I3D (MLP)</a:t>
            </a:r>
          </a:p>
          <a:p>
            <a:r>
              <a:rPr lang="en-US" dirty="0"/>
              <a:t>Used for </a:t>
            </a:r>
          </a:p>
          <a:p>
            <a:pPr lvl="1"/>
            <a:r>
              <a:rPr lang="en-US" dirty="0"/>
              <a:t>Choosing evaluation method</a:t>
            </a:r>
          </a:p>
          <a:p>
            <a:pPr lvl="1"/>
            <a:r>
              <a:rPr lang="en-US" dirty="0"/>
              <a:t>Set baseline for proposed model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D85B00-D8DA-6FB0-02BB-8DB50E2D7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97" y="1428359"/>
            <a:ext cx="3920368" cy="4928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A427E4-6DF6-6D6C-39D3-66DDC417B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140" y="2037058"/>
            <a:ext cx="3078548" cy="11859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13C21F-68BE-3D1E-4E13-63A4A08EA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97" y="3448421"/>
            <a:ext cx="5007203" cy="4594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8DB7A5-47CA-B072-5168-4E204A80F6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97" y="4050401"/>
            <a:ext cx="3474250" cy="14656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B9E9F9-740D-5844-3019-722600200C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140" y="5741515"/>
            <a:ext cx="3862725" cy="36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537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6781-69C5-D6A0-FD55-9E2B1BC5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D78EC6-643B-3492-6FF7-34810CC31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8985"/>
            <a:ext cx="6867383" cy="407430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60419-ED73-1515-F028-F80B4719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E64A625-597B-7A0C-2A6E-CD31C45A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3. Methodology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44EC75-1339-E1A4-2955-30932816A9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392036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Hybrid Architecture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523DD1-7423-3221-0A31-A8D811BA1180}"/>
              </a:ext>
            </a:extLst>
          </p:cNvPr>
          <p:cNvSpPr txBox="1">
            <a:spLocks/>
          </p:cNvSpPr>
          <p:nvPr/>
        </p:nvSpPr>
        <p:spPr>
          <a:xfrm>
            <a:off x="3479800" y="3160955"/>
            <a:ext cx="6540500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Openface</a:t>
            </a:r>
            <a:r>
              <a:rPr lang="en-US" dirty="0"/>
              <a:t> features are split into </a:t>
            </a:r>
            <a:br>
              <a:rPr lang="en-US" dirty="0"/>
            </a:br>
            <a:r>
              <a:rPr lang="en-US" dirty="0"/>
              <a:t>5 groups</a:t>
            </a:r>
          </a:p>
          <a:p>
            <a:r>
              <a:rPr lang="en-US" dirty="0"/>
              <a:t>Each group have its own encoder (TCN/LSTM/Transformer)</a:t>
            </a:r>
          </a:p>
          <a:p>
            <a:r>
              <a:rPr lang="en-US" dirty="0"/>
              <a:t>I3D motion stream is optional</a:t>
            </a:r>
          </a:p>
          <a:p>
            <a:r>
              <a:rPr lang="en-US" dirty="0"/>
              <a:t>Each stream have auxiliary head</a:t>
            </a:r>
          </a:p>
          <a:p>
            <a:r>
              <a:rPr lang="en-US" dirty="0"/>
              <a:t>Total of 486 configurations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0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82E00-ED7A-4BF3-FE27-77769058D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5DABB7-7E10-E381-B09C-FBA3A284E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5DD0F12-EDDF-E2FA-A253-7413F4D40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94328F-E6A3-796C-910C-9D1AEDF7BD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63181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Baseline Models - CMOSE in-domain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C29ED03-548D-A6F6-49A7-E9E9A95D232C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3489879" cy="414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 groups of metrics </a:t>
            </a:r>
          </a:p>
          <a:p>
            <a:pPr lvl="1"/>
            <a:r>
              <a:rPr lang="en-US" dirty="0"/>
              <a:t>Accuracy, MAE, Cohen’s Kappa</a:t>
            </a:r>
          </a:p>
          <a:p>
            <a:pPr lvl="1"/>
            <a:r>
              <a:rPr lang="en-US" dirty="0"/>
              <a:t>Macro Accuracy, Macro MAE.</a:t>
            </a:r>
          </a:p>
          <a:p>
            <a:r>
              <a:rPr lang="en-US" dirty="0"/>
              <a:t>QWK bridges the two groups.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C638D3-121A-1F29-F4CA-B2A5E8FA3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300" y="1695748"/>
            <a:ext cx="5386244" cy="4124412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82A77F32-5955-1498-587D-77BF021B4AED}"/>
              </a:ext>
            </a:extLst>
          </p:cNvPr>
          <p:cNvSpPr/>
          <p:nvPr/>
        </p:nvSpPr>
        <p:spPr>
          <a:xfrm rot="20443958">
            <a:off x="3272932" y="5035165"/>
            <a:ext cx="999545" cy="1843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37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5A69-8F96-F1B1-C841-043DC78D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3B08932-DF65-2CEC-14C2-4A13E6380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1695748"/>
            <a:ext cx="5229779" cy="415691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DE80AB-8515-7000-DD18-CBF066A9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C62870-B5F7-FA03-BCFE-0139610BB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FB2FAE-1399-2B80-4270-5DFF42935E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83247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Baseline Models – Cross dataset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17F9B3-EE53-3E35-3F12-C549A435D032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3642279" cy="414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Accuracy stay high off-diagonal.</a:t>
            </a:r>
          </a:p>
          <a:p>
            <a:r>
              <a:rPr lang="en-US" dirty="0"/>
              <a:t>QWK collapse to near zero shows </a:t>
            </a:r>
            <a:br>
              <a:rPr lang="en-US" dirty="0"/>
            </a:br>
            <a:r>
              <a:rPr lang="en-US" dirty="0"/>
              <a:t>low transferability.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QWK is chosen </a:t>
            </a:r>
            <a:br>
              <a:rPr lang="en-US" dirty="0"/>
            </a:br>
            <a:r>
              <a:rPr lang="en-US" dirty="0"/>
              <a:t>as primary metric.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62C1E23-A151-947C-7A53-F688185B6D7D}"/>
              </a:ext>
            </a:extLst>
          </p:cNvPr>
          <p:cNvSpPr/>
          <p:nvPr/>
        </p:nvSpPr>
        <p:spPr>
          <a:xfrm rot="4005862">
            <a:off x="4107708" y="1766759"/>
            <a:ext cx="604856" cy="2096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198096E-078E-C89A-C414-3EA597BFA0D5}"/>
              </a:ext>
            </a:extLst>
          </p:cNvPr>
          <p:cNvSpPr/>
          <p:nvPr/>
        </p:nvSpPr>
        <p:spPr>
          <a:xfrm rot="4005862">
            <a:off x="5437693" y="2847772"/>
            <a:ext cx="604856" cy="2096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03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0017-47EB-C0E8-EAE3-D8484F7B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093735-4F08-A978-4B8E-022C597C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0355EF-95CC-0D67-CCBE-2634C583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B7B245-955A-154C-0184-8803E512BE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91883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Proposed Hybrid Models Ablation – CMOSE in-domain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6D2412-72B8-FDA9-5D46-D3613108C9F6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8188879" cy="414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Feature groups don’t show clear preference.</a:t>
            </a:r>
          </a:p>
          <a:p>
            <a:r>
              <a:rPr lang="en-US" dirty="0"/>
              <a:t>Head pose lightly prefers TCN.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2E97FF-B2FA-DB44-D927-5386A2159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00" y="2737796"/>
            <a:ext cx="7004072" cy="338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1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A4DB3-2ED7-9D0B-6B3B-3FF7FDA7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78FBF3-8B75-95DD-E4D4-E62F7A20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C029AF-8357-892B-3A1D-D9508BD48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931449-0A41-F489-A1BA-4EA99C522B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91883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Proposed Hybrid Models Ablation – CMOSE in-domain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6783A5-ADDB-57DE-194F-0F6F381E2955}"/>
              </a:ext>
            </a:extLst>
          </p:cNvPr>
          <p:cNvSpPr txBox="1">
            <a:spLocks/>
          </p:cNvSpPr>
          <p:nvPr/>
        </p:nvSpPr>
        <p:spPr>
          <a:xfrm>
            <a:off x="180421" y="1572274"/>
            <a:ext cx="7985679" cy="4508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I3D motion stream highly improve performance.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57FC7-27C3-D702-4EC0-7E92D5C6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" y="2077102"/>
            <a:ext cx="6701199" cy="411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4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F384-3581-723F-1D9E-EB3E393B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168874B-33B5-48AA-0862-F89F0DE81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2" y="1695748"/>
            <a:ext cx="5229777" cy="415691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C16FFE-4AB9-06BD-D3B6-4A411BADF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A1BB3A-C69A-ADC8-02F6-E3F77052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2ED814-03EF-EF27-76AA-8E482B89A0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83247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Proposed Hybrid Models Ablation – Cross dataset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1C2CEE-FB82-A7D9-87B0-C854B51A3728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3642279" cy="414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Proposed model outperform baseline model.</a:t>
            </a:r>
          </a:p>
          <a:p>
            <a:pPr lvl="1"/>
            <a:r>
              <a:rPr lang="en-US" dirty="0"/>
              <a:t>QWK = 0.605 </a:t>
            </a:r>
            <a:br>
              <a:rPr lang="en-US" dirty="0"/>
            </a:br>
            <a:r>
              <a:rPr lang="en-US" dirty="0"/>
              <a:t>(+ 0.068, in-domain)</a:t>
            </a:r>
          </a:p>
          <a:p>
            <a:pPr lvl="1"/>
            <a:r>
              <a:rPr lang="en-US" dirty="0"/>
              <a:t>QWK = 0.379 </a:t>
            </a:r>
            <a:br>
              <a:rPr lang="en-US" dirty="0"/>
            </a:br>
            <a:r>
              <a:rPr lang="en-US" dirty="0"/>
              <a:t>(+ 0.094, private set)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4E7C517-D43A-A3DA-6A19-56C25151061B}"/>
              </a:ext>
            </a:extLst>
          </p:cNvPr>
          <p:cNvSpPr/>
          <p:nvPr/>
        </p:nvSpPr>
        <p:spPr>
          <a:xfrm rot="4005862">
            <a:off x="4107708" y="1766759"/>
            <a:ext cx="604856" cy="2096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BBC6E02-7F77-0F5C-23E2-DC0C4AF34EF7}"/>
              </a:ext>
            </a:extLst>
          </p:cNvPr>
          <p:cNvSpPr/>
          <p:nvPr/>
        </p:nvSpPr>
        <p:spPr>
          <a:xfrm rot="4005862">
            <a:off x="5437693" y="2847772"/>
            <a:ext cx="604856" cy="2096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97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30C4A-9E4D-E8C7-0270-4E15B532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073B2E-7E72-1893-7F90-AA572361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72E5D6-4B27-F48E-0A24-EC2D40DD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4. Experimental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4638E4-8ED0-2CEF-BD02-B9C3240E87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832472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Private Dataset Comparison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5F96A1-6509-A8CF-DB49-D6E6B06570A4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8963579" cy="4142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Proposed model have higher per-class F1 score.</a:t>
            </a:r>
          </a:p>
          <a:p>
            <a:r>
              <a:rPr lang="en-US" dirty="0"/>
              <a:t>F1 score of HD class collapsed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21B12B-FDE9-161A-76C8-0952F3145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24" y="2508743"/>
            <a:ext cx="5828152" cy="374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75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77DB-EAC7-184F-2A05-3372E807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81FC6F-5ABA-41B0-4D84-D248F0F5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E13A60D-A411-8FB6-3EF4-039452EE1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5. Conclusions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A37248-CBC8-9774-1445-64614FE4C5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Conclusions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629EFE-AD37-19FC-C956-74B24B7AD68C}"/>
              </a:ext>
            </a:extLst>
          </p:cNvPr>
          <p:cNvSpPr txBox="1">
            <a:spLocks/>
          </p:cNvSpPr>
          <p:nvPr/>
        </p:nvSpPr>
        <p:spPr>
          <a:xfrm>
            <a:off x="180421" y="1572273"/>
            <a:ext cx="9222659" cy="17729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Architecture:</a:t>
            </a:r>
          </a:p>
          <a:p>
            <a:pPr lvl="1"/>
            <a:r>
              <a:rPr lang="en-US" dirty="0"/>
              <a:t>New hybrid architecture </a:t>
            </a:r>
          </a:p>
          <a:p>
            <a:pPr lvl="1"/>
            <a:r>
              <a:rPr lang="en-US" dirty="0"/>
              <a:t>+0.068 QWK in-domain</a:t>
            </a:r>
          </a:p>
          <a:p>
            <a:pPr lvl="1"/>
            <a:r>
              <a:rPr lang="en-US" dirty="0"/>
              <a:t>+ 0.094 QWK on private set</a:t>
            </a:r>
          </a:p>
          <a:p>
            <a:pPr lvl="0"/>
            <a:r>
              <a:rPr lang="en-US" dirty="0"/>
              <a:t>Private dataset:</a:t>
            </a:r>
          </a:p>
          <a:p>
            <a:pPr lvl="1"/>
            <a:r>
              <a:rPr lang="en-US" dirty="0"/>
              <a:t>366 clips.</a:t>
            </a:r>
          </a:p>
          <a:p>
            <a:pPr lvl="1"/>
            <a:r>
              <a:rPr lang="en-US" dirty="0"/>
              <a:t>Manually labeled.</a:t>
            </a:r>
          </a:p>
          <a:p>
            <a:pPr lvl="0"/>
            <a:r>
              <a:rPr lang="en-US" dirty="0"/>
              <a:t>Generalization:</a:t>
            </a:r>
          </a:p>
          <a:p>
            <a:pPr lvl="1"/>
            <a:r>
              <a:rPr lang="en-US" dirty="0"/>
              <a:t>Low QWK exposes low transferability</a:t>
            </a:r>
          </a:p>
        </p:txBody>
      </p:sp>
    </p:spTree>
    <p:extLst>
      <p:ext uri="{BB962C8B-B14F-4D97-AF65-F5344CB8AC3E}">
        <p14:creationId xmlns:p14="http://schemas.microsoft.com/office/powerpoint/2010/main" val="1780436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B82C-CA49-624F-733A-F051F1EFD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BAF1AD-A237-0871-93CE-188C33AC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C947F3-5734-D49F-7937-1F3B1EF3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50" y="79375"/>
            <a:ext cx="8674100" cy="450850"/>
          </a:xfrm>
        </p:spPr>
        <p:txBody>
          <a:bodyPr/>
          <a:lstStyle/>
          <a:p>
            <a:r>
              <a:rPr lang="en-US" dirty="0"/>
              <a:t>2. Literature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F85CD6-B78C-66AE-B490-C4855E6444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772" y="1038075"/>
            <a:ext cx="4010578" cy="6576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Limitations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ABE3E5-CC15-A3B2-8E97-2B216116EEC6}"/>
              </a:ext>
            </a:extLst>
          </p:cNvPr>
          <p:cNvSpPr txBox="1">
            <a:spLocks/>
          </p:cNvSpPr>
          <p:nvPr/>
        </p:nvSpPr>
        <p:spPr>
          <a:xfrm>
            <a:off x="180421" y="1572274"/>
            <a:ext cx="7236379" cy="18527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Private dataset</a:t>
            </a:r>
          </a:p>
          <a:p>
            <a:pPr lvl="1"/>
            <a:r>
              <a:rPr lang="en-US" dirty="0"/>
              <a:t>Too small to train on</a:t>
            </a:r>
          </a:p>
          <a:p>
            <a:pPr lvl="1"/>
            <a:r>
              <a:rPr lang="en-US" dirty="0"/>
              <a:t>Single annotator</a:t>
            </a:r>
          </a:p>
          <a:p>
            <a:r>
              <a:rPr lang="en-US" dirty="0"/>
              <a:t>Inability to discriminate class HD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45698-F1A4-AD70-7984-6284368ACAC4}"/>
              </a:ext>
            </a:extLst>
          </p:cNvPr>
          <p:cNvSpPr txBox="1">
            <a:spLocks/>
          </p:cNvSpPr>
          <p:nvPr/>
        </p:nvSpPr>
        <p:spPr>
          <a:xfrm>
            <a:off x="180421" y="3425048"/>
            <a:ext cx="4010578" cy="6576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Future Work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5B3F7-762C-EF5B-F4AD-45DDD95A974B}"/>
              </a:ext>
            </a:extLst>
          </p:cNvPr>
          <p:cNvSpPr txBox="1">
            <a:spLocks/>
          </p:cNvSpPr>
          <p:nvPr/>
        </p:nvSpPr>
        <p:spPr>
          <a:xfrm>
            <a:off x="180421" y="3959246"/>
            <a:ext cx="7867528" cy="2248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Private dataset</a:t>
            </a:r>
          </a:p>
          <a:p>
            <a:pPr lvl="1"/>
            <a:r>
              <a:rPr lang="en-US" dirty="0"/>
              <a:t>Larger dataset</a:t>
            </a:r>
          </a:p>
          <a:p>
            <a:pPr lvl="1"/>
            <a:r>
              <a:rPr lang="en-US" dirty="0"/>
              <a:t>More structured labeling system</a:t>
            </a:r>
          </a:p>
          <a:p>
            <a:r>
              <a:rPr lang="en-US" dirty="0"/>
              <a:t>Target HD class</a:t>
            </a:r>
          </a:p>
          <a:p>
            <a:r>
              <a:rPr lang="en-US" dirty="0"/>
              <a:t>Learned group encoders</a:t>
            </a:r>
          </a:p>
        </p:txBody>
      </p:sp>
    </p:spTree>
    <p:extLst>
      <p:ext uri="{BB962C8B-B14F-4D97-AF65-F5344CB8AC3E}">
        <p14:creationId xmlns:p14="http://schemas.microsoft.com/office/powerpoint/2010/main" val="1172435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9835-E923-64E8-5073-2A183806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E83E4-06C9-DF48-A531-B5A38732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EBAFAD-4B92-64F7-F71A-D2979C9EC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58AD40-20D1-2717-AB77-6628C3889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74" y="1224884"/>
            <a:ext cx="8853626" cy="508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59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2BE057-9ED3-BE01-FAA3-C9223193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49240A-28F8-2343-ACC6-085FF57A1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636" y="1272569"/>
            <a:ext cx="5918727" cy="468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545A3-169F-3D75-B976-EC022955F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75116-4339-31E7-670D-1BCF8F30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9220C9-E976-764C-2109-019F788F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F2FEDD-6980-0EEA-302A-9C6F96B85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3" y="1214788"/>
            <a:ext cx="9077013" cy="47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38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D459B-C53F-EC4A-872D-20171924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C0F6F-9B1A-93B2-0474-BF712C2B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346C15-3F46-F5CE-A966-26D27591E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2543"/>
            <a:ext cx="2645764" cy="436098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DAFE7E-0904-71B4-56DE-BF6FE7D3D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575" y="1155157"/>
            <a:ext cx="5795746" cy="501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77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3CAD26-AD2C-4FFF-9DF5-EC2C983C2D6F}">
  <ds:schemaRefs>
    <ds:schemaRef ds:uri="http://schemas.openxmlformats.org/package/2006/metadata/core-properties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c72df4cc-d2de-4b7e-8388-06b9b73bb217"/>
    <ds:schemaRef ds:uri="c070d92c-e005-4177-a1a8-b2208be38bb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45DE4D0-16BA-461B-9401-3A89C2173B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646CC4-8286-4FA4-AD82-BCB6211243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826ba-dfa3-48aa-98b2-1e988427fee5"/>
    <ds:schemaRef ds:uri="e4770848-7955-4ec6-9f06-ace3904740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</TotalTime>
  <Words>553</Words>
  <Application>Microsoft Office PowerPoint</Application>
  <PresentationFormat>On-screen Show (4:3)</PresentationFormat>
  <Paragraphs>163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Lato</vt:lpstr>
      <vt:lpstr>Symbol</vt:lpstr>
      <vt:lpstr>Office Theme</vt:lpstr>
      <vt:lpstr>PowerPoint Presentation</vt:lpstr>
      <vt:lpstr>PowerPoint Presentation</vt:lpstr>
      <vt:lpstr>Content</vt:lpstr>
      <vt:lpstr>1. Introduction</vt:lpstr>
      <vt:lpstr>1. Introduction</vt:lpstr>
      <vt:lpstr>1. Introduction</vt:lpstr>
      <vt:lpstr>2. Literature Review</vt:lpstr>
      <vt:lpstr>3. Methodology</vt:lpstr>
      <vt:lpstr>3. Methodology</vt:lpstr>
      <vt:lpstr>3. Methodology</vt:lpstr>
      <vt:lpstr>4. Experimental Results</vt:lpstr>
      <vt:lpstr>4. Experimental Results</vt:lpstr>
      <vt:lpstr>4. Experimental Results</vt:lpstr>
      <vt:lpstr>4. Experimental Results</vt:lpstr>
      <vt:lpstr>4. Experimental Results</vt:lpstr>
      <vt:lpstr>4. Experimental Results</vt:lpstr>
      <vt:lpstr>5. Conclusions</vt:lpstr>
      <vt:lpstr>2. Literature Review</vt:lpstr>
      <vt:lpstr>PowerPoint Presentation</vt:lpstr>
      <vt:lpstr>Backup Slides</vt:lpstr>
      <vt:lpstr>Backup Slides</vt:lpstr>
      <vt:lpstr>Backup Slides</vt:lpstr>
      <vt:lpstr>Backup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Hòa Phan Minh</cp:lastModifiedBy>
  <cp:revision>20</cp:revision>
  <dcterms:created xsi:type="dcterms:W3CDTF">2021-05-28T04:32:29Z</dcterms:created>
  <dcterms:modified xsi:type="dcterms:W3CDTF">2026-07-11T02:19:04Z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  <property fmtid="{D5CDD505-2E9C-101B-9397-08002B2CF9AE}" pid="3" name="MediaServiceImageTags">
    <vt:lpwstr/>
  </property>
</Properties>
</file>