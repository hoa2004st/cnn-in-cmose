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handoutMasterIdLst>
    <p:handoutMasterId r:id="rId26"/>
  </p:handoutMasterIdLst>
  <p:sldIdLst>
    <p:sldId id="257" r:id="rId5"/>
    <p:sldId id="263" r:id="rId6"/>
    <p:sldId id="268" r:id="rId7"/>
    <p:sldId id="275" r:id="rId8"/>
    <p:sldId id="260" r:id="rId9"/>
    <p:sldId id="276" r:id="rId10"/>
    <p:sldId id="281" r:id="rId11"/>
    <p:sldId id="282" r:id="rId12"/>
    <p:sldId id="283" r:id="rId13"/>
    <p:sldId id="284" r:id="rId14"/>
    <p:sldId id="285" r:id="rId15"/>
    <p:sldId id="286" r:id="rId16"/>
    <p:sldId id="287" r:id="rId17"/>
    <p:sldId id="288" r:id="rId18"/>
    <p:sldId id="289" r:id="rId19"/>
    <p:sldId id="262" r:id="rId20"/>
    <p:sldId id="259" r:id="rId21"/>
    <p:sldId id="256" r:id="rId22"/>
    <p:sldId id="264" r:id="rId23"/>
    <p:sldId id="29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B2"/>
    <a:srgbClr val="D55E00"/>
    <a:srgbClr val="009E73"/>
    <a:srgbClr val="ED7D31"/>
    <a:srgbClr val="CC79A7"/>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8" autoAdjust="0"/>
    <p:restoredTop sz="74472" autoAdjust="0"/>
  </p:normalViewPr>
  <p:slideViewPr>
    <p:cSldViewPr snapToGrid="0">
      <p:cViewPr varScale="1">
        <p:scale>
          <a:sx n="87" d="100"/>
          <a:sy n="87" d="100"/>
        </p:scale>
        <p:origin x="90" y="77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6/25/2026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Good morning, everyone. I’m Phan Minh Hòa. Today, I will present to you my thesis on “Student’s engagement detection in online classes”. Without wasting your time, let’s go right into the main content.</a:t>
            </a:r>
          </a:p>
        </p:txBody>
      </p:sp>
      <p:sp>
        <p:nvSpPr>
          <p:cNvPr id="4" name="Slide Number Placeholder 3"/>
          <p:cNvSpPr>
            <a:spLocks noGrp="1"/>
          </p:cNvSpPr>
          <p:nvPr>
            <p:ph type="sldNum" sz="quarter" idx="5"/>
          </p:nvPr>
        </p:nvSpPr>
        <p:spPr/>
        <p:txBody>
          <a:bodyPr/>
          <a:lstStyle/>
          <a:p>
            <a:fld id="{AB2FC7A4-3D1B-482D-8C9D-7642A2CE3076}" type="slidenum">
              <a:rPr lang="en-US" smtClean="0"/>
              <a:t>1</a:t>
            </a:fld>
            <a:endParaRPr lang="en-US"/>
          </a:p>
        </p:txBody>
      </p:sp>
    </p:spTree>
    <p:extLst>
      <p:ext uri="{BB962C8B-B14F-4D97-AF65-F5344CB8AC3E}">
        <p14:creationId xmlns:p14="http://schemas.microsoft.com/office/powerpoint/2010/main" val="90530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a:solidFill>
                  <a:schemeClr val="tx1"/>
                </a:solidFill>
                <a:effectLst/>
                <a:latin typeface="+mn-lt"/>
                <a:ea typeface="+mn-ea"/>
                <a:cs typeface="+mn-cs"/>
              </a:rPr>
              <a:t>Here's the outline of my presentation.</a:t>
            </a:r>
          </a:p>
          <a:p>
            <a:endParaRPr lang="en-GB"/>
          </a:p>
        </p:txBody>
      </p:sp>
      <p:sp>
        <p:nvSpPr>
          <p:cNvPr id="4" name="Slide Number Placeholder 3"/>
          <p:cNvSpPr>
            <a:spLocks noGrp="1"/>
          </p:cNvSpPr>
          <p:nvPr>
            <p:ph type="sldNum" sz="quarter" idx="5"/>
          </p:nvPr>
        </p:nvSpPr>
        <p:spPr/>
        <p:txBody>
          <a:bodyPr/>
          <a:lstStyle/>
          <a:p>
            <a:fld id="{AB2FC7A4-3D1B-482D-8C9D-7642A2CE3076}" type="slidenum">
              <a:rPr lang="en-US" smtClean="0"/>
              <a:t>2</a:t>
            </a:fld>
            <a:endParaRPr lang="en-US"/>
          </a:p>
        </p:txBody>
      </p:sp>
    </p:spTree>
    <p:extLst>
      <p:ext uri="{BB962C8B-B14F-4D97-AF65-F5344CB8AC3E}">
        <p14:creationId xmlns:p14="http://schemas.microsoft.com/office/powerpoint/2010/main" val="1918043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In online classes, the webcam became the teacher's only window onto the learner. When teaching and focusing on their own screen sharing, teachers realistically cannot read the room and decide they should change the pace or repeat the points they just made. To assist online teachers our thesis focus on one automation task: classify ten-second clips into four ordered engagement levels, from Highly-Disengaged to Highly-Engaged.</a:t>
            </a:r>
          </a:p>
          <a:p>
            <a:endParaRPr lang="en-GB" dirty="0"/>
          </a:p>
        </p:txBody>
      </p:sp>
      <p:sp>
        <p:nvSpPr>
          <p:cNvPr id="4" name="Slide Number Placeholder 3"/>
          <p:cNvSpPr>
            <a:spLocks noGrp="1"/>
          </p:cNvSpPr>
          <p:nvPr>
            <p:ph type="sldNum" sz="quarter" idx="5"/>
          </p:nvPr>
        </p:nvSpPr>
        <p:spPr/>
        <p:txBody>
          <a:bodyPr/>
          <a:lstStyle/>
          <a:p>
            <a:fld id="{AB2FC7A4-3D1B-482D-8C9D-7642A2CE3076}" type="slidenum">
              <a:rPr lang="en-US" smtClean="0"/>
              <a:t>3</a:t>
            </a:fld>
            <a:endParaRPr lang="en-US"/>
          </a:p>
        </p:txBody>
      </p:sp>
    </p:spTree>
    <p:extLst>
      <p:ext uri="{BB962C8B-B14F-4D97-AF65-F5344CB8AC3E}">
        <p14:creationId xmlns:p14="http://schemas.microsoft.com/office/powerpoint/2010/main" val="1738744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This task innately have three key challenges. One: the ordinal scale forms a </a:t>
            </a:r>
            <a:r>
              <a:rPr lang="en-GB" sz="1200" b="0" i="1" kern="1200" dirty="0">
                <a:solidFill>
                  <a:schemeClr val="tx1"/>
                </a:solidFill>
                <a:effectLst/>
                <a:latin typeface="+mn-lt"/>
                <a:ea typeface="+mn-ea"/>
                <a:cs typeface="+mn-cs"/>
              </a:rPr>
              <a:t>stair</a:t>
            </a:r>
            <a:r>
              <a:rPr lang="en-GB" sz="1200" b="0" i="0" kern="1200" dirty="0">
                <a:solidFill>
                  <a:schemeClr val="tx1"/>
                </a:solidFill>
                <a:effectLst/>
                <a:latin typeface="+mn-lt"/>
                <a:ea typeface="+mn-ea"/>
                <a:cs typeface="+mn-cs"/>
              </a:rPr>
              <a:t> — mistaking a disengaged student for a highly-engaged one is a disaster, off-by-one is fine, but plain accuracy can't tell those apart. Two: the dataset is highly imbalance for example, CMOSE dataset have almost 70% of the clips </a:t>
            </a:r>
            <a:r>
              <a:rPr lang="en-GB" sz="1200" b="0" i="0" kern="1200" dirty="0" err="1">
                <a:solidFill>
                  <a:schemeClr val="tx1"/>
                </a:solidFill>
                <a:effectLst/>
                <a:latin typeface="+mn-lt"/>
                <a:ea typeface="+mn-ea"/>
                <a:cs typeface="+mn-cs"/>
              </a:rPr>
              <a:t>labeled</a:t>
            </a:r>
            <a:r>
              <a:rPr lang="en-GB" sz="1200" b="0" i="0" kern="1200" dirty="0">
                <a:solidFill>
                  <a:schemeClr val="tx1"/>
                </a:solidFill>
                <a:effectLst/>
                <a:latin typeface="+mn-lt"/>
                <a:ea typeface="+mn-ea"/>
                <a:cs typeface="+mn-cs"/>
              </a:rPr>
              <a:t> 'Engaged' while only under 3% </a:t>
            </a:r>
            <a:r>
              <a:rPr lang="en-GB" sz="1200" b="0" i="0" kern="1200" dirty="0" err="1">
                <a:solidFill>
                  <a:schemeClr val="tx1"/>
                </a:solidFill>
                <a:effectLst/>
                <a:latin typeface="+mn-lt"/>
                <a:ea typeface="+mn-ea"/>
                <a:cs typeface="+mn-cs"/>
              </a:rPr>
              <a:t>labeled</a:t>
            </a:r>
            <a:r>
              <a:rPr lang="en-GB" sz="1200" b="0" i="0" kern="1200" dirty="0">
                <a:solidFill>
                  <a:schemeClr val="tx1"/>
                </a:solidFill>
                <a:effectLst/>
                <a:latin typeface="+mn-lt"/>
                <a:ea typeface="+mn-ea"/>
                <a:cs typeface="+mn-cs"/>
              </a:rPr>
              <a:t> highly-disengaged. A model can have high accuracy by always guessing 'Engaged' and never doing its job. Three: every learner frames their webcam differently — a laptop looking up, a monitor camera at eye level, a phone off to the side — so the same expression reaches the model at a different angle and head pose. The </a:t>
            </a:r>
            <a:r>
              <a:rPr lang="en-GB" sz="1200" b="0" i="0" kern="1200" dirty="0" err="1">
                <a:solidFill>
                  <a:schemeClr val="tx1"/>
                </a:solidFill>
                <a:effectLst/>
                <a:latin typeface="+mn-lt"/>
                <a:ea typeface="+mn-ea"/>
                <a:cs typeface="+mn-cs"/>
              </a:rPr>
              <a:t>OpenFace</a:t>
            </a:r>
            <a:r>
              <a:rPr lang="en-GB" sz="1200" b="0" i="0" kern="1200" dirty="0">
                <a:solidFill>
                  <a:schemeClr val="tx1"/>
                </a:solidFill>
                <a:effectLst/>
                <a:latin typeface="+mn-lt"/>
                <a:ea typeface="+mn-ea"/>
                <a:cs typeface="+mn-cs"/>
              </a:rPr>
              <a:t> features are measured in that geometry, so the angle alone shifts them even when the engagement is identical. </a:t>
            </a:r>
            <a:r>
              <a:rPr lang="en-GB" sz="1200" b="0" i="0" kern="1200">
                <a:solidFill>
                  <a:schemeClr val="tx1"/>
                </a:solidFill>
                <a:effectLst/>
                <a:latin typeface="+mn-lt"/>
                <a:ea typeface="+mn-ea"/>
                <a:cs typeface="+mn-cs"/>
              </a:rPr>
              <a:t>Doing well on one dataset's camera setups tells us little about the angles the model will actually meet.</a:t>
            </a:r>
            <a:endParaRPr lang="en-GB"/>
          </a:p>
        </p:txBody>
      </p:sp>
      <p:sp>
        <p:nvSpPr>
          <p:cNvPr id="4" name="Slide Number Placeholder 3"/>
          <p:cNvSpPr>
            <a:spLocks noGrp="1"/>
          </p:cNvSpPr>
          <p:nvPr>
            <p:ph type="sldNum" sz="quarter" idx="5"/>
          </p:nvPr>
        </p:nvSpPr>
        <p:spPr/>
        <p:txBody>
          <a:bodyPr/>
          <a:lstStyle/>
          <a:p>
            <a:fld id="{AB2FC7A4-3D1B-482D-8C9D-7642A2CE3076}" type="slidenum">
              <a:rPr lang="en-US" smtClean="0"/>
              <a:t>4</a:t>
            </a:fld>
            <a:endParaRPr lang="en-US"/>
          </a:p>
        </p:txBody>
      </p:sp>
    </p:spTree>
    <p:extLst>
      <p:ext uri="{BB962C8B-B14F-4D97-AF65-F5344CB8AC3E}">
        <p14:creationId xmlns:p14="http://schemas.microsoft.com/office/powerpoint/2010/main" val="2770129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Looking across the engagement-detection literature, two habits keep coming back. First, the facial features are mixed — gaze, head pose, muscles, all with different dynamics — yet almost every prior study encodes them as one block, so the natural structure of the face is thrown away. Second, studies mostly judge models by plain accuracy — which, as we just saw, can be fooled by the majority class and so says little about real generalization — while cross-dataset generalization itself is rarely measured, so we don't actually know whether these models transfer; none of them looks at a Vietnamese academic setting either. These two habits are the gaps my work targets — and my three contributions answer them: an architecture that keeps the structure of the features, a private test set I collected and labelled myself in a local online class, and an honest cross-dataset test measured by ordinal agreement rather than accuracy.</a:t>
            </a:r>
          </a:p>
        </p:txBody>
      </p:sp>
      <p:sp>
        <p:nvSpPr>
          <p:cNvPr id="4" name="Slide Number Placeholder 3"/>
          <p:cNvSpPr>
            <a:spLocks noGrp="1"/>
          </p:cNvSpPr>
          <p:nvPr>
            <p:ph type="sldNum" sz="quarter" idx="5"/>
          </p:nvPr>
        </p:nvSpPr>
        <p:spPr/>
        <p:txBody>
          <a:bodyPr/>
          <a:lstStyle/>
          <a:p>
            <a:fld id="{AB2FC7A4-3D1B-482D-8C9D-7642A2CE3076}" type="slidenum">
              <a:rPr lang="en-US" smtClean="0"/>
              <a:t>5</a:t>
            </a:fld>
            <a:endParaRPr lang="en-US"/>
          </a:p>
        </p:txBody>
      </p:sp>
    </p:spTree>
    <p:extLst>
      <p:ext uri="{BB962C8B-B14F-4D97-AF65-F5344CB8AC3E}">
        <p14:creationId xmlns:p14="http://schemas.microsoft.com/office/powerpoint/2010/main" val="3405825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Work on this task almost always starts the same way — not from raw pixels, but from two off-the-shelf feature extractors. </a:t>
            </a:r>
            <a:r>
              <a:rPr lang="en-US" sz="1200" b="0" i="0" kern="1200" dirty="0" err="1">
                <a:solidFill>
                  <a:schemeClr val="tx1"/>
                </a:solidFill>
                <a:effectLst/>
                <a:latin typeface="+mn-lt"/>
                <a:ea typeface="+mn-ea"/>
                <a:cs typeface="+mn-cs"/>
              </a:rPr>
              <a:t>OpenFace</a:t>
            </a:r>
            <a:r>
              <a:rPr lang="en-US" sz="1200" b="0" i="0" kern="1200" dirty="0">
                <a:solidFill>
                  <a:schemeClr val="tx1"/>
                </a:solidFill>
                <a:effectLst/>
                <a:latin typeface="+mn-lt"/>
                <a:ea typeface="+mn-ea"/>
                <a:cs typeface="+mn-cs"/>
              </a:rPr>
              <a:t> is the standard for the face: 709 numbers per frame — gaze, landmarks, head pose, muscle activations. I3D is the standard for motion: one 1024-number vector per clip. These two are so established that CMOSE ships them pre-computed, and I'll later use the very same tools to extract features for DAiSEE and my private set.</a:t>
            </a:r>
          </a:p>
          <a:p>
            <a:r>
              <a:rPr lang="en-US" sz="1200" b="0" i="0" kern="1200" dirty="0">
                <a:solidFill>
                  <a:schemeClr val="tx1"/>
                </a:solidFill>
                <a:effectLst/>
                <a:latin typeface="+mn-lt"/>
                <a:ea typeface="+mn-ea"/>
                <a:cs typeface="+mn-cs"/>
              </a:rPr>
              <a:t>Then, to read the sequence over time, the literature converges on three temporal encoders — TCN, LSTM, and Transformer. These are also the common building blocks I build my proposed model on.</a:t>
            </a:r>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3968754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32B9F-F24F-AF81-27C3-18E4D5BAF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F557B-974D-57BE-A5DA-7A8CF384E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5C9DC-D33A-D088-3074-7D37DFEA4E8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 train on two public datasets — CMOSE and DAiSEE — and the combination of two together. This figure shows the main problem: all three are imbalanced in </a:t>
            </a:r>
            <a:r>
              <a:rPr lang="en-US" sz="1200" b="0" i="1" kern="1200" dirty="0">
                <a:solidFill>
                  <a:schemeClr val="tx1"/>
                </a:solidFill>
                <a:effectLst/>
                <a:latin typeface="+mn-lt"/>
                <a:ea typeface="+mn-ea"/>
                <a:cs typeface="+mn-cs"/>
              </a:rPr>
              <a:t>different ways</a:t>
            </a:r>
            <a:r>
              <a:rPr lang="en-US" sz="1200" b="0" i="0" kern="1200" dirty="0">
                <a:solidFill>
                  <a:schemeClr val="tx1"/>
                </a:solidFill>
                <a:effectLst/>
                <a:latin typeface="+mn-lt"/>
                <a:ea typeface="+mn-ea"/>
                <a:cs typeface="+mn-cs"/>
              </a:rPr>
              <a:t>, so a model that fits one meets a different one at test time. I also create a private dataset consist of 366 real webcam clips, cut from real online class of SOICT, labelled manually, and used </a:t>
            </a:r>
            <a:r>
              <a:rPr lang="en-US" sz="1200" b="0" i="1" kern="1200" dirty="0">
                <a:solidFill>
                  <a:schemeClr val="tx1"/>
                </a:solidFill>
                <a:effectLst/>
                <a:latin typeface="+mn-lt"/>
                <a:ea typeface="+mn-ea"/>
                <a:cs typeface="+mn-cs"/>
              </a:rPr>
              <a:t>solely</a:t>
            </a:r>
            <a:r>
              <a:rPr lang="en-US" sz="1200" b="0" i="0" kern="1200" dirty="0">
                <a:solidFill>
                  <a:schemeClr val="tx1"/>
                </a:solidFill>
                <a:effectLst/>
                <a:latin typeface="+mn-lt"/>
                <a:ea typeface="+mn-ea"/>
                <a:cs typeface="+mn-cs"/>
              </a:rPr>
              <a:t> for testing — never for training. This dataset is a small sample of the actual population that models will meet when deployed in real life.</a:t>
            </a:r>
            <a:endParaRPr lang="en-US" dirty="0"/>
          </a:p>
        </p:txBody>
      </p:sp>
      <p:sp>
        <p:nvSpPr>
          <p:cNvPr id="4" name="Slide Number Placeholder 3">
            <a:extLst>
              <a:ext uri="{FF2B5EF4-FFF2-40B4-BE49-F238E27FC236}">
                <a16:creationId xmlns:a16="http://schemas.microsoft.com/office/drawing/2014/main" id="{55442361-55E3-BFF3-8B0C-81D3EEE40318}"/>
              </a:ext>
            </a:extLst>
          </p:cNvPr>
          <p:cNvSpPr>
            <a:spLocks noGrp="1"/>
          </p:cNvSpPr>
          <p:nvPr>
            <p:ph type="sldNum" sz="quarter" idx="5"/>
          </p:nvPr>
        </p:nvSpPr>
        <p:spPr/>
        <p:txBody>
          <a:bodyPr/>
          <a:lstStyle/>
          <a:p>
            <a:fld id="{AB2FC7A4-3D1B-482D-8C9D-7642A2CE3076}" type="slidenum">
              <a:rPr lang="en-US" smtClean="0"/>
              <a:t>7</a:t>
            </a:fld>
            <a:endParaRPr lang="en-US"/>
          </a:p>
        </p:txBody>
      </p:sp>
    </p:spTree>
    <p:extLst>
      <p:ext uri="{BB962C8B-B14F-4D97-AF65-F5344CB8AC3E}">
        <p14:creationId xmlns:p14="http://schemas.microsoft.com/office/powerpoint/2010/main" val="1782420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FD40-52BD-6DD1-8558-2ABF188B2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205FB-05A5-9191-E266-0EA266DB7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3793D-4BEB-D6F0-ED13-53D799679D6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We designed 5 baseline models, 2 MLP model, each for a set of feature and 3 temporal decoder for </a:t>
            </a:r>
            <a:r>
              <a:rPr lang="en-US" sz="1200" b="0" i="0" kern="1200" dirty="0" err="1">
                <a:solidFill>
                  <a:schemeClr val="tx1"/>
                </a:solidFill>
                <a:effectLst/>
                <a:latin typeface="+mn-lt"/>
                <a:ea typeface="+mn-ea"/>
                <a:cs typeface="+mn-cs"/>
              </a:rPr>
              <a:t>OpenFace</a:t>
            </a:r>
            <a:r>
              <a:rPr lang="en-US" sz="1200" b="0" i="0" kern="1200" dirty="0">
                <a:solidFill>
                  <a:schemeClr val="tx1"/>
                </a:solidFill>
                <a:effectLst/>
                <a:latin typeface="+mn-lt"/>
                <a:ea typeface="+mn-ea"/>
                <a:cs typeface="+mn-cs"/>
              </a:rPr>
              <a:t> features alone. One </a:t>
            </a:r>
            <a:r>
              <a:rPr lang="en-US" sz="1200" b="0" i="0" kern="1200" dirty="0" err="1">
                <a:solidFill>
                  <a:schemeClr val="tx1"/>
                </a:solidFill>
                <a:effectLst/>
                <a:latin typeface="+mn-lt"/>
                <a:ea typeface="+mn-ea"/>
                <a:cs typeface="+mn-cs"/>
              </a:rPr>
              <a:t>OpenFace</a:t>
            </a:r>
            <a:r>
              <a:rPr lang="en-US" sz="1200" b="0" i="0" kern="1200" dirty="0">
                <a:solidFill>
                  <a:schemeClr val="tx1"/>
                </a:solidFill>
                <a:effectLst/>
                <a:latin typeface="+mn-lt"/>
                <a:ea typeface="+mn-ea"/>
                <a:cs typeface="+mn-cs"/>
              </a:rPr>
              <a:t> frame mixes very different signals that change at different speeds — eyes move fast and noisily, the head turns slowly, muscles fire in short bursts. Putting all 709 into one encoder, as everyone does, forces the same time model on all of them. So I split the face into five meaningful groups — gaze, eye landmarks, face landmarks, head pose, action units — and give each its own encoder: a TCN, Transformer, or LSTM, chosen per group, producing a 64-number embedding. I3D can join as a sixth, motion stream. Every stream also gets its own small head, so each group has to be useful on its own, not only in the mix. Three encoders over five groups gives 243 versions — and I test </a:t>
            </a:r>
            <a:r>
              <a:rPr lang="en-US" sz="1200" b="0" i="1" kern="1200" dirty="0">
                <a:solidFill>
                  <a:schemeClr val="tx1"/>
                </a:solidFill>
                <a:effectLst/>
                <a:latin typeface="+mn-lt"/>
                <a:ea typeface="+mn-ea"/>
                <a:cs typeface="+mn-cs"/>
              </a:rPr>
              <a:t>all</a:t>
            </a:r>
            <a:r>
              <a:rPr lang="en-US" sz="1200" b="0" i="0" kern="1200" dirty="0">
                <a:solidFill>
                  <a:schemeClr val="tx1"/>
                </a:solidFill>
                <a:effectLst/>
                <a:latin typeface="+mn-lt"/>
                <a:ea typeface="+mn-ea"/>
                <a:cs typeface="+mn-cs"/>
              </a:rPr>
              <a:t> of them, with and without I3D: 486 models in total. That lets me make claims about the whole </a:t>
            </a:r>
            <a:r>
              <a:rPr lang="en-US" sz="1200" b="0" i="1" kern="1200" dirty="0">
                <a:solidFill>
                  <a:schemeClr val="tx1"/>
                </a:solidFill>
                <a:effectLst/>
                <a:latin typeface="+mn-lt"/>
                <a:ea typeface="+mn-ea"/>
                <a:cs typeface="+mn-cs"/>
              </a:rPr>
              <a:t>family</a:t>
            </a:r>
            <a:r>
              <a:rPr lang="en-US" sz="1200" b="0" i="0" kern="1200" dirty="0">
                <a:solidFill>
                  <a:schemeClr val="tx1"/>
                </a:solidFill>
                <a:effectLst/>
                <a:latin typeface="+mn-lt"/>
                <a:ea typeface="+mn-ea"/>
                <a:cs typeface="+mn-cs"/>
              </a:rPr>
              <a:t>, not one lucky model.</a:t>
            </a:r>
            <a:endParaRPr lang="en-US" dirty="0"/>
          </a:p>
        </p:txBody>
      </p:sp>
      <p:sp>
        <p:nvSpPr>
          <p:cNvPr id="4" name="Slide Number Placeholder 3">
            <a:extLst>
              <a:ext uri="{FF2B5EF4-FFF2-40B4-BE49-F238E27FC236}">
                <a16:creationId xmlns:a16="http://schemas.microsoft.com/office/drawing/2014/main" id="{8EDFE0FF-73C7-01A5-EB85-3FD4A7EB3727}"/>
              </a:ext>
            </a:extLst>
          </p:cNvPr>
          <p:cNvSpPr>
            <a:spLocks noGrp="1"/>
          </p:cNvSpPr>
          <p:nvPr>
            <p:ph type="sldNum" sz="quarter" idx="5"/>
          </p:nvPr>
        </p:nvSpPr>
        <p:spPr/>
        <p:txBody>
          <a:bodyPr/>
          <a:lstStyle/>
          <a:p>
            <a:fld id="{AB2FC7A4-3D1B-482D-8C9D-7642A2CE3076}" type="slidenum">
              <a:rPr lang="en-US" smtClean="0"/>
              <a:t>8</a:t>
            </a:fld>
            <a:endParaRPr lang="en-US"/>
          </a:p>
        </p:txBody>
      </p:sp>
    </p:spTree>
    <p:extLst>
      <p:ext uri="{BB962C8B-B14F-4D97-AF65-F5344CB8AC3E}">
        <p14:creationId xmlns:p14="http://schemas.microsoft.com/office/powerpoint/2010/main" val="121743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03BEF-63CD-884A-3476-AA0A7874A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8F768-1995-991B-1125-244DC0F29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4D0F4-D561-33F2-4FEC-8867F5088D0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Before comparing models, I fixed how I measure. Accuracy is what almost every prior study reports, so I keep it on screen for reference — but, as the rest of the thesis will show, it is not a reliable metric for this task. Here is why, on the very same baseline models: rank them by accuracy and the I3D MLP wins with 0.77; rank them by QWK — ordinal agreement — and a different model, the </a:t>
            </a:r>
            <a:r>
              <a:rPr lang="en-US" sz="1200" b="0" i="0" kern="1200" dirty="0" err="1">
                <a:solidFill>
                  <a:schemeClr val="tx1"/>
                </a:solidFill>
                <a:effectLst/>
                <a:latin typeface="+mn-lt"/>
                <a:ea typeface="+mn-ea"/>
                <a:cs typeface="+mn-cs"/>
              </a:rPr>
              <a:t>OpenFace</a:t>
            </a:r>
            <a:r>
              <a:rPr lang="en-US" sz="1200" b="0" i="0" kern="1200" dirty="0">
                <a:solidFill>
                  <a:schemeClr val="tx1"/>
                </a:solidFill>
                <a:effectLst/>
                <a:latin typeface="+mn-lt"/>
                <a:ea typeface="+mn-ea"/>
                <a:cs typeface="+mn-cs"/>
              </a:rPr>
              <a:t> TCN, wins at 0.54, while that same I3D MLP drops to 0.52. The metric itself changes the answer — so the choice of metric is not innocent, and I commit to one. </a:t>
            </a:r>
            <a:r>
              <a:rPr lang="en-US" sz="1200" b="1" i="0" kern="1200" dirty="0">
                <a:solidFill>
                  <a:schemeClr val="tx1"/>
                </a:solidFill>
                <a:effectLst/>
                <a:latin typeface="+mn-lt"/>
                <a:ea typeface="+mn-ea"/>
                <a:cs typeface="+mn-cs"/>
              </a:rPr>
              <a:t>The single metric that selects the best model, everywhere in this thesis, is QWK</a:t>
            </a:r>
            <a:r>
              <a:rPr lang="en-US" sz="1200" b="0" i="0" kern="1200" dirty="0">
                <a:solidFill>
                  <a:schemeClr val="tx1"/>
                </a:solidFill>
                <a:effectLst/>
                <a:latin typeface="+mn-lt"/>
                <a:ea typeface="+mn-ea"/>
                <a:cs typeface="+mn-cs"/>
              </a:rPr>
              <a:t> — and only QWK. Whenever I say 'best' — best baseline, best hybrid, best per cell — I mean the highest QWK, with ties broken by order, not by a second metric. Macro-accuracy and macro-MAE are reported alongside as secondary checks, and plain accuracy stays on screen only for comparison with prior work; none of them ever picks the winner. This one-metric rule is also what later exposes a failure that accuracy hides.</a:t>
            </a:r>
            <a:endParaRPr lang="en-US" dirty="0"/>
          </a:p>
        </p:txBody>
      </p:sp>
      <p:sp>
        <p:nvSpPr>
          <p:cNvPr id="4" name="Slide Number Placeholder 3">
            <a:extLst>
              <a:ext uri="{FF2B5EF4-FFF2-40B4-BE49-F238E27FC236}">
                <a16:creationId xmlns:a16="http://schemas.microsoft.com/office/drawing/2014/main" id="{F4A16EA1-4699-5145-8533-49EC47A2885C}"/>
              </a:ext>
            </a:extLst>
          </p:cNvPr>
          <p:cNvSpPr>
            <a:spLocks noGrp="1"/>
          </p:cNvSpPr>
          <p:nvPr>
            <p:ph type="sldNum" sz="quarter" idx="5"/>
          </p:nvPr>
        </p:nvSpPr>
        <p:spPr/>
        <p:txBody>
          <a:bodyPr/>
          <a:lstStyle/>
          <a:p>
            <a:fld id="{AB2FC7A4-3D1B-482D-8C9D-7642A2CE3076}" type="slidenum">
              <a:rPr lang="en-US" smtClean="0"/>
              <a:t>9</a:t>
            </a:fld>
            <a:endParaRPr lang="en-US"/>
          </a:p>
        </p:txBody>
      </p:sp>
    </p:spTree>
    <p:extLst>
      <p:ext uri="{BB962C8B-B14F-4D97-AF65-F5344CB8AC3E}">
        <p14:creationId xmlns:p14="http://schemas.microsoft.com/office/powerpoint/2010/main" val="2690613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A36D-A7F3-3616-7010-6ABB0C2AD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78B3D-D9C4-CD2A-1F79-446BA5F34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46158-4B76-5C86-2095-7047C59D4F5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baseline scores, in-domain on CMOSE, ranked by QWK (Quadratic Weighted Kappa) — the selection metric. The strongest single model is the </a:t>
            </a:r>
            <a:r>
              <a:rPr lang="en-US" sz="1200" b="0" i="0" kern="1200" dirty="0" err="1">
                <a:solidFill>
                  <a:schemeClr val="tx1"/>
                </a:solidFill>
                <a:effectLst/>
                <a:latin typeface="+mn-lt"/>
                <a:ea typeface="+mn-ea"/>
                <a:cs typeface="+mn-cs"/>
              </a:rPr>
              <a:t>OpenFace</a:t>
            </a:r>
            <a:r>
              <a:rPr lang="en-US" sz="1200" b="0" i="0" kern="1200" dirty="0">
                <a:solidFill>
                  <a:schemeClr val="tx1"/>
                </a:solidFill>
                <a:effectLst/>
                <a:latin typeface="+mn-lt"/>
                <a:ea typeface="+mn-ea"/>
                <a:cs typeface="+mn-cs"/>
              </a:rPr>
              <a:t> TCN at QWK 0.537 — the bar the proposed model must clear — with the I3D MLP just behind at 0.519, a near-tie across two completely different feature families. The right plot asks whether those clustered scores mean the models agree: they don't. Pairwise agreement is only Cohen's kappa 0.27 to 0.39, and the I3D MLP's row is the palest in the grid — it disagrees most with the </a:t>
            </a:r>
            <a:r>
              <a:rPr lang="en-US" sz="1200" b="0" i="0" kern="1200" dirty="0" err="1">
                <a:solidFill>
                  <a:schemeClr val="tx1"/>
                </a:solidFill>
                <a:effectLst/>
                <a:latin typeface="+mn-lt"/>
                <a:ea typeface="+mn-ea"/>
                <a:cs typeface="+mn-cs"/>
              </a:rPr>
              <a:t>OpenFace</a:t>
            </a:r>
            <a:r>
              <a:rPr lang="en-US" sz="1200" b="0" i="0" kern="1200" dirty="0">
                <a:solidFill>
                  <a:schemeClr val="tx1"/>
                </a:solidFill>
                <a:effectLst/>
                <a:latin typeface="+mn-lt"/>
                <a:ea typeface="+mn-ea"/>
                <a:cs typeface="+mn-cs"/>
              </a:rPr>
              <a:t> TCN even though they score almost the same. So the two families are right on different clips; the best single model is correct on 77.3% of clips, but at least one model is correct on 97.6%. They make different errors — that headroom is exactly why I fuse the streams in the next chapter, rather than averaging finished predictions.</a:t>
            </a:r>
            <a:endParaRPr lang="en-US" dirty="0"/>
          </a:p>
        </p:txBody>
      </p:sp>
      <p:sp>
        <p:nvSpPr>
          <p:cNvPr id="4" name="Slide Number Placeholder 3">
            <a:extLst>
              <a:ext uri="{FF2B5EF4-FFF2-40B4-BE49-F238E27FC236}">
                <a16:creationId xmlns:a16="http://schemas.microsoft.com/office/drawing/2014/main" id="{2BE2421D-4542-B238-847E-99EAC82342CB}"/>
              </a:ext>
            </a:extLst>
          </p:cNvPr>
          <p:cNvSpPr>
            <a:spLocks noGrp="1"/>
          </p:cNvSpPr>
          <p:nvPr>
            <p:ph type="sldNum" sz="quarter" idx="5"/>
          </p:nvPr>
        </p:nvSpPr>
        <p:spPr/>
        <p:txBody>
          <a:bodyPr/>
          <a:lstStyle/>
          <a:p>
            <a:fld id="{AB2FC7A4-3D1B-482D-8C9D-7642A2CE3076}" type="slidenum">
              <a:rPr lang="en-US" smtClean="0"/>
              <a:t>10</a:t>
            </a:fld>
            <a:endParaRPr lang="en-US"/>
          </a:p>
        </p:txBody>
      </p:sp>
    </p:spTree>
    <p:extLst>
      <p:ext uri="{BB962C8B-B14F-4D97-AF65-F5344CB8AC3E}">
        <p14:creationId xmlns:p14="http://schemas.microsoft.com/office/powerpoint/2010/main" val="2707815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B4F6A-2C88-A746-923F-D6F5C7359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A03B8-34C5-591D-8756-2AD50A6FDF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FD9E9-DAB1-822E-81B6-EF8B58263A5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architecture, in-domain — both hybrid families, all 243 encoder versions, on every metric, with the dashed line being the same QWK-selected baseline read on each panel. Read the QWK panel: the I3D-fused family sits clearly above the </a:t>
            </a:r>
            <a:r>
              <a:rPr lang="en-US" sz="1200" b="0" i="0" kern="1200" dirty="0" err="1">
                <a:solidFill>
                  <a:schemeClr val="tx1"/>
                </a:solidFill>
                <a:effectLst/>
                <a:latin typeface="+mn-lt"/>
                <a:ea typeface="+mn-ea"/>
                <a:cs typeface="+mn-cs"/>
              </a:rPr>
              <a:t>OpenFace</a:t>
            </a:r>
            <a:r>
              <a:rPr lang="en-US" sz="1200" b="0" i="0" kern="1200" dirty="0">
                <a:solidFill>
                  <a:schemeClr val="tx1"/>
                </a:solidFill>
                <a:effectLst/>
                <a:latin typeface="+mn-lt"/>
                <a:ea typeface="+mn-ea"/>
                <a:cs typeface="+mn-cs"/>
              </a:rPr>
              <a:t>-only family — median QWK (Quadratic Weighted Kappa) 0.553 versus 0.522 — and 82% of the fused versions clear the 0.537 baseline bar, best 0.605. The accuracy panel, by contrast, is a flat band — accuracy can't even see the architecture. To be honest, the best gain — plus 0.068 — is modest. The stronger finding is the table on the right: four of the five facial groups don't care which encoder they get; only </a:t>
            </a:r>
            <a:r>
              <a:rPr lang="en-US" sz="1200" b="0" i="1" kern="1200" dirty="0">
                <a:solidFill>
                  <a:schemeClr val="tx1"/>
                </a:solidFill>
                <a:effectLst/>
                <a:latin typeface="+mn-lt"/>
                <a:ea typeface="+mn-ea"/>
                <a:cs typeface="+mn-cs"/>
              </a:rPr>
              <a:t>head pose</a:t>
            </a:r>
            <a:r>
              <a:rPr lang="en-US" sz="1200" b="0" i="0" kern="1200" dirty="0">
                <a:solidFill>
                  <a:schemeClr val="tx1"/>
                </a:solidFill>
                <a:effectLst/>
                <a:latin typeface="+mn-lt"/>
                <a:ea typeface="+mn-ea"/>
                <a:cs typeface="+mn-cs"/>
              </a:rPr>
              <a:t> clearly prefers one — the TCN — because head motion, nodding and turning away, is short and local in time, and that preference even survives domain shift. So the message isn't a magic model; it's that </a:t>
            </a:r>
            <a:r>
              <a:rPr lang="en-US" sz="1200" b="0" i="1" kern="1200" dirty="0">
                <a:solidFill>
                  <a:schemeClr val="tx1"/>
                </a:solidFill>
                <a:effectLst/>
                <a:latin typeface="+mn-lt"/>
                <a:ea typeface="+mn-ea"/>
                <a:cs typeface="+mn-cs"/>
              </a:rPr>
              <a:t>split-and-fuse</a:t>
            </a:r>
            <a:r>
              <a:rPr lang="en-US" sz="1200" b="0" i="0" kern="1200" dirty="0">
                <a:solidFill>
                  <a:schemeClr val="tx1"/>
                </a:solidFill>
                <a:effectLst/>
                <a:latin typeface="+mn-lt"/>
                <a:ea typeface="+mn-ea"/>
                <a:cs typeface="+mn-cs"/>
              </a:rPr>
              <a:t> is what helps, and a TCN is a safe default for head pose.</a:t>
            </a:r>
            <a:endParaRPr lang="en-US" dirty="0"/>
          </a:p>
        </p:txBody>
      </p:sp>
      <p:sp>
        <p:nvSpPr>
          <p:cNvPr id="4" name="Slide Number Placeholder 3">
            <a:extLst>
              <a:ext uri="{FF2B5EF4-FFF2-40B4-BE49-F238E27FC236}">
                <a16:creationId xmlns:a16="http://schemas.microsoft.com/office/drawing/2014/main" id="{290898F4-01FB-4985-5BDE-706E3F99004A}"/>
              </a:ext>
            </a:extLst>
          </p:cNvPr>
          <p:cNvSpPr>
            <a:spLocks noGrp="1"/>
          </p:cNvSpPr>
          <p:nvPr>
            <p:ph type="sldNum" sz="quarter" idx="5"/>
          </p:nvPr>
        </p:nvSpPr>
        <p:spPr/>
        <p:txBody>
          <a:bodyPr/>
          <a:lstStyle/>
          <a:p>
            <a:fld id="{AB2FC7A4-3D1B-482D-8C9D-7642A2CE3076}" type="slidenum">
              <a:rPr lang="en-US" smtClean="0"/>
              <a:t>11</a:t>
            </a:fld>
            <a:endParaRPr lang="en-US"/>
          </a:p>
        </p:txBody>
      </p:sp>
    </p:spTree>
    <p:extLst>
      <p:ext uri="{BB962C8B-B14F-4D97-AF65-F5344CB8AC3E}">
        <p14:creationId xmlns:p14="http://schemas.microsoft.com/office/powerpoint/2010/main" val="1952296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3759-896E-4A7C-15E2-9E3CD5EBE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ED387-F179-E423-3783-1B9122B52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A953A-C449-3EDD-D9D0-56AB90409BA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key negative finding — my third contribution. The base matrix on the left, the hybrid on the right. Read the diagonal — train and test on the same corpus — and QWK (Quadratic Weighted Kappa) is healthy, 0.54 on CMOSE. Move off the diagonal, to a corpus the model never trained on, and every chance-corrected metric collapses together: CMOSE to DAiSEE drops to 0.02, DAiSEE to CMOSE to 0.05 — chance level. These models don't transfer. And in those exact cells the </a:t>
            </a:r>
            <a:r>
              <a:rPr lang="en-US" sz="1200" b="0" i="1" kern="1200" dirty="0">
                <a:solidFill>
                  <a:schemeClr val="tx1"/>
                </a:solidFill>
                <a:effectLst/>
                <a:latin typeface="+mn-lt"/>
                <a:ea typeface="+mn-ea"/>
                <a:cs typeface="+mn-cs"/>
              </a:rPr>
              <a:t>accuracy</a:t>
            </a:r>
            <a:r>
              <a:rPr lang="en-US" sz="1200" b="0" i="0" kern="1200" dirty="0">
                <a:solidFill>
                  <a:schemeClr val="tx1"/>
                </a:solidFill>
                <a:effectLst/>
                <a:latin typeface="+mn-lt"/>
                <a:ea typeface="+mn-ea"/>
                <a:cs typeface="+mn-cs"/>
              </a:rPr>
              <a:t> panel still reads 0.49 and 0.69 — the majority-guessing trap. If I had reported accuracy like most papers, I would have hidden a complete failure. The hybrid on the right shows the </a:t>
            </a:r>
            <a:r>
              <a:rPr lang="en-US" sz="1200" b="0" i="1" kern="1200" dirty="0">
                <a:solidFill>
                  <a:schemeClr val="tx1"/>
                </a:solidFill>
                <a:effectLst/>
                <a:latin typeface="+mn-lt"/>
                <a:ea typeface="+mn-ea"/>
                <a:cs typeface="+mn-cs"/>
              </a:rPr>
              <a:t>same</a:t>
            </a:r>
            <a:r>
              <a:rPr lang="en-US" sz="1200" b="0" i="0" kern="1200" dirty="0">
                <a:solidFill>
                  <a:schemeClr val="tx1"/>
                </a:solidFill>
                <a:effectLst/>
                <a:latin typeface="+mn-lt"/>
                <a:ea typeface="+mn-ea"/>
                <a:cs typeface="+mn-cs"/>
              </a:rPr>
              <a:t> collapse — it's a property of the problem, not the model — but cell by cell it beats the baseline in all nine, and the simplest fix that works best, training on the datasets pooled together, sets up the final result.</a:t>
            </a:r>
            <a:endParaRPr lang="en-US" dirty="0"/>
          </a:p>
        </p:txBody>
      </p:sp>
      <p:sp>
        <p:nvSpPr>
          <p:cNvPr id="4" name="Slide Number Placeholder 3">
            <a:extLst>
              <a:ext uri="{FF2B5EF4-FFF2-40B4-BE49-F238E27FC236}">
                <a16:creationId xmlns:a16="http://schemas.microsoft.com/office/drawing/2014/main" id="{0968C4DE-AD40-CAED-9C3D-15E0CB80D10D}"/>
              </a:ext>
            </a:extLst>
          </p:cNvPr>
          <p:cNvSpPr>
            <a:spLocks noGrp="1"/>
          </p:cNvSpPr>
          <p:nvPr>
            <p:ph type="sldNum" sz="quarter" idx="5"/>
          </p:nvPr>
        </p:nvSpPr>
        <p:spPr/>
        <p:txBody>
          <a:bodyPr/>
          <a:lstStyle/>
          <a:p>
            <a:fld id="{AB2FC7A4-3D1B-482D-8C9D-7642A2CE3076}" type="slidenum">
              <a:rPr lang="en-US" smtClean="0"/>
              <a:t>12</a:t>
            </a:fld>
            <a:endParaRPr lang="en-US"/>
          </a:p>
        </p:txBody>
      </p:sp>
    </p:spTree>
    <p:extLst>
      <p:ext uri="{BB962C8B-B14F-4D97-AF65-F5344CB8AC3E}">
        <p14:creationId xmlns:p14="http://schemas.microsoft.com/office/powerpoint/2010/main" val="3281576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17F58-7E2E-94F5-213A-562A50770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23427-EBEA-23BF-9CD1-81DFDDDC2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EA0C7-B5F4-8C34-9F1C-E7999B98E1F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all three contributions come together on the private set — the unseen, real-student test, used for testing only. Best baseline against best hybrid, both trained on the pooled corpora, on my own data. The headline: the hybrid reaches QWK (Quadratic Weighted Kappa) 0.379 versus 0.285 — plus 0.094, a gap </a:t>
            </a:r>
            <a:r>
              <a:rPr lang="en-US" sz="1200" b="0" i="1" kern="1200" dirty="0">
                <a:solidFill>
                  <a:schemeClr val="tx1"/>
                </a:solidFill>
                <a:effectLst/>
                <a:latin typeface="+mn-lt"/>
                <a:ea typeface="+mn-ea"/>
                <a:cs typeface="+mn-cs"/>
              </a:rPr>
              <a:t>wider</a:t>
            </a:r>
            <a:r>
              <a:rPr lang="en-US" sz="1200" b="0" i="0" kern="1200" dirty="0">
                <a:solidFill>
                  <a:schemeClr val="tx1"/>
                </a:solidFill>
                <a:effectLst/>
                <a:latin typeface="+mn-lt"/>
                <a:ea typeface="+mn-ea"/>
                <a:cs typeface="+mn-cs"/>
              </a:rPr>
              <a:t> than the in-domain gain. The per-class F1 on the left shows where it comes from: the hybrid lifts Engage from 0.52 to 0.70, Highly-Engage from 0.49 to 0.56, and gives the middle Disengage class real mass, 0.09 to 0.28. The confusion matrices on the right confirm it — Engage recall climbs from 0.46 to 0.72, and the errors concentrate on the diagonal and its </a:t>
            </a:r>
            <a:r>
              <a:rPr lang="en-US" sz="1200" b="0" i="0" kern="1200" dirty="0" err="1">
                <a:solidFill>
                  <a:schemeClr val="tx1"/>
                </a:solidFill>
                <a:effectLst/>
                <a:latin typeface="+mn-lt"/>
                <a:ea typeface="+mn-ea"/>
                <a:cs typeface="+mn-cs"/>
              </a:rPr>
              <a:t>neighbours</a:t>
            </a:r>
            <a:r>
              <a:rPr lang="en-US" sz="1200" b="0" i="0" kern="1200" dirty="0">
                <a:solidFill>
                  <a:schemeClr val="tx1"/>
                </a:solidFill>
                <a:effectLst/>
                <a:latin typeface="+mn-lt"/>
                <a:ea typeface="+mn-ea"/>
                <a:cs typeface="+mn-cs"/>
              </a:rPr>
              <a:t> instead of scattering. But I'll be honest about the failure mode: the rarest class, Highly-Disengaged, collapses to zero — all the private HD clips are misread — because no encoder choice can recover a class the training data barely contains. Still, the architecture proves its worth exactly where it's hardest — on real, unseen students. That's the practical heart of the thesis.</a:t>
            </a:r>
            <a:endParaRPr lang="en-US" dirty="0"/>
          </a:p>
        </p:txBody>
      </p:sp>
      <p:sp>
        <p:nvSpPr>
          <p:cNvPr id="4" name="Slide Number Placeholder 3">
            <a:extLst>
              <a:ext uri="{FF2B5EF4-FFF2-40B4-BE49-F238E27FC236}">
                <a16:creationId xmlns:a16="http://schemas.microsoft.com/office/drawing/2014/main" id="{2500F9F0-2336-ECA7-BE53-97F588DD9D40}"/>
              </a:ext>
            </a:extLst>
          </p:cNvPr>
          <p:cNvSpPr>
            <a:spLocks noGrp="1"/>
          </p:cNvSpPr>
          <p:nvPr>
            <p:ph type="sldNum" sz="quarter" idx="5"/>
          </p:nvPr>
        </p:nvSpPr>
        <p:spPr/>
        <p:txBody>
          <a:bodyPr/>
          <a:lstStyle/>
          <a:p>
            <a:fld id="{AB2FC7A4-3D1B-482D-8C9D-7642A2CE3076}" type="slidenum">
              <a:rPr lang="en-US" smtClean="0"/>
              <a:t>13</a:t>
            </a:fld>
            <a:endParaRPr lang="en-US"/>
          </a:p>
        </p:txBody>
      </p:sp>
    </p:spTree>
    <p:extLst>
      <p:ext uri="{BB962C8B-B14F-4D97-AF65-F5344CB8AC3E}">
        <p14:creationId xmlns:p14="http://schemas.microsoft.com/office/powerpoint/2010/main" val="1613915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D2C2A-DB51-34A2-28E2-667F9426F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4373C-3881-8C30-67EA-E48BB84DD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FBD7A-88D4-F7FF-7154-5D5ECEBB8D9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To conclude — three findings that compound. This work </a:t>
            </a:r>
            <a:r>
              <a:rPr lang="en-US" sz="1200" b="0" i="1" kern="1200" dirty="0">
                <a:solidFill>
                  <a:schemeClr val="tx1"/>
                </a:solidFill>
                <a:effectLst/>
                <a:latin typeface="+mn-lt"/>
                <a:ea typeface="+mn-ea"/>
                <a:cs typeface="+mn-cs"/>
              </a:rPr>
              <a:t>showed</a:t>
            </a:r>
            <a:r>
              <a:rPr lang="en-US" sz="1200" b="0" i="0" kern="1200" dirty="0">
                <a:solidFill>
                  <a:schemeClr val="tx1"/>
                </a:solidFill>
                <a:effectLst/>
                <a:latin typeface="+mn-lt"/>
                <a:ea typeface="+mn-ea"/>
                <a:cs typeface="+mn-cs"/>
              </a:rPr>
              <a:t> that decomposing the face into semantic groups and fusing them beats putting everything into one encoder, and that it does so interpretably. It </a:t>
            </a:r>
            <a:r>
              <a:rPr lang="en-US" sz="1200" b="0" i="1" kern="1200" dirty="0">
                <a:solidFill>
                  <a:schemeClr val="tx1"/>
                </a:solidFill>
                <a:effectLst/>
                <a:latin typeface="+mn-lt"/>
                <a:ea typeface="+mn-ea"/>
                <a:cs typeface="+mn-cs"/>
              </a:rPr>
              <a:t>showed</a:t>
            </a:r>
            <a:r>
              <a:rPr lang="en-US" sz="1200" b="0" i="0" kern="1200" dirty="0">
                <a:solidFill>
                  <a:schemeClr val="tx1"/>
                </a:solidFill>
                <a:effectLst/>
                <a:latin typeface="+mn-lt"/>
                <a:ea typeface="+mn-ea"/>
                <a:cs typeface="+mn-cs"/>
              </a:rPr>
              <a:t> that the field's standard practice — reporting accuracy on a single dataset — hides a near-total collapse under transfer, a failure that only an order-aware metric like ordinal agreement reveals. And it </a:t>
            </a:r>
            <a:r>
              <a:rPr lang="en-US" sz="1200" b="0" i="1" kern="1200" dirty="0">
                <a:solidFill>
                  <a:schemeClr val="tx1"/>
                </a:solidFill>
                <a:effectLst/>
                <a:latin typeface="+mn-lt"/>
                <a:ea typeface="+mn-ea"/>
                <a:cs typeface="+mn-cs"/>
              </a:rPr>
              <a:t>demonstrated</a:t>
            </a:r>
            <a:r>
              <a:rPr lang="en-US" sz="1200" b="0" i="0" kern="1200" dirty="0">
                <a:solidFill>
                  <a:schemeClr val="tx1"/>
                </a:solidFill>
                <a:effectLst/>
                <a:latin typeface="+mn-lt"/>
                <a:ea typeface="+mn-ea"/>
                <a:cs typeface="+mn-cs"/>
              </a:rPr>
              <a:t>, on real unseen students, that the advantage holds exactly where it is hardest. So the contribution is not one new best score; it is evidence that the task should be measured differently — by ordinal agreement, honestly, with attention to the rare class. That shift is what I'd like you to remember.</a:t>
            </a:r>
            <a:endParaRPr lang="en-US" dirty="0"/>
          </a:p>
        </p:txBody>
      </p:sp>
      <p:sp>
        <p:nvSpPr>
          <p:cNvPr id="4" name="Slide Number Placeholder 3">
            <a:extLst>
              <a:ext uri="{FF2B5EF4-FFF2-40B4-BE49-F238E27FC236}">
                <a16:creationId xmlns:a16="http://schemas.microsoft.com/office/drawing/2014/main" id="{45500B1C-ECB7-6103-14A6-8C60E78F3E24}"/>
              </a:ext>
            </a:extLst>
          </p:cNvPr>
          <p:cNvSpPr>
            <a:spLocks noGrp="1"/>
          </p:cNvSpPr>
          <p:nvPr>
            <p:ph type="sldNum" sz="quarter" idx="5"/>
          </p:nvPr>
        </p:nvSpPr>
        <p:spPr/>
        <p:txBody>
          <a:bodyPr/>
          <a:lstStyle/>
          <a:p>
            <a:fld id="{AB2FC7A4-3D1B-482D-8C9D-7642A2CE3076}" type="slidenum">
              <a:rPr lang="en-US" smtClean="0"/>
              <a:t>14</a:t>
            </a:fld>
            <a:endParaRPr lang="en-US"/>
          </a:p>
        </p:txBody>
      </p:sp>
    </p:spTree>
    <p:extLst>
      <p:ext uri="{BB962C8B-B14F-4D97-AF65-F5344CB8AC3E}">
        <p14:creationId xmlns:p14="http://schemas.microsoft.com/office/powerpoint/2010/main" val="1858279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93E60-6F2A-159A-A961-0F8426646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3CDDC-0C22-8279-A193-83AA2CA91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DD07E-45C4-4E94-9D3F-DF84DE0C645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What this work could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settle points to where the next work lives. Three honest limits remained: the private set stayed small and had a single annotator, and the in-domain gain proved modest. And the rare Highly-Disengaged class — the one we most want to catch — was still caught worst, dropping to near-zero recall under shift. So the natural next steps are to target that rare class directly, add domain adaptation, let the model </a:t>
            </a:r>
            <a:r>
              <a:rPr lang="en-US" sz="1200" b="0" i="1" kern="1200" dirty="0">
                <a:solidFill>
                  <a:schemeClr val="tx1"/>
                </a:solidFill>
                <a:effectLst/>
                <a:latin typeface="+mn-lt"/>
                <a:ea typeface="+mn-ea"/>
                <a:cs typeface="+mn-cs"/>
              </a:rPr>
              <a:t>learn</a:t>
            </a:r>
            <a:r>
              <a:rPr lang="en-US" sz="1200" b="0" i="0" kern="1200" dirty="0">
                <a:solidFill>
                  <a:schemeClr val="tx1"/>
                </a:solidFill>
                <a:effectLst/>
                <a:latin typeface="+mn-lt"/>
                <a:ea typeface="+mn-ea"/>
                <a:cs typeface="+mn-cs"/>
              </a:rPr>
              <a:t> the group encoders rather than enumerating them by hand, and grow the private set — bigger, with more annotators and more cultures. Thank you for listening — I'm happy to take questions.</a:t>
            </a:r>
            <a:endParaRPr lang="en-US" dirty="0"/>
          </a:p>
        </p:txBody>
      </p:sp>
      <p:sp>
        <p:nvSpPr>
          <p:cNvPr id="4" name="Slide Number Placeholder 3">
            <a:extLst>
              <a:ext uri="{FF2B5EF4-FFF2-40B4-BE49-F238E27FC236}">
                <a16:creationId xmlns:a16="http://schemas.microsoft.com/office/drawing/2014/main" id="{B7596676-EF12-37CD-5370-96DBCD517F6E}"/>
              </a:ext>
            </a:extLst>
          </p:cNvPr>
          <p:cNvSpPr>
            <a:spLocks noGrp="1"/>
          </p:cNvSpPr>
          <p:nvPr>
            <p:ph type="sldNum" sz="quarter" idx="5"/>
          </p:nvPr>
        </p:nvSpPr>
        <p:spPr/>
        <p:txBody>
          <a:bodyPr/>
          <a:lstStyle/>
          <a:p>
            <a:fld id="{AB2FC7A4-3D1B-482D-8C9D-7642A2CE3076}" type="slidenum">
              <a:rPr lang="en-US" smtClean="0"/>
              <a:t>15</a:t>
            </a:fld>
            <a:endParaRPr lang="en-US"/>
          </a:p>
        </p:txBody>
      </p:sp>
    </p:spTree>
    <p:extLst>
      <p:ext uri="{BB962C8B-B14F-4D97-AF65-F5344CB8AC3E}">
        <p14:creationId xmlns:p14="http://schemas.microsoft.com/office/powerpoint/2010/main" val="1005827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16</a:t>
            </a:fld>
            <a:endParaRPr lang="en-US"/>
          </a:p>
        </p:txBody>
      </p:sp>
    </p:spTree>
    <p:extLst>
      <p:ext uri="{BB962C8B-B14F-4D97-AF65-F5344CB8AC3E}">
        <p14:creationId xmlns:p14="http://schemas.microsoft.com/office/powerpoint/2010/main" val="1867404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17</a:t>
            </a:fld>
            <a:endParaRPr lang="en-US"/>
          </a:p>
        </p:txBody>
      </p:sp>
    </p:spTree>
    <p:extLst>
      <p:ext uri="{BB962C8B-B14F-4D97-AF65-F5344CB8AC3E}">
        <p14:creationId xmlns:p14="http://schemas.microsoft.com/office/powerpoint/2010/main" val="3586669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18</a:t>
            </a:fld>
            <a:endParaRPr lang="en-US"/>
          </a:p>
        </p:txBody>
      </p:sp>
    </p:spTree>
    <p:extLst>
      <p:ext uri="{BB962C8B-B14F-4D97-AF65-F5344CB8AC3E}">
        <p14:creationId xmlns:p14="http://schemas.microsoft.com/office/powerpoint/2010/main" val="1855460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20</a:t>
            </a:fld>
            <a:endParaRPr lang="en-US"/>
          </a:p>
        </p:txBody>
      </p:sp>
    </p:spTree>
    <p:extLst>
      <p:ext uri="{BB962C8B-B14F-4D97-AF65-F5344CB8AC3E}">
        <p14:creationId xmlns:p14="http://schemas.microsoft.com/office/powerpoint/2010/main" val="4020266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6/25/2026</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6/25/2026</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6/25/2026</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6/25/2026</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6/25/2026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6/25/2026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6/25/2026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6/25/2026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6/25/2026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6/25/2026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6/25/2026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4" y="2219413"/>
            <a:ext cx="10044299" cy="1649854"/>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b="0"/>
              <a:t>Student’s engagement detection in online classes</a:t>
            </a:r>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4" y="3931747"/>
            <a:ext cx="8257833" cy="1825586"/>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Phan Minh Hòa - 20225495</a:t>
            </a:r>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1</a:t>
            </a:fld>
            <a:endParaRPr lang="en-US"/>
          </a:p>
        </p:txBody>
      </p:sp>
    </p:spTree>
    <p:extLst>
      <p:ext uri="{BB962C8B-B14F-4D97-AF65-F5344CB8AC3E}">
        <p14:creationId xmlns:p14="http://schemas.microsoft.com/office/powerpoint/2010/main" val="743172911"/>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pPr marL="514350" indent="-514350">
              <a:buAutoNum type="arabicPeriod"/>
            </a:pPr>
            <a:r>
              <a:rPr lang="en-US"/>
              <a:t>Introduction</a:t>
            </a:r>
          </a:p>
          <a:p>
            <a:pPr marL="514350" indent="-514350">
              <a:buAutoNum type="arabicPeriod"/>
            </a:pPr>
            <a:r>
              <a:rPr lang="en-US"/>
              <a:t>Literature Review</a:t>
            </a:r>
          </a:p>
          <a:p>
            <a:pPr marL="514350" indent="-514350">
              <a:buAutoNum type="arabicPeriod"/>
            </a:pPr>
            <a:r>
              <a:rPr lang="en-US"/>
              <a:t>Methodology</a:t>
            </a:r>
          </a:p>
          <a:p>
            <a:pPr marL="514350" indent="-514350">
              <a:buAutoNum type="arabicPeriod"/>
            </a:pPr>
            <a:r>
              <a:rPr lang="en-US"/>
              <a:t>Experimental Results</a:t>
            </a:r>
          </a:p>
          <a:p>
            <a:pPr marL="514350" indent="-514350">
              <a:buAutoNum type="arabicPeriod"/>
            </a:pPr>
            <a:r>
              <a:rPr lang="en-US"/>
              <a:t>Conclusions</a:t>
            </a:r>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a:t>Content</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2</a:t>
            </a:fld>
            <a:endParaRPr lang="en-US"/>
          </a:p>
        </p:txBody>
      </p:sp>
    </p:spTree>
    <p:extLst>
      <p:ext uri="{BB962C8B-B14F-4D97-AF65-F5344CB8AC3E}">
        <p14:creationId xmlns:p14="http://schemas.microsoft.com/office/powerpoint/2010/main" val="48550054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B4C0-1A87-3AEA-CA04-910607BD8577}"/>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00D31DE1-6BD8-2C7C-CA1E-15ACB6CFA6DE}"/>
              </a:ext>
            </a:extLst>
          </p:cNvPr>
          <p:cNvPicPr>
            <a:picLocks noChangeAspect="1"/>
          </p:cNvPicPr>
          <p:nvPr/>
        </p:nvPicPr>
        <p:blipFill>
          <a:blip r:embed="rId3"/>
          <a:stretch>
            <a:fillRect/>
          </a:stretch>
        </p:blipFill>
        <p:spPr>
          <a:xfrm>
            <a:off x="9041665" y="3694701"/>
            <a:ext cx="2234160" cy="1677393"/>
          </a:xfrm>
          <a:prstGeom prst="rect">
            <a:avLst/>
          </a:prstGeom>
        </p:spPr>
      </p:pic>
      <p:sp>
        <p:nvSpPr>
          <p:cNvPr id="2" name="Title 1">
            <a:extLst>
              <a:ext uri="{FF2B5EF4-FFF2-40B4-BE49-F238E27FC236}">
                <a16:creationId xmlns:a16="http://schemas.microsoft.com/office/drawing/2014/main" id="{3AB98451-2B17-4542-60DD-741660BBB52D}"/>
              </a:ext>
            </a:extLst>
          </p:cNvPr>
          <p:cNvSpPr>
            <a:spLocks noGrp="1"/>
          </p:cNvSpPr>
          <p:nvPr>
            <p:ph type="title"/>
          </p:nvPr>
        </p:nvSpPr>
        <p:spPr>
          <a:xfrm>
            <a:off x="338736" y="112543"/>
            <a:ext cx="2768021" cy="436098"/>
          </a:xfrm>
        </p:spPr>
        <p:txBody>
          <a:bodyPr/>
          <a:lstStyle/>
          <a:p>
            <a:r>
              <a:rPr lang="en-US" dirty="0"/>
              <a:t>1. Introduction</a:t>
            </a:r>
          </a:p>
        </p:txBody>
      </p:sp>
      <p:sp>
        <p:nvSpPr>
          <p:cNvPr id="3" name="Content Placeholder 2">
            <a:extLst>
              <a:ext uri="{FF2B5EF4-FFF2-40B4-BE49-F238E27FC236}">
                <a16:creationId xmlns:a16="http://schemas.microsoft.com/office/drawing/2014/main" id="{EED558AB-E35A-41A1-84F3-8128DEBDDA2E}"/>
              </a:ext>
            </a:extLst>
          </p:cNvPr>
          <p:cNvSpPr>
            <a:spLocks noGrp="1"/>
          </p:cNvSpPr>
          <p:nvPr>
            <p:ph sz="quarter" idx="13"/>
          </p:nvPr>
        </p:nvSpPr>
        <p:spPr>
          <a:xfrm>
            <a:off x="606392" y="1066196"/>
            <a:ext cx="4010578" cy="657673"/>
          </a:xfrm>
        </p:spPr>
        <p:txBody>
          <a:bodyPr/>
          <a:lstStyle/>
          <a:p>
            <a:pPr marL="0" indent="0">
              <a:buNone/>
            </a:pPr>
            <a:r>
              <a:rPr lang="en-US" b="1"/>
              <a:t>Problem Statement</a:t>
            </a:r>
          </a:p>
        </p:txBody>
      </p:sp>
      <p:sp>
        <p:nvSpPr>
          <p:cNvPr id="4" name="Slide Number Placeholder 3">
            <a:extLst>
              <a:ext uri="{FF2B5EF4-FFF2-40B4-BE49-F238E27FC236}">
                <a16:creationId xmlns:a16="http://schemas.microsoft.com/office/drawing/2014/main" id="{BDAF71C1-125B-0929-45B0-6CF4AAF4F14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13" name="Content Placeholder 2">
            <a:extLst>
              <a:ext uri="{FF2B5EF4-FFF2-40B4-BE49-F238E27FC236}">
                <a16:creationId xmlns:a16="http://schemas.microsoft.com/office/drawing/2014/main" id="{48AB0CF0-BED9-CB26-CA6C-20CFDC3EC064}"/>
              </a:ext>
            </a:extLst>
          </p:cNvPr>
          <p:cNvSpPr txBox="1">
            <a:spLocks/>
          </p:cNvSpPr>
          <p:nvPr/>
        </p:nvSpPr>
        <p:spPr>
          <a:xfrm>
            <a:off x="561421" y="1527161"/>
            <a:ext cx="5802875" cy="28349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Recognize students’ engagement level </a:t>
            </a:r>
          </a:p>
          <a:p>
            <a:r>
              <a:rPr lang="en-US" dirty="0"/>
              <a:t>Input:</a:t>
            </a:r>
          </a:p>
          <a:p>
            <a:pPr lvl="1"/>
            <a:r>
              <a:rPr lang="en-US" dirty="0"/>
              <a:t>10s clips from students’ webcams</a:t>
            </a:r>
          </a:p>
          <a:p>
            <a:r>
              <a:rPr lang="en-US" dirty="0"/>
              <a:t>Output:</a:t>
            </a:r>
          </a:p>
          <a:p>
            <a:pPr lvl="1"/>
            <a:r>
              <a:rPr lang="en-US" dirty="0"/>
              <a:t>4 classes: HE/E/D/HD</a:t>
            </a:r>
          </a:p>
        </p:txBody>
      </p:sp>
      <p:pic>
        <p:nvPicPr>
          <p:cNvPr id="17" name="Picture 16">
            <a:extLst>
              <a:ext uri="{FF2B5EF4-FFF2-40B4-BE49-F238E27FC236}">
                <a16:creationId xmlns:a16="http://schemas.microsoft.com/office/drawing/2014/main" id="{C998E620-55FB-9A90-1C17-7ADF10208AD1}"/>
              </a:ext>
            </a:extLst>
          </p:cNvPr>
          <p:cNvPicPr>
            <a:picLocks noChangeAspect="1"/>
          </p:cNvPicPr>
          <p:nvPr/>
        </p:nvPicPr>
        <p:blipFill>
          <a:blip r:embed="rId4"/>
          <a:stretch>
            <a:fillRect/>
          </a:stretch>
        </p:blipFill>
        <p:spPr>
          <a:xfrm>
            <a:off x="6843982" y="1723869"/>
            <a:ext cx="2197683" cy="1996485"/>
          </a:xfrm>
          <a:prstGeom prst="rect">
            <a:avLst/>
          </a:prstGeom>
        </p:spPr>
      </p:pic>
      <p:pic>
        <p:nvPicPr>
          <p:cNvPr id="18" name="Picture 17">
            <a:extLst>
              <a:ext uri="{FF2B5EF4-FFF2-40B4-BE49-F238E27FC236}">
                <a16:creationId xmlns:a16="http://schemas.microsoft.com/office/drawing/2014/main" id="{353EE243-84BD-F1E0-6CF5-81ED8352E3D3}"/>
              </a:ext>
            </a:extLst>
          </p:cNvPr>
          <p:cNvPicPr>
            <a:picLocks noChangeAspect="1"/>
          </p:cNvPicPr>
          <p:nvPr/>
        </p:nvPicPr>
        <p:blipFill>
          <a:blip r:embed="rId5"/>
          <a:stretch>
            <a:fillRect/>
          </a:stretch>
        </p:blipFill>
        <p:spPr>
          <a:xfrm>
            <a:off x="9041665" y="1723869"/>
            <a:ext cx="2234160" cy="1996485"/>
          </a:xfrm>
          <a:prstGeom prst="rect">
            <a:avLst/>
          </a:prstGeom>
        </p:spPr>
      </p:pic>
      <p:pic>
        <p:nvPicPr>
          <p:cNvPr id="8" name="Picture 7">
            <a:extLst>
              <a:ext uri="{FF2B5EF4-FFF2-40B4-BE49-F238E27FC236}">
                <a16:creationId xmlns:a16="http://schemas.microsoft.com/office/drawing/2014/main" id="{67C6FB75-E595-F045-2BAE-5DA06C47D609}"/>
              </a:ext>
            </a:extLst>
          </p:cNvPr>
          <p:cNvPicPr>
            <a:picLocks noChangeAspect="1"/>
          </p:cNvPicPr>
          <p:nvPr/>
        </p:nvPicPr>
        <p:blipFill>
          <a:blip r:embed="rId6"/>
          <a:stretch>
            <a:fillRect/>
          </a:stretch>
        </p:blipFill>
        <p:spPr>
          <a:xfrm>
            <a:off x="6843982" y="3720354"/>
            <a:ext cx="2197683" cy="1651740"/>
          </a:xfrm>
          <a:prstGeom prst="rect">
            <a:avLst/>
          </a:prstGeom>
        </p:spPr>
      </p:pic>
      <p:sp>
        <p:nvSpPr>
          <p:cNvPr id="5" name="Title 1">
            <a:extLst>
              <a:ext uri="{FF2B5EF4-FFF2-40B4-BE49-F238E27FC236}">
                <a16:creationId xmlns:a16="http://schemas.microsoft.com/office/drawing/2014/main" id="{78CB30A8-EF35-DA7B-64D1-B18EE877EA69}"/>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(1/3)</a:t>
            </a:r>
          </a:p>
        </p:txBody>
      </p:sp>
    </p:spTree>
    <p:extLst>
      <p:ext uri="{BB962C8B-B14F-4D97-AF65-F5344CB8AC3E}">
        <p14:creationId xmlns:p14="http://schemas.microsoft.com/office/powerpoint/2010/main" val="194794070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C8FD1-E1EA-3E64-A1CB-4121983DC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C8BAC-4AF2-C0AD-60B7-645DBA3EC008}"/>
              </a:ext>
            </a:extLst>
          </p:cNvPr>
          <p:cNvSpPr>
            <a:spLocks noGrp="1"/>
          </p:cNvSpPr>
          <p:nvPr>
            <p:ph type="title"/>
          </p:nvPr>
        </p:nvSpPr>
        <p:spPr/>
        <p:txBody>
          <a:bodyPr/>
          <a:lstStyle/>
          <a:p>
            <a:r>
              <a:rPr lang="en-US" dirty="0"/>
              <a:t>1. Introduction</a:t>
            </a:r>
          </a:p>
        </p:txBody>
      </p:sp>
      <p:sp>
        <p:nvSpPr>
          <p:cNvPr id="4" name="Slide Number Placeholder 3">
            <a:extLst>
              <a:ext uri="{FF2B5EF4-FFF2-40B4-BE49-F238E27FC236}">
                <a16:creationId xmlns:a16="http://schemas.microsoft.com/office/drawing/2014/main" id="{BE23136A-C1C8-6A04-920D-9E70EF956FCA}"/>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18" name="Content Placeholder 2">
            <a:extLst>
              <a:ext uri="{FF2B5EF4-FFF2-40B4-BE49-F238E27FC236}">
                <a16:creationId xmlns:a16="http://schemas.microsoft.com/office/drawing/2014/main" id="{31D2388E-EA8E-4623-4066-4A70208DB8DE}"/>
              </a:ext>
            </a:extLst>
          </p:cNvPr>
          <p:cNvSpPr txBox="1">
            <a:spLocks/>
          </p:cNvSpPr>
          <p:nvPr/>
        </p:nvSpPr>
        <p:spPr>
          <a:xfrm>
            <a:off x="606392" y="1066196"/>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Key Challenges</a:t>
            </a:r>
          </a:p>
        </p:txBody>
      </p:sp>
      <p:sp>
        <p:nvSpPr>
          <p:cNvPr id="19" name="Content Placeholder 2">
            <a:extLst>
              <a:ext uri="{FF2B5EF4-FFF2-40B4-BE49-F238E27FC236}">
                <a16:creationId xmlns:a16="http://schemas.microsoft.com/office/drawing/2014/main" id="{6774727F-BA14-D855-52C5-AA15ABDC36D5}"/>
              </a:ext>
            </a:extLst>
          </p:cNvPr>
          <p:cNvSpPr txBox="1">
            <a:spLocks/>
          </p:cNvSpPr>
          <p:nvPr/>
        </p:nvSpPr>
        <p:spPr>
          <a:xfrm>
            <a:off x="606392" y="1839466"/>
            <a:ext cx="3085563" cy="15895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Ordinality</a:t>
            </a:r>
          </a:p>
          <a:p>
            <a:r>
              <a:rPr lang="en-US"/>
              <a:t>Imbalance</a:t>
            </a:r>
          </a:p>
          <a:p>
            <a:r>
              <a:rPr lang="en-US"/>
              <a:t>Angle Diversity</a:t>
            </a:r>
          </a:p>
        </p:txBody>
      </p:sp>
      <p:pic>
        <p:nvPicPr>
          <p:cNvPr id="23" name="Picture 22">
            <a:extLst>
              <a:ext uri="{FF2B5EF4-FFF2-40B4-BE49-F238E27FC236}">
                <a16:creationId xmlns:a16="http://schemas.microsoft.com/office/drawing/2014/main" id="{D3D7C9A8-960C-4C91-C131-73A30757C690}"/>
              </a:ext>
            </a:extLst>
          </p:cNvPr>
          <p:cNvPicPr>
            <a:picLocks noChangeAspect="1"/>
          </p:cNvPicPr>
          <p:nvPr/>
        </p:nvPicPr>
        <p:blipFill>
          <a:blip r:embed="rId3"/>
          <a:stretch>
            <a:fillRect/>
          </a:stretch>
        </p:blipFill>
        <p:spPr>
          <a:xfrm>
            <a:off x="345503" y="4156937"/>
            <a:ext cx="2917343" cy="1640577"/>
          </a:xfrm>
          <a:prstGeom prst="rect">
            <a:avLst/>
          </a:prstGeom>
        </p:spPr>
      </p:pic>
      <p:pic>
        <p:nvPicPr>
          <p:cNvPr id="24" name="Picture 23">
            <a:extLst>
              <a:ext uri="{FF2B5EF4-FFF2-40B4-BE49-F238E27FC236}">
                <a16:creationId xmlns:a16="http://schemas.microsoft.com/office/drawing/2014/main" id="{2FE9653F-3643-29B2-0188-3B2DADB43EBF}"/>
              </a:ext>
            </a:extLst>
          </p:cNvPr>
          <p:cNvPicPr>
            <a:picLocks noChangeAspect="1"/>
          </p:cNvPicPr>
          <p:nvPr/>
        </p:nvPicPr>
        <p:blipFill>
          <a:blip r:embed="rId4"/>
          <a:stretch>
            <a:fillRect/>
          </a:stretch>
        </p:blipFill>
        <p:spPr>
          <a:xfrm>
            <a:off x="9015988" y="4156937"/>
            <a:ext cx="2883723" cy="1634867"/>
          </a:xfrm>
          <a:prstGeom prst="rect">
            <a:avLst/>
          </a:prstGeom>
        </p:spPr>
      </p:pic>
      <p:pic>
        <p:nvPicPr>
          <p:cNvPr id="25" name="Picture 24">
            <a:extLst>
              <a:ext uri="{FF2B5EF4-FFF2-40B4-BE49-F238E27FC236}">
                <a16:creationId xmlns:a16="http://schemas.microsoft.com/office/drawing/2014/main" id="{8938FA3F-A3FB-A22E-9843-9D6C57DBC8E3}"/>
              </a:ext>
            </a:extLst>
          </p:cNvPr>
          <p:cNvPicPr>
            <a:picLocks noChangeAspect="1"/>
          </p:cNvPicPr>
          <p:nvPr/>
        </p:nvPicPr>
        <p:blipFill>
          <a:blip r:embed="rId5"/>
          <a:stretch>
            <a:fillRect/>
          </a:stretch>
        </p:blipFill>
        <p:spPr>
          <a:xfrm>
            <a:off x="6139418" y="4156937"/>
            <a:ext cx="2876570" cy="1634867"/>
          </a:xfrm>
          <a:prstGeom prst="rect">
            <a:avLst/>
          </a:prstGeom>
        </p:spPr>
      </p:pic>
      <p:pic>
        <p:nvPicPr>
          <p:cNvPr id="26" name="Picture 25">
            <a:extLst>
              <a:ext uri="{FF2B5EF4-FFF2-40B4-BE49-F238E27FC236}">
                <a16:creationId xmlns:a16="http://schemas.microsoft.com/office/drawing/2014/main" id="{C5145315-53E5-903E-586A-7C5EA32DF9DF}"/>
              </a:ext>
            </a:extLst>
          </p:cNvPr>
          <p:cNvPicPr>
            <a:picLocks noChangeAspect="1"/>
          </p:cNvPicPr>
          <p:nvPr/>
        </p:nvPicPr>
        <p:blipFill>
          <a:blip r:embed="rId6"/>
          <a:stretch>
            <a:fillRect/>
          </a:stretch>
        </p:blipFill>
        <p:spPr>
          <a:xfrm>
            <a:off x="3262847" y="4159239"/>
            <a:ext cx="2876570" cy="1638275"/>
          </a:xfrm>
          <a:prstGeom prst="rect">
            <a:avLst/>
          </a:prstGeom>
        </p:spPr>
      </p:pic>
      <p:graphicFrame>
        <p:nvGraphicFramePr>
          <p:cNvPr id="3" name="Table 2">
            <a:extLst>
              <a:ext uri="{FF2B5EF4-FFF2-40B4-BE49-F238E27FC236}">
                <a16:creationId xmlns:a16="http://schemas.microsoft.com/office/drawing/2014/main" id="{F09B92DA-96F3-DA0E-ECB3-A1D7460AF817}"/>
              </a:ext>
            </a:extLst>
          </p:cNvPr>
          <p:cNvGraphicFramePr>
            <a:graphicFrameLocks noGrp="1"/>
          </p:cNvGraphicFramePr>
          <p:nvPr>
            <p:extLst>
              <p:ext uri="{D42A27DB-BD31-4B8C-83A1-F6EECF244321}">
                <p14:modId xmlns:p14="http://schemas.microsoft.com/office/powerpoint/2010/main" val="3430828493"/>
              </p:ext>
            </p:extLst>
          </p:nvPr>
        </p:nvGraphicFramePr>
        <p:xfrm>
          <a:off x="4898602" y="1606746"/>
          <a:ext cx="6687006" cy="1849120"/>
        </p:xfrm>
        <a:graphic>
          <a:graphicData uri="http://schemas.openxmlformats.org/drawingml/2006/table">
            <a:tbl>
              <a:tblPr firstRow="1" bandRow="1">
                <a:tableStyleId>{5C22544A-7EE6-4342-B048-85BDC9FD1C3A}</a:tableStyleId>
              </a:tblPr>
              <a:tblGrid>
                <a:gridCol w="2401446">
                  <a:extLst>
                    <a:ext uri="{9D8B030D-6E8A-4147-A177-3AD203B41FA5}">
                      <a16:colId xmlns:a16="http://schemas.microsoft.com/office/drawing/2014/main" val="1834286826"/>
                    </a:ext>
                  </a:extLst>
                </a:gridCol>
                <a:gridCol w="1399142">
                  <a:extLst>
                    <a:ext uri="{9D8B030D-6E8A-4147-A177-3AD203B41FA5}">
                      <a16:colId xmlns:a16="http://schemas.microsoft.com/office/drawing/2014/main" val="948797892"/>
                    </a:ext>
                  </a:extLst>
                </a:gridCol>
                <a:gridCol w="1432193">
                  <a:extLst>
                    <a:ext uri="{9D8B030D-6E8A-4147-A177-3AD203B41FA5}">
                      <a16:colId xmlns:a16="http://schemas.microsoft.com/office/drawing/2014/main" val="658952351"/>
                    </a:ext>
                  </a:extLst>
                </a:gridCol>
                <a:gridCol w="1454225">
                  <a:extLst>
                    <a:ext uri="{9D8B030D-6E8A-4147-A177-3AD203B41FA5}">
                      <a16:colId xmlns:a16="http://schemas.microsoft.com/office/drawing/2014/main" val="3519637500"/>
                    </a:ext>
                  </a:extLst>
                </a:gridCol>
              </a:tblGrid>
              <a:tr h="353596">
                <a:tc>
                  <a:txBody>
                    <a:bodyPr/>
                    <a:lstStyle/>
                    <a:p>
                      <a:r>
                        <a:rPr lang="en-US" dirty="0"/>
                        <a:t>Engagement class</a:t>
                      </a:r>
                    </a:p>
                  </a:txBody>
                  <a:tcPr/>
                </a:tc>
                <a:tc>
                  <a:txBody>
                    <a:bodyPr/>
                    <a:lstStyle/>
                    <a:p>
                      <a:r>
                        <a:rPr lang="en-US" dirty="0"/>
                        <a:t>CMOSE</a:t>
                      </a:r>
                    </a:p>
                  </a:txBody>
                  <a:tcPr/>
                </a:tc>
                <a:tc>
                  <a:txBody>
                    <a:bodyPr/>
                    <a:lstStyle/>
                    <a:p>
                      <a:r>
                        <a:rPr lang="en-US" dirty="0"/>
                        <a:t>DAiSEE</a:t>
                      </a:r>
                    </a:p>
                  </a:txBody>
                  <a:tcPr/>
                </a:tc>
                <a:tc>
                  <a:txBody>
                    <a:bodyPr/>
                    <a:lstStyle/>
                    <a:p>
                      <a:r>
                        <a:rPr lang="en-US" dirty="0"/>
                        <a:t>Private</a:t>
                      </a:r>
                    </a:p>
                  </a:txBody>
                  <a:tcPr/>
                </a:tc>
                <a:extLst>
                  <a:ext uri="{0D108BD9-81ED-4DB2-BD59-A6C34878D82A}">
                    <a16:rowId xmlns:a16="http://schemas.microsoft.com/office/drawing/2014/main" val="2372297558"/>
                  </a:ext>
                </a:extLst>
              </a:tr>
              <a:tr h="370840">
                <a:tc>
                  <a:txBody>
                    <a:bodyPr/>
                    <a:lstStyle/>
                    <a:p>
                      <a:r>
                        <a:rPr lang="en-US" dirty="0"/>
                        <a:t>Highly Engage (HE)</a:t>
                      </a:r>
                    </a:p>
                  </a:txBody>
                  <a:tcPr/>
                </a:tc>
                <a:tc>
                  <a:txBody>
                    <a:bodyPr/>
                    <a:lstStyle/>
                    <a:p>
                      <a:r>
                        <a:rPr lang="en-US" dirty="0"/>
                        <a:t>9.6%</a:t>
                      </a:r>
                    </a:p>
                  </a:txBody>
                  <a:tcPr/>
                </a:tc>
                <a:tc>
                  <a:txBody>
                    <a:bodyPr/>
                    <a:lstStyle/>
                    <a:p>
                      <a:r>
                        <a:rPr lang="en-US" dirty="0"/>
                        <a:t>43.8%</a:t>
                      </a:r>
                    </a:p>
                  </a:txBody>
                  <a:tcPr/>
                </a:tc>
                <a:tc>
                  <a:txBody>
                    <a:bodyPr/>
                    <a:lstStyle/>
                    <a:p>
                      <a:r>
                        <a:rPr lang="en-US" dirty="0"/>
                        <a:t>30.6%</a:t>
                      </a:r>
                    </a:p>
                  </a:txBody>
                  <a:tcPr/>
                </a:tc>
                <a:extLst>
                  <a:ext uri="{0D108BD9-81ED-4DB2-BD59-A6C34878D82A}">
                    <a16:rowId xmlns:a16="http://schemas.microsoft.com/office/drawing/2014/main" val="636501692"/>
                  </a:ext>
                </a:extLst>
              </a:tr>
              <a:tr h="370840">
                <a:tc>
                  <a:txBody>
                    <a:bodyPr/>
                    <a:lstStyle/>
                    <a:p>
                      <a:r>
                        <a:rPr lang="en-US" dirty="0"/>
                        <a:t>Engage (EG)</a:t>
                      </a:r>
                    </a:p>
                  </a:txBody>
                  <a:tcPr/>
                </a:tc>
                <a:tc>
                  <a:txBody>
                    <a:bodyPr/>
                    <a:lstStyle/>
                    <a:p>
                      <a:r>
                        <a:rPr lang="en-US" dirty="0"/>
                        <a:t>69.4%</a:t>
                      </a:r>
                    </a:p>
                  </a:txBody>
                  <a:tcPr/>
                </a:tc>
                <a:tc>
                  <a:txBody>
                    <a:bodyPr/>
                    <a:lstStyle/>
                    <a:p>
                      <a:r>
                        <a:rPr lang="en-US" dirty="0"/>
                        <a:t>50.3%</a:t>
                      </a:r>
                    </a:p>
                  </a:txBody>
                  <a:tcPr/>
                </a:tc>
                <a:tc>
                  <a:txBody>
                    <a:bodyPr/>
                    <a:lstStyle/>
                    <a:p>
                      <a:r>
                        <a:rPr lang="en-US" dirty="0"/>
                        <a:t>58.2%</a:t>
                      </a:r>
                    </a:p>
                  </a:txBody>
                  <a:tcPr/>
                </a:tc>
                <a:extLst>
                  <a:ext uri="{0D108BD9-81ED-4DB2-BD59-A6C34878D82A}">
                    <a16:rowId xmlns:a16="http://schemas.microsoft.com/office/drawing/2014/main" val="333301495"/>
                  </a:ext>
                </a:extLst>
              </a:tr>
              <a:tr h="370840">
                <a:tc>
                  <a:txBody>
                    <a:bodyPr/>
                    <a:lstStyle/>
                    <a:p>
                      <a:r>
                        <a:rPr lang="en-US" dirty="0"/>
                        <a:t>Disengage (DE)</a:t>
                      </a:r>
                    </a:p>
                  </a:txBody>
                  <a:tcPr/>
                </a:tc>
                <a:tc>
                  <a:txBody>
                    <a:bodyPr/>
                    <a:lstStyle/>
                    <a:p>
                      <a:r>
                        <a:rPr lang="en-US" dirty="0"/>
                        <a:t>18.1%</a:t>
                      </a:r>
                    </a:p>
                  </a:txBody>
                  <a:tcPr/>
                </a:tc>
                <a:tc>
                  <a:txBody>
                    <a:bodyPr/>
                    <a:lstStyle/>
                    <a:p>
                      <a:r>
                        <a:rPr lang="en-US" dirty="0"/>
                        <a:t>5.1%</a:t>
                      </a:r>
                    </a:p>
                  </a:txBody>
                  <a:tcPr/>
                </a:tc>
                <a:tc>
                  <a:txBody>
                    <a:bodyPr/>
                    <a:lstStyle/>
                    <a:p>
                      <a:r>
                        <a:rPr lang="en-US" dirty="0"/>
                        <a:t>8.5%</a:t>
                      </a:r>
                    </a:p>
                  </a:txBody>
                  <a:tcPr/>
                </a:tc>
                <a:extLst>
                  <a:ext uri="{0D108BD9-81ED-4DB2-BD59-A6C34878D82A}">
                    <a16:rowId xmlns:a16="http://schemas.microsoft.com/office/drawing/2014/main" val="879799225"/>
                  </a:ext>
                </a:extLst>
              </a:tr>
              <a:tr h="370840">
                <a:tc>
                  <a:txBody>
                    <a:bodyPr/>
                    <a:lstStyle/>
                    <a:p>
                      <a:r>
                        <a:rPr lang="en-US" dirty="0"/>
                        <a:t>Highly Disengage (HD)</a:t>
                      </a:r>
                    </a:p>
                  </a:txBody>
                  <a:tcPr/>
                </a:tc>
                <a:tc>
                  <a:txBody>
                    <a:bodyPr/>
                    <a:lstStyle/>
                    <a:p>
                      <a:r>
                        <a:rPr lang="en-US" dirty="0"/>
                        <a:t>2.8%</a:t>
                      </a:r>
                    </a:p>
                  </a:txBody>
                  <a:tcPr/>
                </a:tc>
                <a:tc>
                  <a:txBody>
                    <a:bodyPr/>
                    <a:lstStyle/>
                    <a:p>
                      <a:r>
                        <a:rPr lang="en-US" dirty="0"/>
                        <a:t>0.7%</a:t>
                      </a:r>
                    </a:p>
                  </a:txBody>
                  <a:tcPr/>
                </a:tc>
                <a:tc>
                  <a:txBody>
                    <a:bodyPr/>
                    <a:lstStyle/>
                    <a:p>
                      <a:r>
                        <a:rPr lang="en-US" dirty="0"/>
                        <a:t>2.7%</a:t>
                      </a:r>
                    </a:p>
                  </a:txBody>
                  <a:tcPr/>
                </a:tc>
                <a:extLst>
                  <a:ext uri="{0D108BD9-81ED-4DB2-BD59-A6C34878D82A}">
                    <a16:rowId xmlns:a16="http://schemas.microsoft.com/office/drawing/2014/main" val="1160705829"/>
                  </a:ext>
                </a:extLst>
              </a:tr>
            </a:tbl>
          </a:graphicData>
        </a:graphic>
      </p:graphicFrame>
      <p:sp>
        <p:nvSpPr>
          <p:cNvPr id="6" name="Title 1">
            <a:extLst>
              <a:ext uri="{FF2B5EF4-FFF2-40B4-BE49-F238E27FC236}">
                <a16:creationId xmlns:a16="http://schemas.microsoft.com/office/drawing/2014/main" id="{5D01FE60-288A-CC0C-5637-A983701CA00B}"/>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(2/3)</a:t>
            </a:r>
          </a:p>
        </p:txBody>
      </p:sp>
    </p:spTree>
    <p:extLst>
      <p:ext uri="{BB962C8B-B14F-4D97-AF65-F5344CB8AC3E}">
        <p14:creationId xmlns:p14="http://schemas.microsoft.com/office/powerpoint/2010/main" val="28004884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p:txBody>
          <a:bodyPr/>
          <a:lstStyle/>
          <a:p>
            <a:r>
              <a:rPr lang="en-US" dirty="0"/>
              <a:t>1. Introduction</a:t>
            </a:r>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6" name="Content Placeholder 2">
            <a:extLst>
              <a:ext uri="{FF2B5EF4-FFF2-40B4-BE49-F238E27FC236}">
                <a16:creationId xmlns:a16="http://schemas.microsoft.com/office/drawing/2014/main" id="{100A148E-BE35-3C4E-99AD-CF53BA42E8A5}"/>
              </a:ext>
            </a:extLst>
          </p:cNvPr>
          <p:cNvSpPr txBox="1">
            <a:spLocks/>
          </p:cNvSpPr>
          <p:nvPr/>
        </p:nvSpPr>
        <p:spPr>
          <a:xfrm>
            <a:off x="606392" y="1066196"/>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Research Gaps</a:t>
            </a:r>
          </a:p>
        </p:txBody>
      </p:sp>
      <p:sp>
        <p:nvSpPr>
          <p:cNvPr id="8" name="Content Placeholder 2">
            <a:extLst>
              <a:ext uri="{FF2B5EF4-FFF2-40B4-BE49-F238E27FC236}">
                <a16:creationId xmlns:a16="http://schemas.microsoft.com/office/drawing/2014/main" id="{8B64B79C-63B6-D522-49A1-56ED9F21321E}"/>
              </a:ext>
            </a:extLst>
          </p:cNvPr>
          <p:cNvSpPr txBox="1">
            <a:spLocks/>
          </p:cNvSpPr>
          <p:nvPr/>
        </p:nvSpPr>
        <p:spPr>
          <a:xfrm>
            <a:off x="606392" y="3100163"/>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Contributions</a:t>
            </a:r>
          </a:p>
        </p:txBody>
      </p:sp>
      <p:sp>
        <p:nvSpPr>
          <p:cNvPr id="11" name="Content Placeholder 2">
            <a:extLst>
              <a:ext uri="{FF2B5EF4-FFF2-40B4-BE49-F238E27FC236}">
                <a16:creationId xmlns:a16="http://schemas.microsoft.com/office/drawing/2014/main" id="{A14DBB38-70A7-BEFC-2B46-29908DFA2588}"/>
              </a:ext>
            </a:extLst>
          </p:cNvPr>
          <p:cNvSpPr>
            <a:spLocks noGrp="1"/>
          </p:cNvSpPr>
          <p:nvPr>
            <p:ph sz="quarter" idx="13"/>
          </p:nvPr>
        </p:nvSpPr>
        <p:spPr>
          <a:xfrm>
            <a:off x="606391" y="1583751"/>
            <a:ext cx="11293319" cy="1424310"/>
          </a:xfrm>
        </p:spPr>
        <p:txBody>
          <a:bodyPr/>
          <a:lstStyle/>
          <a:p>
            <a:r>
              <a:rPr lang="en-US" dirty="0"/>
              <a:t>Facial features are mixed but are encoded as one block.</a:t>
            </a:r>
          </a:p>
          <a:p>
            <a:r>
              <a:rPr lang="en-US" dirty="0"/>
              <a:t>Studies mostly use accuracy for evaluation and cross dataset generalization is limited.</a:t>
            </a:r>
          </a:p>
        </p:txBody>
      </p:sp>
      <p:sp>
        <p:nvSpPr>
          <p:cNvPr id="12" name="Content Placeholder 2">
            <a:extLst>
              <a:ext uri="{FF2B5EF4-FFF2-40B4-BE49-F238E27FC236}">
                <a16:creationId xmlns:a16="http://schemas.microsoft.com/office/drawing/2014/main" id="{A6BCC16D-BFCB-B860-4A66-FBBA847778C3}"/>
              </a:ext>
            </a:extLst>
          </p:cNvPr>
          <p:cNvSpPr txBox="1">
            <a:spLocks/>
          </p:cNvSpPr>
          <p:nvPr/>
        </p:nvSpPr>
        <p:spPr>
          <a:xfrm>
            <a:off x="606392" y="3757836"/>
            <a:ext cx="10979216" cy="16073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New architecture that divide facial features then fuse.</a:t>
            </a:r>
          </a:p>
          <a:p>
            <a:r>
              <a:rPr lang="en-US" dirty="0"/>
              <a:t>New private dataset manually labeled from SOICT online class.</a:t>
            </a:r>
          </a:p>
          <a:p>
            <a:r>
              <a:rPr lang="en-US" dirty="0"/>
              <a:t>Generalization study using QWK instead of accuracy.</a:t>
            </a:r>
          </a:p>
        </p:txBody>
      </p:sp>
      <p:sp>
        <p:nvSpPr>
          <p:cNvPr id="5" name="Title 1">
            <a:extLst>
              <a:ext uri="{FF2B5EF4-FFF2-40B4-BE49-F238E27FC236}">
                <a16:creationId xmlns:a16="http://schemas.microsoft.com/office/drawing/2014/main" id="{0BC6EE65-C757-5C98-1152-750AD9179ECE}"/>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(3/3)</a:t>
            </a:r>
          </a:p>
        </p:txBody>
      </p:sp>
    </p:spTree>
    <p:extLst>
      <p:ext uri="{BB962C8B-B14F-4D97-AF65-F5344CB8AC3E}">
        <p14:creationId xmlns:p14="http://schemas.microsoft.com/office/powerpoint/2010/main" val="22143377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A1944-94D8-3C6B-F8DC-17425E09C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245B3-2FD8-B6B4-174C-A9DEEE7EFEEF}"/>
              </a:ext>
            </a:extLst>
          </p:cNvPr>
          <p:cNvSpPr>
            <a:spLocks noGrp="1"/>
          </p:cNvSpPr>
          <p:nvPr>
            <p:ph type="title"/>
          </p:nvPr>
        </p:nvSpPr>
        <p:spPr/>
        <p:txBody>
          <a:bodyPr/>
          <a:lstStyle/>
          <a:p>
            <a:r>
              <a:rPr lang="en-US" dirty="0"/>
              <a:t>2. Literature Review</a:t>
            </a:r>
          </a:p>
        </p:txBody>
      </p:sp>
      <p:sp>
        <p:nvSpPr>
          <p:cNvPr id="3" name="Content Placeholder 2">
            <a:extLst>
              <a:ext uri="{FF2B5EF4-FFF2-40B4-BE49-F238E27FC236}">
                <a16:creationId xmlns:a16="http://schemas.microsoft.com/office/drawing/2014/main" id="{4214A4F0-81B5-F48E-E2A1-6B58713275AB}"/>
              </a:ext>
            </a:extLst>
          </p:cNvPr>
          <p:cNvSpPr>
            <a:spLocks noGrp="1"/>
          </p:cNvSpPr>
          <p:nvPr>
            <p:ph sz="quarter" idx="13"/>
          </p:nvPr>
        </p:nvSpPr>
        <p:spPr>
          <a:xfrm>
            <a:off x="606392" y="1723868"/>
            <a:ext cx="5904577" cy="4251451"/>
          </a:xfrm>
        </p:spPr>
        <p:txBody>
          <a:bodyPr/>
          <a:lstStyle/>
          <a:p>
            <a:r>
              <a:rPr lang="en-US" dirty="0" err="1"/>
              <a:t>OpenFace</a:t>
            </a:r>
            <a:r>
              <a:rPr lang="en-US" dirty="0"/>
              <a:t> features:</a:t>
            </a:r>
          </a:p>
          <a:p>
            <a:pPr lvl="1"/>
            <a:r>
              <a:rPr lang="en-US" dirty="0"/>
              <a:t>709 features per frame, includes:</a:t>
            </a:r>
          </a:p>
          <a:p>
            <a:pPr lvl="2"/>
            <a:r>
              <a:rPr lang="en-US" dirty="0"/>
              <a:t>Gaze</a:t>
            </a:r>
          </a:p>
          <a:p>
            <a:pPr lvl="2"/>
            <a:r>
              <a:rPr lang="en-US" dirty="0"/>
              <a:t>Head pose</a:t>
            </a:r>
          </a:p>
          <a:p>
            <a:pPr lvl="2"/>
            <a:r>
              <a:rPr lang="en-US" dirty="0"/>
              <a:t>Face landmark</a:t>
            </a:r>
          </a:p>
          <a:p>
            <a:pPr lvl="2"/>
            <a:r>
              <a:rPr lang="en-US" dirty="0"/>
              <a:t>Eye landmark</a:t>
            </a:r>
          </a:p>
          <a:p>
            <a:pPr lvl="2"/>
            <a:r>
              <a:rPr lang="en-US" dirty="0"/>
              <a:t>Shape/PDM</a:t>
            </a:r>
          </a:p>
          <a:p>
            <a:pPr lvl="2"/>
            <a:r>
              <a:rPr lang="en-US" dirty="0"/>
              <a:t>Action unit</a:t>
            </a:r>
          </a:p>
          <a:p>
            <a:r>
              <a:rPr lang="en-US" dirty="0"/>
              <a:t>I3D features:</a:t>
            </a:r>
          </a:p>
          <a:p>
            <a:pPr lvl="1"/>
            <a:r>
              <a:rPr lang="en-US" dirty="0"/>
              <a:t>1024 features per clip</a:t>
            </a:r>
          </a:p>
          <a:p>
            <a:pPr lvl="1"/>
            <a:r>
              <a:rPr lang="en-US" dirty="0"/>
              <a:t>Trained on Kinetics-400</a:t>
            </a:r>
          </a:p>
        </p:txBody>
      </p:sp>
      <p:sp>
        <p:nvSpPr>
          <p:cNvPr id="4" name="Slide Number Placeholder 3">
            <a:extLst>
              <a:ext uri="{FF2B5EF4-FFF2-40B4-BE49-F238E27FC236}">
                <a16:creationId xmlns:a16="http://schemas.microsoft.com/office/drawing/2014/main" id="{580C3F91-8E41-5228-B954-5164180277A5}"/>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6" name="Content Placeholder 2">
            <a:extLst>
              <a:ext uri="{FF2B5EF4-FFF2-40B4-BE49-F238E27FC236}">
                <a16:creationId xmlns:a16="http://schemas.microsoft.com/office/drawing/2014/main" id="{FA5B1A98-E6D4-15F4-D0B6-0E575345C14D}"/>
              </a:ext>
            </a:extLst>
          </p:cNvPr>
          <p:cNvSpPr txBox="1">
            <a:spLocks/>
          </p:cNvSpPr>
          <p:nvPr/>
        </p:nvSpPr>
        <p:spPr>
          <a:xfrm>
            <a:off x="606392" y="1066196"/>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Features</a:t>
            </a:r>
          </a:p>
        </p:txBody>
      </p:sp>
      <p:sp>
        <p:nvSpPr>
          <p:cNvPr id="8" name="Content Placeholder 2">
            <a:extLst>
              <a:ext uri="{FF2B5EF4-FFF2-40B4-BE49-F238E27FC236}">
                <a16:creationId xmlns:a16="http://schemas.microsoft.com/office/drawing/2014/main" id="{878D9270-00D3-E43E-3C84-DAB83E28A469}"/>
              </a:ext>
            </a:extLst>
          </p:cNvPr>
          <p:cNvSpPr txBox="1">
            <a:spLocks/>
          </p:cNvSpPr>
          <p:nvPr/>
        </p:nvSpPr>
        <p:spPr>
          <a:xfrm>
            <a:off x="7023660" y="1063755"/>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Encoder</a:t>
            </a:r>
          </a:p>
        </p:txBody>
      </p:sp>
      <p:sp>
        <p:nvSpPr>
          <p:cNvPr id="9" name="Content Placeholder 2">
            <a:extLst>
              <a:ext uri="{FF2B5EF4-FFF2-40B4-BE49-F238E27FC236}">
                <a16:creationId xmlns:a16="http://schemas.microsoft.com/office/drawing/2014/main" id="{D74913EB-7112-7FD8-2D43-085FC67EA4DE}"/>
              </a:ext>
            </a:extLst>
          </p:cNvPr>
          <p:cNvSpPr txBox="1">
            <a:spLocks/>
          </p:cNvSpPr>
          <p:nvPr/>
        </p:nvSpPr>
        <p:spPr>
          <a:xfrm>
            <a:off x="7023660" y="1982646"/>
            <a:ext cx="5113322" cy="42514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TCN </a:t>
            </a:r>
            <a:r>
              <a:rPr lang="en-US" sz="2000" dirty="0"/>
              <a:t>(Temporal Convolutional Network)</a:t>
            </a:r>
          </a:p>
          <a:p>
            <a:r>
              <a:rPr lang="en-US" dirty="0"/>
              <a:t>LSTM </a:t>
            </a:r>
            <a:r>
              <a:rPr lang="en-US" sz="2000" dirty="0"/>
              <a:t>(Long Short-Term Memory)</a:t>
            </a:r>
          </a:p>
          <a:p>
            <a:r>
              <a:rPr lang="en-US" dirty="0"/>
              <a:t>Transformer</a:t>
            </a:r>
          </a:p>
        </p:txBody>
      </p:sp>
      <p:sp>
        <p:nvSpPr>
          <p:cNvPr id="7" name="Title 1">
            <a:extLst>
              <a:ext uri="{FF2B5EF4-FFF2-40B4-BE49-F238E27FC236}">
                <a16:creationId xmlns:a16="http://schemas.microsoft.com/office/drawing/2014/main" id="{300CBF05-0DDF-4DCA-FEF7-6D1AAC6856FF}"/>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(1/1)</a:t>
            </a:r>
          </a:p>
        </p:txBody>
      </p:sp>
    </p:spTree>
    <p:extLst>
      <p:ext uri="{BB962C8B-B14F-4D97-AF65-F5344CB8AC3E}">
        <p14:creationId xmlns:p14="http://schemas.microsoft.com/office/powerpoint/2010/main" val="2030230264"/>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AA132-FCC4-2F38-D36B-80758D6BB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10FF2-D786-04B1-8E8A-35AC942EFF78}"/>
              </a:ext>
            </a:extLst>
          </p:cNvPr>
          <p:cNvSpPr>
            <a:spLocks noGrp="1"/>
          </p:cNvSpPr>
          <p:nvPr>
            <p:ph type="title"/>
          </p:nvPr>
        </p:nvSpPr>
        <p:spPr/>
        <p:txBody>
          <a:bodyPr/>
          <a:lstStyle/>
          <a:p>
            <a:r>
              <a:rPr lang="en-US" dirty="0"/>
              <a:t>3. Methodology</a:t>
            </a:r>
          </a:p>
        </p:txBody>
      </p:sp>
      <p:sp>
        <p:nvSpPr>
          <p:cNvPr id="4" name="Slide Number Placeholder 3">
            <a:extLst>
              <a:ext uri="{FF2B5EF4-FFF2-40B4-BE49-F238E27FC236}">
                <a16:creationId xmlns:a16="http://schemas.microsoft.com/office/drawing/2014/main" id="{A55422AE-B93E-FEE3-1C14-5C90D476E51B}"/>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6" name="Content Placeholder 2">
            <a:extLst>
              <a:ext uri="{FF2B5EF4-FFF2-40B4-BE49-F238E27FC236}">
                <a16:creationId xmlns:a16="http://schemas.microsoft.com/office/drawing/2014/main" id="{0CDB7D51-A3B7-4AE1-2867-B8FD271F892A}"/>
              </a:ext>
            </a:extLst>
          </p:cNvPr>
          <p:cNvSpPr txBox="1">
            <a:spLocks/>
          </p:cNvSpPr>
          <p:nvPr/>
        </p:nvSpPr>
        <p:spPr>
          <a:xfrm>
            <a:off x="606392" y="1066196"/>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Public Datasets</a:t>
            </a:r>
          </a:p>
        </p:txBody>
      </p:sp>
      <p:sp>
        <p:nvSpPr>
          <p:cNvPr id="8" name="Content Placeholder 2">
            <a:extLst>
              <a:ext uri="{FF2B5EF4-FFF2-40B4-BE49-F238E27FC236}">
                <a16:creationId xmlns:a16="http://schemas.microsoft.com/office/drawing/2014/main" id="{0244EC71-2B64-2CDC-FB70-FDCEA3E03190}"/>
              </a:ext>
            </a:extLst>
          </p:cNvPr>
          <p:cNvSpPr txBox="1">
            <a:spLocks/>
          </p:cNvSpPr>
          <p:nvPr/>
        </p:nvSpPr>
        <p:spPr>
          <a:xfrm>
            <a:off x="7023660" y="1063755"/>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Private </a:t>
            </a:r>
            <a:r>
              <a:rPr lang="en-US" b="1" dirty="0" err="1"/>
              <a:t>Datset</a:t>
            </a:r>
            <a:endParaRPr lang="en-US" b="1" dirty="0"/>
          </a:p>
        </p:txBody>
      </p:sp>
      <p:sp>
        <p:nvSpPr>
          <p:cNvPr id="9" name="Content Placeholder 2">
            <a:extLst>
              <a:ext uri="{FF2B5EF4-FFF2-40B4-BE49-F238E27FC236}">
                <a16:creationId xmlns:a16="http://schemas.microsoft.com/office/drawing/2014/main" id="{20FEF5DE-885A-3787-5222-10B2067CCE81}"/>
              </a:ext>
            </a:extLst>
          </p:cNvPr>
          <p:cNvSpPr txBox="1">
            <a:spLocks/>
          </p:cNvSpPr>
          <p:nvPr/>
        </p:nvSpPr>
        <p:spPr>
          <a:xfrm>
            <a:off x="7023660" y="1982646"/>
            <a:ext cx="5113322" cy="42514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366  10-second-long clips</a:t>
            </a:r>
          </a:p>
          <a:p>
            <a:r>
              <a:rPr lang="en-US" dirty="0"/>
              <a:t>Single annotator</a:t>
            </a:r>
          </a:p>
          <a:p>
            <a:r>
              <a:rPr lang="en-US" dirty="0"/>
              <a:t>Test only</a:t>
            </a:r>
          </a:p>
        </p:txBody>
      </p:sp>
      <p:pic>
        <p:nvPicPr>
          <p:cNvPr id="11" name="Picture 10">
            <a:extLst>
              <a:ext uri="{FF2B5EF4-FFF2-40B4-BE49-F238E27FC236}">
                <a16:creationId xmlns:a16="http://schemas.microsoft.com/office/drawing/2014/main" id="{CC2BEDDA-D5B1-627A-D3BF-7007E57FC6C1}"/>
              </a:ext>
            </a:extLst>
          </p:cNvPr>
          <p:cNvPicPr>
            <a:picLocks noChangeAspect="1"/>
          </p:cNvPicPr>
          <p:nvPr/>
        </p:nvPicPr>
        <p:blipFill>
          <a:blip r:embed="rId3"/>
          <a:stretch>
            <a:fillRect/>
          </a:stretch>
        </p:blipFill>
        <p:spPr>
          <a:xfrm>
            <a:off x="338736" y="1721428"/>
            <a:ext cx="5716178" cy="4070376"/>
          </a:xfrm>
          <a:prstGeom prst="rect">
            <a:avLst/>
          </a:prstGeom>
        </p:spPr>
      </p:pic>
      <p:sp>
        <p:nvSpPr>
          <p:cNvPr id="5" name="Title 1">
            <a:extLst>
              <a:ext uri="{FF2B5EF4-FFF2-40B4-BE49-F238E27FC236}">
                <a16:creationId xmlns:a16="http://schemas.microsoft.com/office/drawing/2014/main" id="{D14F9C9A-1F03-03B3-F173-3ADEE8F6ADC2}"/>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(1/3)</a:t>
            </a:r>
          </a:p>
        </p:txBody>
      </p:sp>
    </p:spTree>
    <p:extLst>
      <p:ext uri="{BB962C8B-B14F-4D97-AF65-F5344CB8AC3E}">
        <p14:creationId xmlns:p14="http://schemas.microsoft.com/office/powerpoint/2010/main" val="205065621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CC26-9E43-A366-544B-4BEB0D4E5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4FAAD-1C61-C39A-CE87-E616565DBFC5}"/>
              </a:ext>
            </a:extLst>
          </p:cNvPr>
          <p:cNvSpPr>
            <a:spLocks noGrp="1"/>
          </p:cNvSpPr>
          <p:nvPr>
            <p:ph type="title"/>
          </p:nvPr>
        </p:nvSpPr>
        <p:spPr/>
        <p:txBody>
          <a:bodyPr/>
          <a:lstStyle/>
          <a:p>
            <a:r>
              <a:rPr lang="en-US" dirty="0"/>
              <a:t>3. Methodology</a:t>
            </a:r>
          </a:p>
        </p:txBody>
      </p:sp>
      <p:sp>
        <p:nvSpPr>
          <p:cNvPr id="4" name="Slide Number Placeholder 3">
            <a:extLst>
              <a:ext uri="{FF2B5EF4-FFF2-40B4-BE49-F238E27FC236}">
                <a16:creationId xmlns:a16="http://schemas.microsoft.com/office/drawing/2014/main" id="{DC5BDD0A-3EAC-03C2-82F8-281AF1F4EEC7}"/>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6" name="Content Placeholder 2">
            <a:extLst>
              <a:ext uri="{FF2B5EF4-FFF2-40B4-BE49-F238E27FC236}">
                <a16:creationId xmlns:a16="http://schemas.microsoft.com/office/drawing/2014/main" id="{00FF9723-4B0D-FB68-9B16-2E880148FE94}"/>
              </a:ext>
            </a:extLst>
          </p:cNvPr>
          <p:cNvSpPr txBox="1">
            <a:spLocks/>
          </p:cNvSpPr>
          <p:nvPr/>
        </p:nvSpPr>
        <p:spPr>
          <a:xfrm>
            <a:off x="606392" y="1066196"/>
            <a:ext cx="5530696"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Baseline Architectures</a:t>
            </a:r>
          </a:p>
        </p:txBody>
      </p:sp>
      <p:pic>
        <p:nvPicPr>
          <p:cNvPr id="5" name="Picture 4">
            <a:extLst>
              <a:ext uri="{FF2B5EF4-FFF2-40B4-BE49-F238E27FC236}">
                <a16:creationId xmlns:a16="http://schemas.microsoft.com/office/drawing/2014/main" id="{C8BED635-461F-8CDA-7B5D-82F7F2ACCA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3823" y="1868766"/>
            <a:ext cx="6538177" cy="3843702"/>
          </a:xfrm>
          <a:prstGeom prst="rect">
            <a:avLst/>
          </a:prstGeom>
        </p:spPr>
      </p:pic>
      <p:sp>
        <p:nvSpPr>
          <p:cNvPr id="10" name="Content Placeholder 2">
            <a:extLst>
              <a:ext uri="{FF2B5EF4-FFF2-40B4-BE49-F238E27FC236}">
                <a16:creationId xmlns:a16="http://schemas.microsoft.com/office/drawing/2014/main" id="{0483E513-C123-A0C1-3583-F5950E25068D}"/>
              </a:ext>
            </a:extLst>
          </p:cNvPr>
          <p:cNvSpPr txBox="1">
            <a:spLocks/>
          </p:cNvSpPr>
          <p:nvPr/>
        </p:nvSpPr>
        <p:spPr>
          <a:xfrm>
            <a:off x="6157563" y="1066195"/>
            <a:ext cx="5530696"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Hybrid Architecture</a:t>
            </a:r>
          </a:p>
        </p:txBody>
      </p:sp>
      <p:pic>
        <p:nvPicPr>
          <p:cNvPr id="13" name="Picture 12">
            <a:extLst>
              <a:ext uri="{FF2B5EF4-FFF2-40B4-BE49-F238E27FC236}">
                <a16:creationId xmlns:a16="http://schemas.microsoft.com/office/drawing/2014/main" id="{415BC474-A459-2DEA-165C-5FAF60E85246}"/>
              </a:ext>
            </a:extLst>
          </p:cNvPr>
          <p:cNvPicPr>
            <a:picLocks noChangeAspect="1"/>
          </p:cNvPicPr>
          <p:nvPr/>
        </p:nvPicPr>
        <p:blipFill>
          <a:blip r:embed="rId4"/>
          <a:stretch>
            <a:fillRect/>
          </a:stretch>
        </p:blipFill>
        <p:spPr>
          <a:xfrm>
            <a:off x="214732" y="2703592"/>
            <a:ext cx="4275785" cy="325001"/>
          </a:xfrm>
          <a:prstGeom prst="rect">
            <a:avLst/>
          </a:prstGeom>
        </p:spPr>
      </p:pic>
      <p:pic>
        <p:nvPicPr>
          <p:cNvPr id="15" name="Picture 14">
            <a:extLst>
              <a:ext uri="{FF2B5EF4-FFF2-40B4-BE49-F238E27FC236}">
                <a16:creationId xmlns:a16="http://schemas.microsoft.com/office/drawing/2014/main" id="{824DDB98-FF03-9F53-9A80-235E41544850}"/>
              </a:ext>
            </a:extLst>
          </p:cNvPr>
          <p:cNvPicPr>
            <a:picLocks noChangeAspect="1"/>
          </p:cNvPicPr>
          <p:nvPr/>
        </p:nvPicPr>
        <p:blipFill>
          <a:blip r:embed="rId5"/>
          <a:stretch>
            <a:fillRect/>
          </a:stretch>
        </p:blipFill>
        <p:spPr>
          <a:xfrm>
            <a:off x="214733" y="1835777"/>
            <a:ext cx="4275786" cy="411329"/>
          </a:xfrm>
          <a:prstGeom prst="rect">
            <a:avLst/>
          </a:prstGeom>
        </p:spPr>
      </p:pic>
      <p:pic>
        <p:nvPicPr>
          <p:cNvPr id="17" name="Picture 16">
            <a:extLst>
              <a:ext uri="{FF2B5EF4-FFF2-40B4-BE49-F238E27FC236}">
                <a16:creationId xmlns:a16="http://schemas.microsoft.com/office/drawing/2014/main" id="{6048BBAB-6C7A-8A41-03EE-0F8BE2849988}"/>
              </a:ext>
            </a:extLst>
          </p:cNvPr>
          <p:cNvPicPr>
            <a:picLocks noChangeAspect="1"/>
          </p:cNvPicPr>
          <p:nvPr/>
        </p:nvPicPr>
        <p:blipFill>
          <a:blip r:embed="rId6"/>
          <a:stretch>
            <a:fillRect/>
          </a:stretch>
        </p:blipFill>
        <p:spPr>
          <a:xfrm>
            <a:off x="214733" y="3546241"/>
            <a:ext cx="4275784" cy="396094"/>
          </a:xfrm>
          <a:prstGeom prst="rect">
            <a:avLst/>
          </a:prstGeom>
        </p:spPr>
      </p:pic>
      <p:pic>
        <p:nvPicPr>
          <p:cNvPr id="19" name="Picture 18">
            <a:extLst>
              <a:ext uri="{FF2B5EF4-FFF2-40B4-BE49-F238E27FC236}">
                <a16:creationId xmlns:a16="http://schemas.microsoft.com/office/drawing/2014/main" id="{FC240335-1C47-C28A-85D7-7FC4790B85C5}"/>
              </a:ext>
            </a:extLst>
          </p:cNvPr>
          <p:cNvPicPr>
            <a:picLocks noChangeAspect="1"/>
          </p:cNvPicPr>
          <p:nvPr/>
        </p:nvPicPr>
        <p:blipFill>
          <a:blip r:embed="rId7"/>
          <a:stretch>
            <a:fillRect/>
          </a:stretch>
        </p:blipFill>
        <p:spPr>
          <a:xfrm>
            <a:off x="211035" y="4296574"/>
            <a:ext cx="4275784" cy="523047"/>
          </a:xfrm>
          <a:prstGeom prst="rect">
            <a:avLst/>
          </a:prstGeom>
        </p:spPr>
      </p:pic>
      <p:pic>
        <p:nvPicPr>
          <p:cNvPr id="21" name="Picture 20">
            <a:extLst>
              <a:ext uri="{FF2B5EF4-FFF2-40B4-BE49-F238E27FC236}">
                <a16:creationId xmlns:a16="http://schemas.microsoft.com/office/drawing/2014/main" id="{099B7BF1-6C9C-25F5-34D7-F60D7BCC0898}"/>
              </a:ext>
            </a:extLst>
          </p:cNvPr>
          <p:cNvPicPr>
            <a:picLocks noChangeAspect="1"/>
          </p:cNvPicPr>
          <p:nvPr/>
        </p:nvPicPr>
        <p:blipFill>
          <a:blip r:embed="rId8"/>
          <a:stretch>
            <a:fillRect/>
          </a:stretch>
        </p:blipFill>
        <p:spPr>
          <a:xfrm>
            <a:off x="211035" y="5151960"/>
            <a:ext cx="4275784" cy="639844"/>
          </a:xfrm>
          <a:prstGeom prst="rect">
            <a:avLst/>
          </a:prstGeom>
        </p:spPr>
      </p:pic>
      <p:sp>
        <p:nvSpPr>
          <p:cNvPr id="7" name="Title 1">
            <a:extLst>
              <a:ext uri="{FF2B5EF4-FFF2-40B4-BE49-F238E27FC236}">
                <a16:creationId xmlns:a16="http://schemas.microsoft.com/office/drawing/2014/main" id="{AB9F95A2-849D-22F6-D123-5150D8357207}"/>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(2/3)</a:t>
            </a:r>
          </a:p>
        </p:txBody>
      </p:sp>
    </p:spTree>
    <p:extLst>
      <p:ext uri="{BB962C8B-B14F-4D97-AF65-F5344CB8AC3E}">
        <p14:creationId xmlns:p14="http://schemas.microsoft.com/office/powerpoint/2010/main" val="197954796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2A1B0-03CB-8FAE-1DE6-107507C42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24DCC-B8BD-2825-000B-193B6267B1E6}"/>
              </a:ext>
            </a:extLst>
          </p:cNvPr>
          <p:cNvSpPr>
            <a:spLocks noGrp="1"/>
          </p:cNvSpPr>
          <p:nvPr>
            <p:ph type="title"/>
          </p:nvPr>
        </p:nvSpPr>
        <p:spPr/>
        <p:txBody>
          <a:bodyPr/>
          <a:lstStyle/>
          <a:p>
            <a:r>
              <a:rPr lang="en-US" dirty="0"/>
              <a:t>3. Methodology</a:t>
            </a:r>
          </a:p>
        </p:txBody>
      </p:sp>
      <p:sp>
        <p:nvSpPr>
          <p:cNvPr id="4" name="Slide Number Placeholder 3">
            <a:extLst>
              <a:ext uri="{FF2B5EF4-FFF2-40B4-BE49-F238E27FC236}">
                <a16:creationId xmlns:a16="http://schemas.microsoft.com/office/drawing/2014/main" id="{07BE7814-C9B0-2F03-34AB-A55B1630CA2A}"/>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6" name="Content Placeholder 2">
            <a:extLst>
              <a:ext uri="{FF2B5EF4-FFF2-40B4-BE49-F238E27FC236}">
                <a16:creationId xmlns:a16="http://schemas.microsoft.com/office/drawing/2014/main" id="{BA9194A5-FB72-2F61-203D-179183D4CAEA}"/>
              </a:ext>
            </a:extLst>
          </p:cNvPr>
          <p:cNvSpPr txBox="1">
            <a:spLocks/>
          </p:cNvSpPr>
          <p:nvPr/>
        </p:nvSpPr>
        <p:spPr>
          <a:xfrm>
            <a:off x="606392" y="1066196"/>
            <a:ext cx="5530696"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Evaluation Protocol</a:t>
            </a:r>
          </a:p>
        </p:txBody>
      </p:sp>
      <p:pic>
        <p:nvPicPr>
          <p:cNvPr id="7" name="Picture 6">
            <a:extLst>
              <a:ext uri="{FF2B5EF4-FFF2-40B4-BE49-F238E27FC236}">
                <a16:creationId xmlns:a16="http://schemas.microsoft.com/office/drawing/2014/main" id="{90F1CDD6-C04E-079E-71D7-B5C17525BA17}"/>
              </a:ext>
            </a:extLst>
          </p:cNvPr>
          <p:cNvPicPr>
            <a:picLocks noChangeAspect="1"/>
          </p:cNvPicPr>
          <p:nvPr/>
        </p:nvPicPr>
        <p:blipFill>
          <a:blip r:embed="rId3"/>
          <a:stretch>
            <a:fillRect/>
          </a:stretch>
        </p:blipFill>
        <p:spPr>
          <a:xfrm>
            <a:off x="2611000" y="1723869"/>
            <a:ext cx="5849956" cy="4479492"/>
          </a:xfrm>
          <a:prstGeom prst="rect">
            <a:avLst/>
          </a:prstGeom>
        </p:spPr>
      </p:pic>
      <p:sp>
        <p:nvSpPr>
          <p:cNvPr id="10" name="Arrow: Right 9">
            <a:extLst>
              <a:ext uri="{FF2B5EF4-FFF2-40B4-BE49-F238E27FC236}">
                <a16:creationId xmlns:a16="http://schemas.microsoft.com/office/drawing/2014/main" id="{D4F4479F-564A-B2C4-1CAF-B03D67E00770}"/>
              </a:ext>
            </a:extLst>
          </p:cNvPr>
          <p:cNvSpPr/>
          <p:nvPr/>
        </p:nvSpPr>
        <p:spPr>
          <a:xfrm rot="1571865">
            <a:off x="1705843" y="2592708"/>
            <a:ext cx="999545" cy="1843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182A5D87-E90F-F131-FEC6-50A40A26774B}"/>
              </a:ext>
            </a:extLst>
          </p:cNvPr>
          <p:cNvSpPr/>
          <p:nvPr/>
        </p:nvSpPr>
        <p:spPr>
          <a:xfrm rot="1571865">
            <a:off x="1842434" y="3748623"/>
            <a:ext cx="999545" cy="1843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EC4A14D5-CF95-714D-0DC4-09E3A76D9759}"/>
              </a:ext>
            </a:extLst>
          </p:cNvPr>
          <p:cNvSpPr/>
          <p:nvPr/>
        </p:nvSpPr>
        <p:spPr>
          <a:xfrm rot="1571865">
            <a:off x="2236798" y="4904540"/>
            <a:ext cx="999545" cy="1843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D24816C-82FE-1020-58E8-359DA3C22452}"/>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(3/3)</a:t>
            </a:r>
          </a:p>
        </p:txBody>
      </p:sp>
    </p:spTree>
    <p:extLst>
      <p:ext uri="{BB962C8B-B14F-4D97-AF65-F5344CB8AC3E}">
        <p14:creationId xmlns:p14="http://schemas.microsoft.com/office/powerpoint/2010/main" val="233490726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8AFE-4F1B-4F41-AE26-2117BEC47B3D}"/>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296C011B-E794-1FD4-5A0D-C7E7C82DFA52}"/>
              </a:ext>
            </a:extLst>
          </p:cNvPr>
          <p:cNvPicPr>
            <a:picLocks noChangeAspect="1"/>
          </p:cNvPicPr>
          <p:nvPr/>
        </p:nvPicPr>
        <p:blipFill>
          <a:blip r:embed="rId3"/>
          <a:stretch>
            <a:fillRect/>
          </a:stretch>
        </p:blipFill>
        <p:spPr>
          <a:xfrm>
            <a:off x="6357933" y="1066195"/>
            <a:ext cx="5541777" cy="4796328"/>
          </a:xfrm>
          <a:prstGeom prst="rect">
            <a:avLst/>
          </a:prstGeom>
        </p:spPr>
      </p:pic>
      <p:sp>
        <p:nvSpPr>
          <p:cNvPr id="2" name="Title 1">
            <a:extLst>
              <a:ext uri="{FF2B5EF4-FFF2-40B4-BE49-F238E27FC236}">
                <a16:creationId xmlns:a16="http://schemas.microsoft.com/office/drawing/2014/main" id="{7480E6D6-17B6-B239-2FD7-B4FFD92C8BD3}"/>
              </a:ext>
            </a:extLst>
          </p:cNvPr>
          <p:cNvSpPr>
            <a:spLocks noGrp="1"/>
          </p:cNvSpPr>
          <p:nvPr>
            <p:ph type="title"/>
          </p:nvPr>
        </p:nvSpPr>
        <p:spPr/>
        <p:txBody>
          <a:bodyPr/>
          <a:lstStyle/>
          <a:p>
            <a:r>
              <a:rPr lang="en-US" dirty="0"/>
              <a:t>4. Experimental Results</a:t>
            </a:r>
          </a:p>
        </p:txBody>
      </p:sp>
      <p:sp>
        <p:nvSpPr>
          <p:cNvPr id="4" name="Slide Number Placeholder 3">
            <a:extLst>
              <a:ext uri="{FF2B5EF4-FFF2-40B4-BE49-F238E27FC236}">
                <a16:creationId xmlns:a16="http://schemas.microsoft.com/office/drawing/2014/main" id="{A01818CD-1FEB-F5B3-280A-C31DAD3FC0AA}"/>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6" name="Content Placeholder 2">
            <a:extLst>
              <a:ext uri="{FF2B5EF4-FFF2-40B4-BE49-F238E27FC236}">
                <a16:creationId xmlns:a16="http://schemas.microsoft.com/office/drawing/2014/main" id="{4C34C947-20BD-2A6D-77D8-FB0FFDCD9FEF}"/>
              </a:ext>
            </a:extLst>
          </p:cNvPr>
          <p:cNvSpPr txBox="1">
            <a:spLocks/>
          </p:cNvSpPr>
          <p:nvPr/>
        </p:nvSpPr>
        <p:spPr>
          <a:xfrm>
            <a:off x="606391" y="1066196"/>
            <a:ext cx="6091863"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Baseline Models - CMOSE in-domain</a:t>
            </a:r>
          </a:p>
        </p:txBody>
      </p:sp>
      <p:sp>
        <p:nvSpPr>
          <p:cNvPr id="13" name="Content Placeholder 2">
            <a:extLst>
              <a:ext uri="{FF2B5EF4-FFF2-40B4-BE49-F238E27FC236}">
                <a16:creationId xmlns:a16="http://schemas.microsoft.com/office/drawing/2014/main" id="{F0907946-BA00-7EA5-A28D-FE73AAA3C124}"/>
              </a:ext>
            </a:extLst>
          </p:cNvPr>
          <p:cNvSpPr txBox="1">
            <a:spLocks/>
          </p:cNvSpPr>
          <p:nvPr/>
        </p:nvSpPr>
        <p:spPr>
          <a:xfrm>
            <a:off x="1480335" y="5753168"/>
            <a:ext cx="3361517" cy="5314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QWK</a:t>
            </a:r>
          </a:p>
        </p:txBody>
      </p:sp>
      <p:pic>
        <p:nvPicPr>
          <p:cNvPr id="21" name="Picture 20">
            <a:extLst>
              <a:ext uri="{FF2B5EF4-FFF2-40B4-BE49-F238E27FC236}">
                <a16:creationId xmlns:a16="http://schemas.microsoft.com/office/drawing/2014/main" id="{7433CCF9-3AB3-9B11-6D57-F2FC02371B00}"/>
              </a:ext>
            </a:extLst>
          </p:cNvPr>
          <p:cNvPicPr>
            <a:picLocks noChangeAspect="1"/>
          </p:cNvPicPr>
          <p:nvPr/>
        </p:nvPicPr>
        <p:blipFill>
          <a:blip r:embed="rId4"/>
          <a:stretch>
            <a:fillRect/>
          </a:stretch>
        </p:blipFill>
        <p:spPr>
          <a:xfrm>
            <a:off x="418641" y="1806419"/>
            <a:ext cx="5484906" cy="3762531"/>
          </a:xfrm>
          <a:prstGeom prst="rect">
            <a:avLst/>
          </a:prstGeom>
        </p:spPr>
      </p:pic>
      <p:sp>
        <p:nvSpPr>
          <p:cNvPr id="23" name="Arrow: Right 22">
            <a:extLst>
              <a:ext uri="{FF2B5EF4-FFF2-40B4-BE49-F238E27FC236}">
                <a16:creationId xmlns:a16="http://schemas.microsoft.com/office/drawing/2014/main" id="{449B3195-0165-E8D0-02C9-2F3C84D3DAE6}"/>
              </a:ext>
            </a:extLst>
          </p:cNvPr>
          <p:cNvSpPr/>
          <p:nvPr/>
        </p:nvSpPr>
        <p:spPr>
          <a:xfrm rot="1571865">
            <a:off x="741920" y="1777934"/>
            <a:ext cx="999545" cy="1843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982511B6-A89D-4441-3153-C6F92D66751B}"/>
              </a:ext>
            </a:extLst>
          </p:cNvPr>
          <p:cNvSpPr txBox="1">
            <a:spLocks/>
          </p:cNvSpPr>
          <p:nvPr/>
        </p:nvSpPr>
        <p:spPr>
          <a:xfrm>
            <a:off x="7971167" y="5753168"/>
            <a:ext cx="3361517" cy="5314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Agreement Matrix</a:t>
            </a:r>
          </a:p>
        </p:txBody>
      </p:sp>
      <p:sp>
        <p:nvSpPr>
          <p:cNvPr id="5" name="Title 1">
            <a:extLst>
              <a:ext uri="{FF2B5EF4-FFF2-40B4-BE49-F238E27FC236}">
                <a16:creationId xmlns:a16="http://schemas.microsoft.com/office/drawing/2014/main" id="{48D08D53-5814-2272-1CC3-4449FFD1EAC7}"/>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(1/4)</a:t>
            </a:r>
          </a:p>
        </p:txBody>
      </p:sp>
    </p:spTree>
    <p:extLst>
      <p:ext uri="{BB962C8B-B14F-4D97-AF65-F5344CB8AC3E}">
        <p14:creationId xmlns:p14="http://schemas.microsoft.com/office/powerpoint/2010/main" val="426851995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2BAC-6802-15E0-0B7A-45A853A5D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6617E-E988-5547-09F2-1A1D1640B757}"/>
              </a:ext>
            </a:extLst>
          </p:cNvPr>
          <p:cNvSpPr>
            <a:spLocks noGrp="1"/>
          </p:cNvSpPr>
          <p:nvPr>
            <p:ph type="title"/>
          </p:nvPr>
        </p:nvSpPr>
        <p:spPr/>
        <p:txBody>
          <a:bodyPr/>
          <a:lstStyle/>
          <a:p>
            <a:r>
              <a:rPr lang="en-US" dirty="0"/>
              <a:t>4. Experimental Results</a:t>
            </a:r>
          </a:p>
        </p:txBody>
      </p:sp>
      <p:sp>
        <p:nvSpPr>
          <p:cNvPr id="4" name="Slide Number Placeholder 3">
            <a:extLst>
              <a:ext uri="{FF2B5EF4-FFF2-40B4-BE49-F238E27FC236}">
                <a16:creationId xmlns:a16="http://schemas.microsoft.com/office/drawing/2014/main" id="{38B2FAD5-5D95-08F0-F5CB-910D75EBB76B}"/>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6" name="Content Placeholder 2">
            <a:extLst>
              <a:ext uri="{FF2B5EF4-FFF2-40B4-BE49-F238E27FC236}">
                <a16:creationId xmlns:a16="http://schemas.microsoft.com/office/drawing/2014/main" id="{EA19482C-0A98-AA26-9096-A5440C499669}"/>
              </a:ext>
            </a:extLst>
          </p:cNvPr>
          <p:cNvSpPr txBox="1">
            <a:spLocks/>
          </p:cNvSpPr>
          <p:nvPr/>
        </p:nvSpPr>
        <p:spPr>
          <a:xfrm>
            <a:off x="606392" y="1066196"/>
            <a:ext cx="10427846"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Proposed Hybrid Models Ablation – CMOSE in-domain</a:t>
            </a:r>
          </a:p>
        </p:txBody>
      </p:sp>
      <p:pic>
        <p:nvPicPr>
          <p:cNvPr id="10" name="Picture 9">
            <a:extLst>
              <a:ext uri="{FF2B5EF4-FFF2-40B4-BE49-F238E27FC236}">
                <a16:creationId xmlns:a16="http://schemas.microsoft.com/office/drawing/2014/main" id="{F5A1CE26-5814-3290-6AD0-54CC275C621C}"/>
              </a:ext>
            </a:extLst>
          </p:cNvPr>
          <p:cNvPicPr>
            <a:picLocks noChangeAspect="1"/>
          </p:cNvPicPr>
          <p:nvPr/>
        </p:nvPicPr>
        <p:blipFill>
          <a:blip r:embed="rId3"/>
          <a:stretch>
            <a:fillRect/>
          </a:stretch>
        </p:blipFill>
        <p:spPr>
          <a:xfrm>
            <a:off x="338736" y="1723869"/>
            <a:ext cx="6953072" cy="4268287"/>
          </a:xfrm>
          <a:prstGeom prst="rect">
            <a:avLst/>
          </a:prstGeom>
        </p:spPr>
      </p:pic>
      <p:pic>
        <p:nvPicPr>
          <p:cNvPr id="13" name="Picture 12">
            <a:extLst>
              <a:ext uri="{FF2B5EF4-FFF2-40B4-BE49-F238E27FC236}">
                <a16:creationId xmlns:a16="http://schemas.microsoft.com/office/drawing/2014/main" id="{07EC794A-742D-3724-EAD9-2F3E4C354D14}"/>
              </a:ext>
            </a:extLst>
          </p:cNvPr>
          <p:cNvPicPr>
            <a:picLocks noChangeAspect="1"/>
          </p:cNvPicPr>
          <p:nvPr/>
        </p:nvPicPr>
        <p:blipFill>
          <a:blip r:embed="rId4"/>
          <a:stretch>
            <a:fillRect/>
          </a:stretch>
        </p:blipFill>
        <p:spPr>
          <a:xfrm>
            <a:off x="7460870" y="2745946"/>
            <a:ext cx="4640887" cy="2243652"/>
          </a:xfrm>
          <a:prstGeom prst="rect">
            <a:avLst/>
          </a:prstGeom>
        </p:spPr>
      </p:pic>
      <p:sp>
        <p:nvSpPr>
          <p:cNvPr id="17" name="Title 1">
            <a:extLst>
              <a:ext uri="{FF2B5EF4-FFF2-40B4-BE49-F238E27FC236}">
                <a16:creationId xmlns:a16="http://schemas.microsoft.com/office/drawing/2014/main" id="{2569B514-91EC-5BFB-E813-D9823744DAE4}"/>
              </a:ext>
            </a:extLst>
          </p:cNvPr>
          <p:cNvSpPr txBox="1">
            <a:spLocks/>
          </p:cNvSpPr>
          <p:nvPr/>
        </p:nvSpPr>
        <p:spPr>
          <a:xfrm>
            <a:off x="491136" y="264943"/>
            <a:ext cx="11514528"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Title 1">
            <a:extLst>
              <a:ext uri="{FF2B5EF4-FFF2-40B4-BE49-F238E27FC236}">
                <a16:creationId xmlns:a16="http://schemas.microsoft.com/office/drawing/2014/main" id="{703992DD-398C-A246-95E5-918707F3D34C}"/>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(2/4)</a:t>
            </a:r>
          </a:p>
        </p:txBody>
      </p:sp>
    </p:spTree>
    <p:extLst>
      <p:ext uri="{BB962C8B-B14F-4D97-AF65-F5344CB8AC3E}">
        <p14:creationId xmlns:p14="http://schemas.microsoft.com/office/powerpoint/2010/main" val="426075716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4580A-BE57-5E95-9F33-2B8824D09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CA2FA-6BEB-4E0C-B519-4E15A61D8F84}"/>
              </a:ext>
            </a:extLst>
          </p:cNvPr>
          <p:cNvSpPr>
            <a:spLocks noGrp="1"/>
          </p:cNvSpPr>
          <p:nvPr>
            <p:ph type="title"/>
          </p:nvPr>
        </p:nvSpPr>
        <p:spPr/>
        <p:txBody>
          <a:bodyPr/>
          <a:lstStyle/>
          <a:p>
            <a:r>
              <a:rPr lang="en-US" dirty="0"/>
              <a:t>4. Experimental Results</a:t>
            </a:r>
          </a:p>
        </p:txBody>
      </p:sp>
      <p:sp>
        <p:nvSpPr>
          <p:cNvPr id="4" name="Slide Number Placeholder 3">
            <a:extLst>
              <a:ext uri="{FF2B5EF4-FFF2-40B4-BE49-F238E27FC236}">
                <a16:creationId xmlns:a16="http://schemas.microsoft.com/office/drawing/2014/main" id="{38C7C5A3-9BE1-E411-6A6C-D8B433C19CD8}"/>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6" name="Content Placeholder 2">
            <a:extLst>
              <a:ext uri="{FF2B5EF4-FFF2-40B4-BE49-F238E27FC236}">
                <a16:creationId xmlns:a16="http://schemas.microsoft.com/office/drawing/2014/main" id="{8DC1395E-F770-3AD2-D67E-A6DAA0F63D57}"/>
              </a:ext>
            </a:extLst>
          </p:cNvPr>
          <p:cNvSpPr txBox="1">
            <a:spLocks/>
          </p:cNvSpPr>
          <p:nvPr/>
        </p:nvSpPr>
        <p:spPr>
          <a:xfrm>
            <a:off x="606392" y="1066196"/>
            <a:ext cx="5298462"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Cross Dataset Generalization</a:t>
            </a:r>
          </a:p>
        </p:txBody>
      </p:sp>
      <p:pic>
        <p:nvPicPr>
          <p:cNvPr id="5" name="Picture 4">
            <a:extLst>
              <a:ext uri="{FF2B5EF4-FFF2-40B4-BE49-F238E27FC236}">
                <a16:creationId xmlns:a16="http://schemas.microsoft.com/office/drawing/2014/main" id="{30D24CB5-E1A2-1BF5-532B-96ECD16E426C}"/>
              </a:ext>
            </a:extLst>
          </p:cNvPr>
          <p:cNvPicPr>
            <a:picLocks noChangeAspect="1"/>
          </p:cNvPicPr>
          <p:nvPr/>
        </p:nvPicPr>
        <p:blipFill>
          <a:blip r:embed="rId3"/>
          <a:stretch>
            <a:fillRect/>
          </a:stretch>
        </p:blipFill>
        <p:spPr>
          <a:xfrm>
            <a:off x="749225" y="1721428"/>
            <a:ext cx="5155629" cy="4099464"/>
          </a:xfrm>
          <a:prstGeom prst="rect">
            <a:avLst/>
          </a:prstGeom>
        </p:spPr>
      </p:pic>
      <p:pic>
        <p:nvPicPr>
          <p:cNvPr id="10" name="Picture 9">
            <a:extLst>
              <a:ext uri="{FF2B5EF4-FFF2-40B4-BE49-F238E27FC236}">
                <a16:creationId xmlns:a16="http://schemas.microsoft.com/office/drawing/2014/main" id="{CAD5EC11-3928-E2BE-9F35-DC4E45F467F0}"/>
              </a:ext>
            </a:extLst>
          </p:cNvPr>
          <p:cNvPicPr>
            <a:picLocks noChangeAspect="1"/>
          </p:cNvPicPr>
          <p:nvPr/>
        </p:nvPicPr>
        <p:blipFill>
          <a:blip r:embed="rId4"/>
          <a:stretch>
            <a:fillRect/>
          </a:stretch>
        </p:blipFill>
        <p:spPr>
          <a:xfrm>
            <a:off x="6429979" y="1721428"/>
            <a:ext cx="5155629" cy="4099464"/>
          </a:xfrm>
          <a:prstGeom prst="rect">
            <a:avLst/>
          </a:prstGeom>
        </p:spPr>
      </p:pic>
      <p:sp>
        <p:nvSpPr>
          <p:cNvPr id="7" name="Title 1">
            <a:extLst>
              <a:ext uri="{FF2B5EF4-FFF2-40B4-BE49-F238E27FC236}">
                <a16:creationId xmlns:a16="http://schemas.microsoft.com/office/drawing/2014/main" id="{6CA9A1CD-A40B-DA89-A478-DCD817397B9B}"/>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(3/4)</a:t>
            </a:r>
          </a:p>
        </p:txBody>
      </p:sp>
    </p:spTree>
    <p:extLst>
      <p:ext uri="{BB962C8B-B14F-4D97-AF65-F5344CB8AC3E}">
        <p14:creationId xmlns:p14="http://schemas.microsoft.com/office/powerpoint/2010/main" val="251111659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D502-B2AD-CC10-1B2F-7F66F5C0D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5A1E8-0EA0-3E7C-F673-64BE3151800F}"/>
              </a:ext>
            </a:extLst>
          </p:cNvPr>
          <p:cNvSpPr>
            <a:spLocks noGrp="1"/>
          </p:cNvSpPr>
          <p:nvPr>
            <p:ph type="title"/>
          </p:nvPr>
        </p:nvSpPr>
        <p:spPr/>
        <p:txBody>
          <a:bodyPr/>
          <a:lstStyle/>
          <a:p>
            <a:r>
              <a:rPr lang="en-US"/>
              <a:t>4. Experimental Results</a:t>
            </a:r>
            <a:endParaRPr lang="en-US" dirty="0"/>
          </a:p>
        </p:txBody>
      </p:sp>
      <p:sp>
        <p:nvSpPr>
          <p:cNvPr id="4" name="Slide Number Placeholder 3">
            <a:extLst>
              <a:ext uri="{FF2B5EF4-FFF2-40B4-BE49-F238E27FC236}">
                <a16:creationId xmlns:a16="http://schemas.microsoft.com/office/drawing/2014/main" id="{D3CC0500-8ADB-7193-6812-1D0F5D3FE16A}"/>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6" name="Content Placeholder 2">
            <a:extLst>
              <a:ext uri="{FF2B5EF4-FFF2-40B4-BE49-F238E27FC236}">
                <a16:creationId xmlns:a16="http://schemas.microsoft.com/office/drawing/2014/main" id="{B2014618-04BB-7844-139F-E85CA112A629}"/>
              </a:ext>
            </a:extLst>
          </p:cNvPr>
          <p:cNvSpPr txBox="1">
            <a:spLocks/>
          </p:cNvSpPr>
          <p:nvPr/>
        </p:nvSpPr>
        <p:spPr>
          <a:xfrm>
            <a:off x="606391" y="1066196"/>
            <a:ext cx="5651189"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t>Private Dataset Generalization</a:t>
            </a:r>
            <a:endParaRPr lang="en-US" b="1" dirty="0"/>
          </a:p>
        </p:txBody>
      </p:sp>
      <p:pic>
        <p:nvPicPr>
          <p:cNvPr id="5" name="Picture 4">
            <a:extLst>
              <a:ext uri="{FF2B5EF4-FFF2-40B4-BE49-F238E27FC236}">
                <a16:creationId xmlns:a16="http://schemas.microsoft.com/office/drawing/2014/main" id="{E49ABFF7-A35A-12DA-90B5-13FFD567E587}"/>
              </a:ext>
            </a:extLst>
          </p:cNvPr>
          <p:cNvPicPr>
            <a:picLocks noChangeAspect="1"/>
          </p:cNvPicPr>
          <p:nvPr/>
        </p:nvPicPr>
        <p:blipFill>
          <a:blip r:embed="rId3"/>
          <a:stretch>
            <a:fillRect/>
          </a:stretch>
        </p:blipFill>
        <p:spPr>
          <a:xfrm>
            <a:off x="5233865" y="2021358"/>
            <a:ext cx="6521741" cy="3378133"/>
          </a:xfrm>
          <a:prstGeom prst="rect">
            <a:avLst/>
          </a:prstGeom>
        </p:spPr>
      </p:pic>
      <p:sp>
        <p:nvSpPr>
          <p:cNvPr id="9" name="Title 1">
            <a:extLst>
              <a:ext uri="{FF2B5EF4-FFF2-40B4-BE49-F238E27FC236}">
                <a16:creationId xmlns:a16="http://schemas.microsoft.com/office/drawing/2014/main" id="{81F3E208-CF33-B1C0-B10A-85E888E16A79}"/>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(4/4)</a:t>
            </a:r>
          </a:p>
        </p:txBody>
      </p:sp>
      <p:pic>
        <p:nvPicPr>
          <p:cNvPr id="11" name="Picture 10">
            <a:extLst>
              <a:ext uri="{FF2B5EF4-FFF2-40B4-BE49-F238E27FC236}">
                <a16:creationId xmlns:a16="http://schemas.microsoft.com/office/drawing/2014/main" id="{66C8EF15-431E-6083-E5FF-9F8A2CC383FD}"/>
              </a:ext>
            </a:extLst>
          </p:cNvPr>
          <p:cNvPicPr>
            <a:picLocks noChangeAspect="1"/>
          </p:cNvPicPr>
          <p:nvPr/>
        </p:nvPicPr>
        <p:blipFill>
          <a:blip r:embed="rId4"/>
          <a:stretch>
            <a:fillRect/>
          </a:stretch>
        </p:blipFill>
        <p:spPr>
          <a:xfrm>
            <a:off x="436394" y="2131390"/>
            <a:ext cx="4920710" cy="3158067"/>
          </a:xfrm>
          <a:prstGeom prst="rect">
            <a:avLst/>
          </a:prstGeom>
        </p:spPr>
      </p:pic>
    </p:spTree>
    <p:extLst>
      <p:ext uri="{BB962C8B-B14F-4D97-AF65-F5344CB8AC3E}">
        <p14:creationId xmlns:p14="http://schemas.microsoft.com/office/powerpoint/2010/main" val="104969549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0F1A1-DDFF-AA0E-69AD-FE4FAAF0E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A55DC-F4F1-76ED-C231-378BB0BF79B9}"/>
              </a:ext>
            </a:extLst>
          </p:cNvPr>
          <p:cNvSpPr>
            <a:spLocks noGrp="1"/>
          </p:cNvSpPr>
          <p:nvPr>
            <p:ph type="title"/>
          </p:nvPr>
        </p:nvSpPr>
        <p:spPr/>
        <p:txBody>
          <a:bodyPr/>
          <a:lstStyle/>
          <a:p>
            <a:r>
              <a:rPr lang="en-US" dirty="0"/>
              <a:t>5. Conclusions</a:t>
            </a:r>
          </a:p>
        </p:txBody>
      </p:sp>
      <p:sp>
        <p:nvSpPr>
          <p:cNvPr id="4" name="Slide Number Placeholder 3">
            <a:extLst>
              <a:ext uri="{FF2B5EF4-FFF2-40B4-BE49-F238E27FC236}">
                <a16:creationId xmlns:a16="http://schemas.microsoft.com/office/drawing/2014/main" id="{9224CCEF-90E0-33FB-15F8-DB634A8382E7}"/>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6" name="Content Placeholder 2">
            <a:extLst>
              <a:ext uri="{FF2B5EF4-FFF2-40B4-BE49-F238E27FC236}">
                <a16:creationId xmlns:a16="http://schemas.microsoft.com/office/drawing/2014/main" id="{A3E9EEB9-144C-04F5-4435-5D742AFC8788}"/>
              </a:ext>
            </a:extLst>
          </p:cNvPr>
          <p:cNvSpPr txBox="1">
            <a:spLocks/>
          </p:cNvSpPr>
          <p:nvPr/>
        </p:nvSpPr>
        <p:spPr>
          <a:xfrm>
            <a:off x="606392" y="1066196"/>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Conclusions</a:t>
            </a:r>
          </a:p>
        </p:txBody>
      </p:sp>
      <p:sp>
        <p:nvSpPr>
          <p:cNvPr id="9" name="Content Placeholder 2">
            <a:extLst>
              <a:ext uri="{FF2B5EF4-FFF2-40B4-BE49-F238E27FC236}">
                <a16:creationId xmlns:a16="http://schemas.microsoft.com/office/drawing/2014/main" id="{7F205650-F212-781F-9CA2-A1CE140216C6}"/>
              </a:ext>
            </a:extLst>
          </p:cNvPr>
          <p:cNvSpPr txBox="1">
            <a:spLocks/>
          </p:cNvSpPr>
          <p:nvPr/>
        </p:nvSpPr>
        <p:spPr>
          <a:xfrm>
            <a:off x="606392" y="1850443"/>
            <a:ext cx="9870649" cy="42514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Architecture - decompose-and-fuse; +0.068 in-domain; interpretable.</a:t>
            </a:r>
          </a:p>
          <a:p>
            <a:pPr lvl="0"/>
            <a:r>
              <a:rPr lang="en-US" dirty="0"/>
              <a:t>Private dataset - 366 clips, the decisive deployment probe.</a:t>
            </a:r>
          </a:p>
          <a:p>
            <a:pPr lvl="0"/>
            <a:r>
              <a:rPr lang="en-US" dirty="0"/>
              <a:t>Generalization - transfer collapses; QWK exposes it; +0.094 on private.</a:t>
            </a:r>
          </a:p>
        </p:txBody>
      </p:sp>
      <p:sp>
        <p:nvSpPr>
          <p:cNvPr id="5" name="Title 1">
            <a:extLst>
              <a:ext uri="{FF2B5EF4-FFF2-40B4-BE49-F238E27FC236}">
                <a16:creationId xmlns:a16="http://schemas.microsoft.com/office/drawing/2014/main" id="{03F50D04-78C9-EF04-0E18-15F7E72357B9}"/>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(1/2)</a:t>
            </a:r>
          </a:p>
        </p:txBody>
      </p:sp>
    </p:spTree>
    <p:extLst>
      <p:ext uri="{BB962C8B-B14F-4D97-AF65-F5344CB8AC3E}">
        <p14:creationId xmlns:p14="http://schemas.microsoft.com/office/powerpoint/2010/main" val="2590728225"/>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265A1-6CAD-778F-7EA3-53327AA0A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13B32-7F6A-3833-6361-6F1BFC84CE7D}"/>
              </a:ext>
            </a:extLst>
          </p:cNvPr>
          <p:cNvSpPr>
            <a:spLocks noGrp="1"/>
          </p:cNvSpPr>
          <p:nvPr>
            <p:ph type="title"/>
          </p:nvPr>
        </p:nvSpPr>
        <p:spPr/>
        <p:txBody>
          <a:bodyPr/>
          <a:lstStyle/>
          <a:p>
            <a:r>
              <a:rPr lang="en-US" dirty="0"/>
              <a:t>5. Conclusions</a:t>
            </a:r>
          </a:p>
        </p:txBody>
      </p:sp>
      <p:sp>
        <p:nvSpPr>
          <p:cNvPr id="4" name="Slide Number Placeholder 3">
            <a:extLst>
              <a:ext uri="{FF2B5EF4-FFF2-40B4-BE49-F238E27FC236}">
                <a16:creationId xmlns:a16="http://schemas.microsoft.com/office/drawing/2014/main" id="{A8526D1A-64DB-15D0-FD85-C25BD899EBE8}"/>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6" name="Content Placeholder 2">
            <a:extLst>
              <a:ext uri="{FF2B5EF4-FFF2-40B4-BE49-F238E27FC236}">
                <a16:creationId xmlns:a16="http://schemas.microsoft.com/office/drawing/2014/main" id="{28E89CF2-4B88-18D2-AD27-9DF4A93AE8BF}"/>
              </a:ext>
            </a:extLst>
          </p:cNvPr>
          <p:cNvSpPr txBox="1">
            <a:spLocks/>
          </p:cNvSpPr>
          <p:nvPr/>
        </p:nvSpPr>
        <p:spPr>
          <a:xfrm>
            <a:off x="606392" y="1066196"/>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Limitations</a:t>
            </a:r>
          </a:p>
        </p:txBody>
      </p:sp>
      <p:sp>
        <p:nvSpPr>
          <p:cNvPr id="8" name="Content Placeholder 2">
            <a:extLst>
              <a:ext uri="{FF2B5EF4-FFF2-40B4-BE49-F238E27FC236}">
                <a16:creationId xmlns:a16="http://schemas.microsoft.com/office/drawing/2014/main" id="{C3D895C9-062D-5725-D67E-177569D35AC0}"/>
              </a:ext>
            </a:extLst>
          </p:cNvPr>
          <p:cNvSpPr txBox="1">
            <a:spLocks/>
          </p:cNvSpPr>
          <p:nvPr/>
        </p:nvSpPr>
        <p:spPr>
          <a:xfrm>
            <a:off x="6285530" y="1063755"/>
            <a:ext cx="4010578" cy="657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Future Work</a:t>
            </a:r>
          </a:p>
        </p:txBody>
      </p:sp>
      <p:sp>
        <p:nvSpPr>
          <p:cNvPr id="9" name="Content Placeholder 2">
            <a:extLst>
              <a:ext uri="{FF2B5EF4-FFF2-40B4-BE49-F238E27FC236}">
                <a16:creationId xmlns:a16="http://schemas.microsoft.com/office/drawing/2014/main" id="{42969DD5-7163-8D4C-2B3E-5CC0D49AE196}"/>
              </a:ext>
            </a:extLst>
          </p:cNvPr>
          <p:cNvSpPr txBox="1">
            <a:spLocks/>
          </p:cNvSpPr>
          <p:nvPr/>
        </p:nvSpPr>
        <p:spPr>
          <a:xfrm>
            <a:off x="6285530" y="1981426"/>
            <a:ext cx="5300078" cy="42514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Private dataset</a:t>
            </a:r>
          </a:p>
          <a:p>
            <a:pPr lvl="1"/>
            <a:r>
              <a:rPr lang="en-US" dirty="0"/>
              <a:t>Larger dataset</a:t>
            </a:r>
          </a:p>
          <a:p>
            <a:pPr lvl="1"/>
            <a:r>
              <a:rPr lang="en-US" dirty="0"/>
              <a:t>More structured labeling system</a:t>
            </a:r>
          </a:p>
          <a:p>
            <a:r>
              <a:rPr lang="en-US" dirty="0"/>
              <a:t>Target HD class</a:t>
            </a:r>
          </a:p>
          <a:p>
            <a:r>
              <a:rPr lang="en-US" dirty="0"/>
              <a:t>Learned group encoders</a:t>
            </a:r>
          </a:p>
        </p:txBody>
      </p:sp>
      <p:sp>
        <p:nvSpPr>
          <p:cNvPr id="5" name="Content Placeholder 2">
            <a:extLst>
              <a:ext uri="{FF2B5EF4-FFF2-40B4-BE49-F238E27FC236}">
                <a16:creationId xmlns:a16="http://schemas.microsoft.com/office/drawing/2014/main" id="{4AE519FA-7082-F2C6-8276-18657A98BA11}"/>
              </a:ext>
            </a:extLst>
          </p:cNvPr>
          <p:cNvSpPr txBox="1">
            <a:spLocks/>
          </p:cNvSpPr>
          <p:nvPr/>
        </p:nvSpPr>
        <p:spPr>
          <a:xfrm>
            <a:off x="606392" y="1982646"/>
            <a:ext cx="5113322" cy="42514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Private dataset</a:t>
            </a:r>
          </a:p>
          <a:p>
            <a:pPr lvl="1"/>
            <a:r>
              <a:rPr lang="en-US" dirty="0"/>
              <a:t>Too small -&gt; enough to train</a:t>
            </a:r>
          </a:p>
          <a:p>
            <a:pPr lvl="1"/>
            <a:r>
              <a:rPr lang="en-US" dirty="0"/>
              <a:t>Single annotator</a:t>
            </a:r>
          </a:p>
          <a:p>
            <a:r>
              <a:rPr lang="en-US" dirty="0"/>
              <a:t>Modest in-domain gain</a:t>
            </a:r>
          </a:p>
          <a:p>
            <a:pPr marL="0" indent="0">
              <a:buNone/>
            </a:pPr>
            <a:endParaRPr lang="en-US" dirty="0"/>
          </a:p>
        </p:txBody>
      </p:sp>
      <p:sp>
        <p:nvSpPr>
          <p:cNvPr id="7" name="Title 1">
            <a:extLst>
              <a:ext uri="{FF2B5EF4-FFF2-40B4-BE49-F238E27FC236}">
                <a16:creationId xmlns:a16="http://schemas.microsoft.com/office/drawing/2014/main" id="{3FC1FF92-5BD9-6482-D0DE-E2EE1CA1B8FC}"/>
              </a:ext>
            </a:extLst>
          </p:cNvPr>
          <p:cNvSpPr txBox="1">
            <a:spLocks/>
          </p:cNvSpPr>
          <p:nvPr/>
        </p:nvSpPr>
        <p:spPr>
          <a:xfrm>
            <a:off x="9957839" y="112543"/>
            <a:ext cx="1895426"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algn="r"/>
            <a:r>
              <a:rPr lang="en-US" dirty="0"/>
              <a:t>(2/2)</a:t>
            </a:r>
          </a:p>
        </p:txBody>
      </p:sp>
    </p:spTree>
    <p:extLst>
      <p:ext uri="{BB962C8B-B14F-4D97-AF65-F5344CB8AC3E}">
        <p14:creationId xmlns:p14="http://schemas.microsoft.com/office/powerpoint/2010/main" val="294626614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16</a:t>
            </a:fld>
            <a:endParaRPr lang="en-US"/>
          </a:p>
        </p:txBody>
      </p:sp>
    </p:spTree>
    <p:extLst>
      <p:ext uri="{BB962C8B-B14F-4D97-AF65-F5344CB8AC3E}">
        <p14:creationId xmlns:p14="http://schemas.microsoft.com/office/powerpoint/2010/main" val="2790627162"/>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42BA63-383F-45B9-939A-7A3B792A60C4}"/>
              </a:ext>
            </a:extLst>
          </p:cNvPr>
          <p:cNvSpPr>
            <a:spLocks noGrp="1"/>
          </p:cNvSpPr>
          <p:nvPr>
            <p:ph type="title"/>
          </p:nvPr>
        </p:nvSpPr>
        <p:spPr>
          <a:xfrm>
            <a:off x="3788898" y="2461846"/>
            <a:ext cx="4614203" cy="1934307"/>
          </a:xfrm>
        </p:spPr>
        <p:txBody>
          <a:bodyPr/>
          <a:lstStyle/>
          <a:p>
            <a:r>
              <a:rPr lang="en-US" dirty="0"/>
              <a:t>Backup Slides</a:t>
            </a:r>
          </a:p>
        </p:txBody>
      </p:sp>
    </p:spTree>
    <p:extLst>
      <p:ext uri="{BB962C8B-B14F-4D97-AF65-F5344CB8AC3E}">
        <p14:creationId xmlns:p14="http://schemas.microsoft.com/office/powerpoint/2010/main" val="1234004128"/>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EFE0E-299A-46D8-9DF7-2C84CBBCAF45}"/>
              </a:ext>
            </a:extLst>
          </p:cNvPr>
          <p:cNvSpPr>
            <a:spLocks noGrp="1"/>
          </p:cNvSpPr>
          <p:nvPr>
            <p:ph type="title"/>
          </p:nvPr>
        </p:nvSpPr>
        <p:spPr/>
        <p:txBody>
          <a:bodyPr/>
          <a:lstStyle/>
          <a:p>
            <a:r>
              <a:rPr lang="en-US" dirty="0"/>
              <a:t>Backup Slides</a:t>
            </a:r>
          </a:p>
        </p:txBody>
      </p:sp>
      <p:sp>
        <p:nvSpPr>
          <p:cNvPr id="5" name="Slide Number Placeholder 4">
            <a:extLst>
              <a:ext uri="{FF2B5EF4-FFF2-40B4-BE49-F238E27FC236}">
                <a16:creationId xmlns:a16="http://schemas.microsoft.com/office/drawing/2014/main" id="{E8B4E653-E636-4EED-9A37-BC263FE84A93}"/>
              </a:ext>
            </a:extLst>
          </p:cNvPr>
          <p:cNvSpPr>
            <a:spLocks noGrp="1"/>
          </p:cNvSpPr>
          <p:nvPr>
            <p:ph type="sldNum" sz="quarter" idx="12"/>
          </p:nvPr>
        </p:nvSpPr>
        <p:spPr/>
        <p:txBody>
          <a:bodyPr/>
          <a:lstStyle/>
          <a:p>
            <a:fld id="{9EA0BE3B-158A-4EDF-80DC-E394A0D1600F}" type="slidenum">
              <a:rPr lang="en-US" smtClean="0"/>
              <a:pPr/>
              <a:t>19</a:t>
            </a:fld>
            <a:endParaRPr lang="en-US"/>
          </a:p>
        </p:txBody>
      </p:sp>
      <p:pic>
        <p:nvPicPr>
          <p:cNvPr id="7" name="Picture 6">
            <a:extLst>
              <a:ext uri="{FF2B5EF4-FFF2-40B4-BE49-F238E27FC236}">
                <a16:creationId xmlns:a16="http://schemas.microsoft.com/office/drawing/2014/main" id="{AD5CACEA-FBCE-9853-8B01-A9BDAA715A08}"/>
              </a:ext>
            </a:extLst>
          </p:cNvPr>
          <p:cNvPicPr>
            <a:picLocks noChangeAspect="1"/>
          </p:cNvPicPr>
          <p:nvPr/>
        </p:nvPicPr>
        <p:blipFill>
          <a:blip r:embed="rId2"/>
          <a:stretch>
            <a:fillRect/>
          </a:stretch>
        </p:blipFill>
        <p:spPr>
          <a:xfrm>
            <a:off x="1700270" y="1288906"/>
            <a:ext cx="8791460" cy="5053608"/>
          </a:xfrm>
          <a:prstGeom prst="rect">
            <a:avLst/>
          </a:prstGeom>
        </p:spPr>
      </p:pic>
    </p:spTree>
    <p:extLst>
      <p:ext uri="{BB962C8B-B14F-4D97-AF65-F5344CB8AC3E}">
        <p14:creationId xmlns:p14="http://schemas.microsoft.com/office/powerpoint/2010/main" val="2287700220"/>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CCC70F-DDA6-272F-6E2B-ECF91EDEB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8F0CB-686F-32DC-4C3F-408D2C8EFA85}"/>
              </a:ext>
            </a:extLst>
          </p:cNvPr>
          <p:cNvSpPr>
            <a:spLocks noGrp="1"/>
          </p:cNvSpPr>
          <p:nvPr>
            <p:ph type="title"/>
          </p:nvPr>
        </p:nvSpPr>
        <p:spPr/>
        <p:txBody>
          <a:bodyPr/>
          <a:lstStyle/>
          <a:p>
            <a:r>
              <a:rPr lang="en-US" dirty="0"/>
              <a:t>Backup Slides</a:t>
            </a:r>
          </a:p>
        </p:txBody>
      </p:sp>
      <p:sp>
        <p:nvSpPr>
          <p:cNvPr id="5" name="Slide Number Placeholder 4">
            <a:extLst>
              <a:ext uri="{FF2B5EF4-FFF2-40B4-BE49-F238E27FC236}">
                <a16:creationId xmlns:a16="http://schemas.microsoft.com/office/drawing/2014/main" id="{F980D7BD-27BD-0FF2-A83C-ECBBB5A86E93}"/>
              </a:ext>
            </a:extLst>
          </p:cNvPr>
          <p:cNvSpPr>
            <a:spLocks noGrp="1"/>
          </p:cNvSpPr>
          <p:nvPr>
            <p:ph type="sldNum" sz="quarter" idx="12"/>
          </p:nvPr>
        </p:nvSpPr>
        <p:spPr/>
        <p:txBody>
          <a:bodyPr/>
          <a:lstStyle/>
          <a:p>
            <a:fld id="{9EA0BE3B-158A-4EDF-80DC-E394A0D1600F}" type="slidenum">
              <a:rPr lang="en-US" smtClean="0"/>
              <a:pPr/>
              <a:t>20</a:t>
            </a:fld>
            <a:endParaRPr lang="en-US"/>
          </a:p>
        </p:txBody>
      </p:sp>
      <p:pic>
        <p:nvPicPr>
          <p:cNvPr id="4" name="Picture 3">
            <a:extLst>
              <a:ext uri="{FF2B5EF4-FFF2-40B4-BE49-F238E27FC236}">
                <a16:creationId xmlns:a16="http://schemas.microsoft.com/office/drawing/2014/main" id="{F93EAB2B-39F5-D0E8-A361-B483392B29D6}"/>
              </a:ext>
            </a:extLst>
          </p:cNvPr>
          <p:cNvPicPr>
            <a:picLocks noChangeAspect="1"/>
          </p:cNvPicPr>
          <p:nvPr/>
        </p:nvPicPr>
        <p:blipFill>
          <a:blip r:embed="rId3"/>
          <a:stretch>
            <a:fillRect/>
          </a:stretch>
        </p:blipFill>
        <p:spPr>
          <a:xfrm>
            <a:off x="2940671" y="1209315"/>
            <a:ext cx="6310658" cy="5021004"/>
          </a:xfrm>
          <a:prstGeom prst="rect">
            <a:avLst/>
          </a:prstGeom>
        </p:spPr>
      </p:pic>
    </p:spTree>
    <p:extLst>
      <p:ext uri="{BB962C8B-B14F-4D97-AF65-F5344CB8AC3E}">
        <p14:creationId xmlns:p14="http://schemas.microsoft.com/office/powerpoint/2010/main" val="3678514209"/>
      </p:ext>
    </p:extLst>
  </p:cSld>
  <p:clrMapOvr>
    <a:masterClrMapping/>
  </p:clrMapOvr>
  <mc:AlternateContent xmlns:mc="http://schemas.openxmlformats.org/markup-compatibility/2006" xmlns:p14="http://schemas.microsoft.com/office/powerpoint/2010/main">
    <mc:Choice Requires="p14">
      <p:transition p14:dur="2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B19AD86CDF2D4DBF9DAD694EFBC09D" ma:contentTypeVersion="7" ma:contentTypeDescription="Create a new document." ma:contentTypeScope="" ma:versionID="6423fc3df46fff0625ec86a02e55459f">
  <xsd:schema xmlns:xsd="http://www.w3.org/2001/XMLSchema" xmlns:xs="http://www.w3.org/2001/XMLSchema" xmlns:p="http://schemas.microsoft.com/office/2006/metadata/properties" xmlns:ns2="757826ba-dfa3-48aa-98b2-1e988427fee5" xmlns:ns3="e4770848-7955-4ec6-9f06-ace3904740ab" targetNamespace="http://schemas.microsoft.com/office/2006/metadata/properties" ma:root="true" ma:fieldsID="24cf96f43bac35fd0bad3b1a63bec25f" ns2:_="" ns3:_="">
    <xsd:import namespace="757826ba-dfa3-48aa-98b2-1e988427fee5"/>
    <xsd:import namespace="e4770848-7955-4ec6-9f06-ace3904740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826ba-dfa3-48aa-98b2-1e988427f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770848-7955-4ec6-9f06-ace3904740a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C34D971-5E4A-4DCB-9925-F7DA6878D485}">
  <ds:schemaRefs>
    <ds:schemaRef ds:uri="http://schemas.microsoft.com/sharepoint/v3/contenttype/forms"/>
  </ds:schemaRefs>
</ds:datastoreItem>
</file>

<file path=customXml/itemProps2.xml><?xml version="1.0" encoding="utf-8"?>
<ds:datastoreItem xmlns:ds="http://schemas.openxmlformats.org/officeDocument/2006/customXml" ds:itemID="{698E78E3-0A98-4D61-9B64-F38933067C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7826ba-dfa3-48aa-98b2-1e988427fee5"/>
    <ds:schemaRef ds:uri="e4770848-7955-4ec6-9f06-ace3904740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C316FA-151E-4EDB-9E09-98DAB3D0971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4049</TotalTime>
  <Words>2542</Words>
  <Application>Microsoft Office PowerPoint</Application>
  <PresentationFormat>Widescreen</PresentationFormat>
  <Paragraphs>173</Paragraphs>
  <Slides>20</Slides>
  <Notes>19</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Lato</vt:lpstr>
      <vt:lpstr>Office Theme</vt:lpstr>
      <vt:lpstr>PowerPoint Presentation</vt:lpstr>
      <vt:lpstr>Content</vt:lpstr>
      <vt:lpstr>1. Introduction</vt:lpstr>
      <vt:lpstr>1. Introduction</vt:lpstr>
      <vt:lpstr>1. Introduction</vt:lpstr>
      <vt:lpstr>2. Literature Review</vt:lpstr>
      <vt:lpstr>3. Methodology</vt:lpstr>
      <vt:lpstr>3. Methodology</vt:lpstr>
      <vt:lpstr>3. Methodology</vt:lpstr>
      <vt:lpstr>4. Experimental Results</vt:lpstr>
      <vt:lpstr>4. Experimental Results</vt:lpstr>
      <vt:lpstr>4. Experimental Results</vt:lpstr>
      <vt:lpstr>4. Experimental Results</vt:lpstr>
      <vt:lpstr>5. Conclusions</vt:lpstr>
      <vt:lpstr>5. Conclusions</vt:lpstr>
      <vt:lpstr>PowerPoint Presentation</vt:lpstr>
      <vt:lpstr>PowerPoint Presentation</vt:lpstr>
      <vt:lpstr>Backup Slides</vt:lpstr>
      <vt:lpstr>Backup Slides</vt:lpstr>
      <vt:lpstr>Backup Slides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Hòa Phan Minh</cp:lastModifiedBy>
  <cp:revision>25</cp:revision>
  <dcterms:created xsi:type="dcterms:W3CDTF">2021-05-28T04:32:29Z</dcterms:created>
  <dcterms:modified xsi:type="dcterms:W3CDTF">2026-06-25T02:23:16Z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0x010100ECB19AD86CDF2D4DBF9DAD694EFBC09D</vt:lpwstr>
  </property>
</Properties>
</file>