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29"/>
  </p:notesMasterIdLst>
  <p:handoutMasterIdLst>
    <p:handoutMasterId r:id="rId30"/>
  </p:handoutMasterIdLst>
  <p:sldIdLst>
    <p:sldId id="257" r:id="rId5"/>
    <p:sldId id="263" r:id="rId6"/>
    <p:sldId id="268" r:id="rId7"/>
    <p:sldId id="275" r:id="rId8"/>
    <p:sldId id="260" r:id="rId9"/>
    <p:sldId id="276" r:id="rId10"/>
    <p:sldId id="281" r:id="rId11"/>
    <p:sldId id="282" r:id="rId12"/>
    <p:sldId id="296" r:id="rId13"/>
    <p:sldId id="298" r:id="rId14"/>
    <p:sldId id="299" r:id="rId15"/>
    <p:sldId id="285" r:id="rId16"/>
    <p:sldId id="293" r:id="rId17"/>
    <p:sldId id="286" r:id="rId18"/>
    <p:sldId id="295" r:id="rId19"/>
    <p:sldId id="288" r:id="rId20"/>
    <p:sldId id="289" r:id="rId21"/>
    <p:sldId id="262" r:id="rId22"/>
    <p:sldId id="259" r:id="rId23"/>
    <p:sldId id="256" r:id="rId24"/>
    <p:sldId id="264" r:id="rId25"/>
    <p:sldId id="291" r:id="rId26"/>
    <p:sldId id="300" r:id="rId27"/>
    <p:sldId id="301" r:id="rId2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72B2"/>
    <a:srgbClr val="D55E00"/>
    <a:srgbClr val="009E73"/>
    <a:srgbClr val="ED7D31"/>
    <a:srgbClr val="CC79A7"/>
    <a:srgbClr val="00376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9335" autoAdjust="0"/>
    <p:restoredTop sz="74156" autoAdjust="0"/>
  </p:normalViewPr>
  <p:slideViewPr>
    <p:cSldViewPr snapToGrid="0">
      <p:cViewPr varScale="1">
        <p:scale>
          <a:sx n="73" d="100"/>
          <a:sy n="73" d="100"/>
        </p:scale>
        <p:origin x="96" y="468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34" Type="http://schemas.openxmlformats.org/officeDocument/2006/relationships/tableStyles" Target="tableStyle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theme" Target="theme/theme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notesMaster" Target="notesMasters/notesMaster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viewProps" Target="viewProp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handoutMaster" Target="handoutMasters/handoutMaster1.xml"/><Relationship Id="rId8" Type="http://schemas.openxmlformats.org/officeDocument/2006/relationships/slide" Target="slides/slide4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A5EAC724-B034-4F10-A9E8-56851A79B80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20872BB-3892-4F66-9266-36ADB83FAD5E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8B45424-6BAC-416C-8F6C-5F9DE854A36B}" type="datetimeFigureOut">
              <a:rPr lang="en-US" smtClean="0"/>
              <a:t>7/2/2026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ACA138F-B9BA-4997-B3C2-DA8B17B6D5B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EE86FBF-0AC4-4904-8ED7-0BD6E9AC71D6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E34D737-83BD-4FDE-8CF3-8BC01E7FCF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9073744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B733702-C25A-40B9-9167-54BAA79B29B0}" type="datetimeFigureOut">
              <a:rPr lang="en-US" smtClean="0"/>
              <a:t>7/2/2026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B2FC7A4-3D1B-482D-8C9D-7642A2CE307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1926534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B2FC7A4-3D1B-482D-8C9D-7642A2CE3076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530971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B2FC7A4-3D1B-482D-8C9D-7642A2CE3076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804316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B2FC7A4-3D1B-482D-8C9D-7642A2CE3076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874460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B2FC7A4-3D1B-482D-8C9D-7642A2CE3076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012934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B2FC7A4-3D1B-482D-8C9D-7642A2CE3076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582589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B2FC7A4-3D1B-482D-8C9D-7642A2CE3076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875425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C32B9F-F24F-AF81-27C3-18E4D5BAFD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52F557B-974D-57BE-A5DA-7A8CF384EF4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BF5C9DC-D33A-D088-3074-7D37DFEA4E8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5442361-55E3-BFF3-8B0C-81D3EEE4031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B2FC7A4-3D1B-482D-8C9D-7642A2CE3076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242039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9AFD40-52BD-6DD1-8558-2ABF188B2C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88205FB-05A5-9191-E266-0EA266DB71D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B03793D-4BEB-D6F0-ED13-53D799679D6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EDFE0FF-73C7-01A5-EB85-3FD4A7EB372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B2FC7A4-3D1B-482D-8C9D-7642A2CE3076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74323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DFBB70-C0FB-DA28-1C7E-D88B1E5496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5ED02D9-69E7-80D9-E665-02AD7879306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7DB1B6E-4596-D5EC-92DF-CF0B63A4B66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EBB28D4-F764-1809-DB01-127F2FCF730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B2FC7A4-3D1B-482D-8C9D-7642A2CE3076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675906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AD86A1-D559-22C6-809A-4E3944AE8B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303C375-CB35-74F0-AC7E-B852708B206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047120D-350B-5245-A443-D74DEA553B8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85BE8FD-9967-750C-FFC8-6B1FE9370ED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B2FC7A4-3D1B-482D-8C9D-7642A2CE3076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329021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3F6081-B44A-9B6A-5500-257B1DDE2B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3ADB2BB-822E-FC71-039B-503E1B953B4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6712EB3-0F2F-D02E-472D-FD0936C49C0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2C93215-95C1-B7CB-A9B9-FD24E4C3F7F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B2FC7A4-3D1B-482D-8C9D-7642A2CE3076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403675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BB4F6A-2C88-A746-923F-D6F5C7359A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CCA03B8-34C5-591D-8756-2AD50A6FDFB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B1FD9E9-DAB1-822E-81B6-EF8B58263A5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90898F4-01FB-4985-5BDE-706E3F99004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B2FC7A4-3D1B-482D-8C9D-7642A2CE3076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229699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765998-313E-029E-CAD4-C871A82D4F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F9F73AF-7A47-2A7C-7F77-33CEA935180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89835FC-0AC7-88CE-3920-A510D8ADE52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7278E71-D388-C03A-A6CA-D06B5709A09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B2FC7A4-3D1B-482D-8C9D-7642A2CE3076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425347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E63759-896E-4A7C-15E2-9E3CD5EBE9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15ED387-F179-E423-3783-1B9122B5245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FDA953A-C449-3EDD-D9D0-56AB90409BA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968C4DE-AD40-CAED-9C3D-15E0CB80D10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B2FC7A4-3D1B-482D-8C9D-7642A2CE3076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1576178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2D57B8-44BE-5213-A4B9-B871E1B05D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03C193C-A3E4-B6A4-BA5B-4825D16547F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CACCE52-DCF6-2520-22F6-A2FE65B0161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63A7759-1A7D-B961-9D12-CAE26ABD508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B2FC7A4-3D1B-482D-8C9D-7642A2CE3076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578580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1D2C2A-DB51-34A2-28E2-667F9426FB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6A4373C-3881-8C30-67EA-E48BB84DD82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4DFBD7A-88D4-F7FF-7154-5D5ECEBB8D9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5500B1C-ECB7-6103-14A6-8C60E78F3E2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B2FC7A4-3D1B-482D-8C9D-7642A2CE3076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8279899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293E60-6F2A-159A-A961-0F8426646B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543CDDC-0C22-8279-A193-83AA2CA9137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1DDD07E-45C4-4E94-9D3F-DF84DE0C645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7596676-EF12-37CD-5370-96DBCD517F6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B2FC7A4-3D1B-482D-8C9D-7642A2CE3076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5827533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B2FC7A4-3D1B-482D-8C9D-7642A2CE3076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7404603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B2FC7A4-3D1B-482D-8C9D-7642A2CE3076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6669263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B2FC7A4-3D1B-482D-8C9D-7642A2CE3076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5460720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B2FC7A4-3D1B-482D-8C9D-7642A2CE3076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026660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8963A2-5454-4280-7FE3-F755908161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94C45CD-320B-17FB-7C16-59590E0875F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CF3ED7D-8190-EAD9-0EE4-90AAEC36B15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674D192-7818-40E7-85B0-65896CC041F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B2FC7A4-3D1B-482D-8C9D-7642A2CE3076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28080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42B6AE-0F94-1CB5-ADAA-8E3053D8AD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C4B6485-A275-AA72-79C7-8EE648712D6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6345B40-23A1-B0D0-3417-B250D666742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3963E0E-0BCC-73C3-8DBD-AD6C7ACA09E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B2FC7A4-3D1B-482D-8C9D-7642A2CE3076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456050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Date Placeholder 3">
            <a:extLst>
              <a:ext uri="{FF2B5EF4-FFF2-40B4-BE49-F238E27FC236}">
                <a16:creationId xmlns:a16="http://schemas.microsoft.com/office/drawing/2014/main" id="{26152509-8D0C-4712-AA81-AF54972C78D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486006"/>
            <a:ext cx="2743200" cy="365125"/>
          </a:xfrm>
          <a:prstGeom prst="rect">
            <a:avLst/>
          </a:prstGeom>
        </p:spPr>
        <p:txBody>
          <a:bodyPr/>
          <a:lstStyle>
            <a:lvl1pPr algn="ctr">
              <a:defRPr sz="1200" b="1">
                <a:solidFill>
                  <a:srgbClr val="00376F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58E92B09-5AF4-4E86-A8BE-E866F0E2C017}" type="datetime1">
              <a:rPr lang="en-US" smtClean="0"/>
              <a:pPr/>
              <a:t>7/2/2026</a:t>
            </a:fld>
            <a:endParaRPr lang="en-US" dirty="0"/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A9A90DE7-FAAB-4B91-AC83-B18850F1EC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486006"/>
            <a:ext cx="4114800" cy="365125"/>
          </a:xfrm>
          <a:prstGeom prst="rect">
            <a:avLst/>
          </a:prstGeom>
        </p:spPr>
        <p:txBody>
          <a:bodyPr/>
          <a:lstStyle>
            <a:lvl1pPr algn="ctr">
              <a:defRPr sz="1200" b="1">
                <a:solidFill>
                  <a:srgbClr val="00376F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11" name="Slide Number Placeholder 5">
            <a:extLst>
              <a:ext uri="{FF2B5EF4-FFF2-40B4-BE49-F238E27FC236}">
                <a16:creationId xmlns:a16="http://schemas.microsoft.com/office/drawing/2014/main" id="{0FD5971E-BD21-416C-BC2E-97EE0E09A5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56511" y="6492875"/>
            <a:ext cx="2743200" cy="365125"/>
          </a:xfrm>
          <a:prstGeom prst="rect">
            <a:avLst/>
          </a:prstGeom>
        </p:spPr>
        <p:txBody>
          <a:bodyPr/>
          <a:lstStyle>
            <a:lvl1pPr algn="r">
              <a:defRPr sz="1200" b="1">
                <a:solidFill>
                  <a:srgbClr val="00376F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9EA0BE3B-158A-4EDF-80DC-E394A0D1600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795750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00">
        <p:fade/>
      </p:transition>
    </mc:Choice>
    <mc:Fallback xmlns="">
      <p:transition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B30FC03-A82E-4B34-AE4B-8AC40A0CD5B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486006"/>
            <a:ext cx="2743200" cy="365125"/>
          </a:xfrm>
          <a:prstGeom prst="rect">
            <a:avLst/>
          </a:prstGeom>
        </p:spPr>
        <p:txBody>
          <a:bodyPr/>
          <a:lstStyle>
            <a:lvl1pPr>
              <a:defRPr sz="1200" b="1">
                <a:solidFill>
                  <a:srgbClr val="00376F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F70EAA40-3A53-4A3D-924A-D38F1059C7D5}" type="datetime1">
              <a:rPr lang="en-US" smtClean="0"/>
              <a:pPr/>
              <a:t>7/2/2026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49FB7E-C73B-452D-861A-6C73FF59EC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486006"/>
            <a:ext cx="4114800" cy="365125"/>
          </a:xfrm>
          <a:prstGeom prst="rect">
            <a:avLst/>
          </a:prstGeom>
        </p:spPr>
        <p:txBody>
          <a:bodyPr/>
          <a:lstStyle>
            <a:lvl1pPr algn="ctr">
              <a:defRPr sz="1200" b="1">
                <a:solidFill>
                  <a:srgbClr val="00376F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A5733BD-32DD-483E-A597-B70529CBDA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56511" y="6492875"/>
            <a:ext cx="2743200" cy="365125"/>
          </a:xfrm>
          <a:prstGeom prst="rect">
            <a:avLst/>
          </a:prstGeom>
        </p:spPr>
        <p:txBody>
          <a:bodyPr/>
          <a:lstStyle>
            <a:lvl1pPr algn="r">
              <a:defRPr sz="1200" b="1">
                <a:solidFill>
                  <a:srgbClr val="00376F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9EA0BE3B-158A-4EDF-80DC-E394A0D1600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Title 8">
            <a:extLst>
              <a:ext uri="{FF2B5EF4-FFF2-40B4-BE49-F238E27FC236}">
                <a16:creationId xmlns:a16="http://schemas.microsoft.com/office/drawing/2014/main" id="{DEAFB3E9-4F5E-435C-B51A-CC5766A852D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8736" y="112543"/>
            <a:ext cx="11514528" cy="436098"/>
          </a:xfrm>
          <a:prstGeom prst="rect">
            <a:avLst/>
          </a:prstGeom>
        </p:spPr>
        <p:txBody>
          <a:bodyPr/>
          <a:lstStyle>
            <a:lvl1pPr>
              <a:defRPr sz="2800" b="1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r>
              <a:rPr lang="en-US" dirty="0"/>
              <a:t>Title 1:……………………………………..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69C57778-6639-411E-9B4C-12D035AECE27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38736" y="1058844"/>
            <a:ext cx="11514528" cy="4909124"/>
          </a:xfrm>
          <a:prstGeom prst="rect">
            <a:avLst/>
          </a:prstGeom>
        </p:spPr>
        <p:txBody>
          <a:bodyPr/>
          <a:lstStyle>
            <a:lvl1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  <a:lvl2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2pPr>
            <a:lvl3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3pPr>
            <a:lvl4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4pPr>
            <a:lvl5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76132954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00">
        <p:fade/>
      </p:transition>
    </mc:Choice>
    <mc:Fallback xmlns="">
      <p:transition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84B5929F-A28F-4256-A6B2-5D095331D01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486006"/>
            <a:ext cx="2743200" cy="365125"/>
          </a:xfrm>
          <a:prstGeom prst="rect">
            <a:avLst/>
          </a:prstGeom>
        </p:spPr>
        <p:txBody>
          <a:bodyPr/>
          <a:lstStyle>
            <a:lvl1pPr>
              <a:defRPr sz="1200" b="1">
                <a:solidFill>
                  <a:srgbClr val="00376F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B3ACFEBC-8634-4116-B617-2BE5C2034C2C}" type="datetime1">
              <a:rPr lang="en-US" smtClean="0"/>
              <a:pPr/>
              <a:t>7/2/2026</a:t>
            </a:fld>
            <a:endParaRPr lang="en-US" dirty="0"/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7C2F339A-915E-4496-B889-28FBBAAD31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486006"/>
            <a:ext cx="4114800" cy="365125"/>
          </a:xfrm>
          <a:prstGeom prst="rect">
            <a:avLst/>
          </a:prstGeom>
        </p:spPr>
        <p:txBody>
          <a:bodyPr/>
          <a:lstStyle>
            <a:lvl1pPr algn="ctr">
              <a:defRPr sz="1200" b="1">
                <a:solidFill>
                  <a:srgbClr val="00376F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028A2E5F-7F4D-4F39-A494-67088E8046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56511" y="6492875"/>
            <a:ext cx="2743200" cy="365125"/>
          </a:xfrm>
          <a:prstGeom prst="rect">
            <a:avLst/>
          </a:prstGeom>
        </p:spPr>
        <p:txBody>
          <a:bodyPr/>
          <a:lstStyle>
            <a:lvl1pPr algn="r">
              <a:defRPr sz="1200" b="1">
                <a:solidFill>
                  <a:srgbClr val="00376F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9EA0BE3B-158A-4EDF-80DC-E394A0D1600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1" name="Title 8">
            <a:extLst>
              <a:ext uri="{FF2B5EF4-FFF2-40B4-BE49-F238E27FC236}">
                <a16:creationId xmlns:a16="http://schemas.microsoft.com/office/drawing/2014/main" id="{FC0C4515-8106-49DA-9C06-E98AF815242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8736" y="112543"/>
            <a:ext cx="11514528" cy="436098"/>
          </a:xfrm>
          <a:prstGeom prst="rect">
            <a:avLst/>
          </a:prstGeom>
        </p:spPr>
        <p:txBody>
          <a:bodyPr/>
          <a:lstStyle>
            <a:lvl1pPr>
              <a:defRPr sz="2800" b="1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r>
              <a:rPr lang="en-US" dirty="0"/>
              <a:t>Title 2:……………………………………..</a:t>
            </a:r>
          </a:p>
        </p:txBody>
      </p:sp>
      <p:sp>
        <p:nvSpPr>
          <p:cNvPr id="12" name="Chart Placeholder 9">
            <a:extLst>
              <a:ext uri="{FF2B5EF4-FFF2-40B4-BE49-F238E27FC236}">
                <a16:creationId xmlns:a16="http://schemas.microsoft.com/office/drawing/2014/main" id="{F49327FB-190B-40C4-9FC9-66F9F7D12317}"/>
              </a:ext>
            </a:extLst>
          </p:cNvPr>
          <p:cNvSpPr>
            <a:spLocks noGrp="1"/>
          </p:cNvSpPr>
          <p:nvPr>
            <p:ph type="chart" sz="quarter" idx="13" hasCustomPrompt="1"/>
          </p:nvPr>
        </p:nvSpPr>
        <p:spPr>
          <a:xfrm>
            <a:off x="330201" y="1406769"/>
            <a:ext cx="5765800" cy="4655894"/>
          </a:xfrm>
          <a:prstGeom prst="rect">
            <a:avLst/>
          </a:prstGeom>
        </p:spPr>
        <p:txBody>
          <a:bodyPr/>
          <a:lstStyle>
            <a:lvl1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r>
              <a:rPr lang="en-US" dirty="0"/>
              <a:t>Chart</a:t>
            </a:r>
          </a:p>
        </p:txBody>
      </p:sp>
      <p:sp>
        <p:nvSpPr>
          <p:cNvPr id="13" name="Picture Placeholder 11">
            <a:extLst>
              <a:ext uri="{FF2B5EF4-FFF2-40B4-BE49-F238E27FC236}">
                <a16:creationId xmlns:a16="http://schemas.microsoft.com/office/drawing/2014/main" id="{733EBCBB-E1FE-415C-8ED9-6D1F36748478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6238875" y="1414463"/>
            <a:ext cx="5445125" cy="4656137"/>
          </a:xfrm>
          <a:prstGeom prst="rect">
            <a:avLst/>
          </a:prstGeom>
        </p:spPr>
        <p:txBody>
          <a:bodyPr/>
          <a:lstStyle>
            <a:lvl1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r>
              <a:rPr lang="en-US" dirty="0"/>
              <a:t>Picture</a:t>
            </a:r>
          </a:p>
        </p:txBody>
      </p:sp>
    </p:spTree>
    <p:extLst>
      <p:ext uri="{BB962C8B-B14F-4D97-AF65-F5344CB8AC3E}">
        <p14:creationId xmlns:p14="http://schemas.microsoft.com/office/powerpoint/2010/main" val="388766992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00">
        <p:fade/>
      </p:transition>
    </mc:Choice>
    <mc:Fallback xmlns="">
      <p:transition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8">
            <a:extLst>
              <a:ext uri="{FF2B5EF4-FFF2-40B4-BE49-F238E27FC236}">
                <a16:creationId xmlns:a16="http://schemas.microsoft.com/office/drawing/2014/main" id="{3E6AE9CF-41FF-46D0-BF7A-815E4777895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8736" y="112543"/>
            <a:ext cx="11514528" cy="436098"/>
          </a:xfrm>
          <a:prstGeom prst="rect">
            <a:avLst/>
          </a:prstGeom>
        </p:spPr>
        <p:txBody>
          <a:bodyPr/>
          <a:lstStyle>
            <a:lvl1pPr>
              <a:defRPr sz="2800" b="1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r>
              <a:rPr lang="en-US" dirty="0"/>
              <a:t>Title 3:……………………………………..</a:t>
            </a:r>
          </a:p>
        </p:txBody>
      </p:sp>
      <p:sp>
        <p:nvSpPr>
          <p:cNvPr id="12" name="Text Placeholder 9">
            <a:extLst>
              <a:ext uri="{FF2B5EF4-FFF2-40B4-BE49-F238E27FC236}">
                <a16:creationId xmlns:a16="http://schemas.microsoft.com/office/drawing/2014/main" id="{A85E41C6-3987-4F5C-A750-35F5C730A56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37539" y="1032510"/>
            <a:ext cx="11515725" cy="4938713"/>
          </a:xfrm>
          <a:prstGeom prst="rect">
            <a:avLst/>
          </a:prstGeom>
        </p:spPr>
        <p:txBody>
          <a:bodyPr/>
          <a:lstStyle>
            <a:lvl1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  <a:lvl2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2pPr>
            <a:lvl3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3pPr>
            <a:lvl4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4pPr>
            <a:lvl5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3" name="Date Placeholder 3">
            <a:extLst>
              <a:ext uri="{FF2B5EF4-FFF2-40B4-BE49-F238E27FC236}">
                <a16:creationId xmlns:a16="http://schemas.microsoft.com/office/drawing/2014/main" id="{C99BA7CA-DC84-4A35-BD8A-C14D582181A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486006"/>
            <a:ext cx="2743200" cy="365125"/>
          </a:xfrm>
          <a:prstGeom prst="rect">
            <a:avLst/>
          </a:prstGeom>
        </p:spPr>
        <p:txBody>
          <a:bodyPr/>
          <a:lstStyle>
            <a:lvl1pPr>
              <a:defRPr sz="1200" b="1">
                <a:solidFill>
                  <a:srgbClr val="00376F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8CDB0C24-DFE0-41C5-B02D-FC32F5C22F7C}" type="datetime1">
              <a:rPr lang="en-US" smtClean="0"/>
              <a:pPr/>
              <a:t>7/2/2026</a:t>
            </a:fld>
            <a:endParaRPr lang="en-US" dirty="0"/>
          </a:p>
        </p:txBody>
      </p:sp>
      <p:sp>
        <p:nvSpPr>
          <p:cNvPr id="14" name="Footer Placeholder 4">
            <a:extLst>
              <a:ext uri="{FF2B5EF4-FFF2-40B4-BE49-F238E27FC236}">
                <a16:creationId xmlns:a16="http://schemas.microsoft.com/office/drawing/2014/main" id="{E1DCC345-F4E6-42D6-9173-88011D0E27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486006"/>
            <a:ext cx="4114800" cy="365125"/>
          </a:xfrm>
          <a:prstGeom prst="rect">
            <a:avLst/>
          </a:prstGeom>
        </p:spPr>
        <p:txBody>
          <a:bodyPr/>
          <a:lstStyle>
            <a:lvl1pPr algn="ctr">
              <a:defRPr sz="1200" b="1">
                <a:solidFill>
                  <a:srgbClr val="00376F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BD82AFB1-CD7C-4710-A82A-F9FEE6DA5C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56511" y="6492875"/>
            <a:ext cx="2743200" cy="365125"/>
          </a:xfrm>
          <a:prstGeom prst="rect">
            <a:avLst/>
          </a:prstGeom>
        </p:spPr>
        <p:txBody>
          <a:bodyPr/>
          <a:lstStyle>
            <a:lvl1pPr algn="r">
              <a:defRPr sz="1200" b="1">
                <a:solidFill>
                  <a:srgbClr val="00376F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9EA0BE3B-158A-4EDF-80DC-E394A0D1600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581265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00">
        <p:fade/>
      </p:transition>
    </mc:Choice>
    <mc:Fallback xmlns="">
      <p:transition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3">
            <a:extLst>
              <a:ext uri="{FF2B5EF4-FFF2-40B4-BE49-F238E27FC236}">
                <a16:creationId xmlns:a16="http://schemas.microsoft.com/office/drawing/2014/main" id="{98A78F82-82C6-4F07-B7D8-4A1219A1BB4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486006"/>
            <a:ext cx="2743200" cy="365125"/>
          </a:xfrm>
          <a:prstGeom prst="rect">
            <a:avLst/>
          </a:prstGeom>
        </p:spPr>
        <p:txBody>
          <a:bodyPr/>
          <a:lstStyle>
            <a:lvl1pPr>
              <a:defRPr sz="1200" b="1">
                <a:solidFill>
                  <a:srgbClr val="00376F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19A9EFEF-A194-4819-82D7-1112425D0E86}" type="datetime1">
              <a:rPr lang="en-US" smtClean="0"/>
              <a:pPr/>
              <a:t>7/2/2026</a:t>
            </a:fld>
            <a:endParaRPr lang="en-US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12041C72-5CA2-4523-9F1E-50662A3276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486006"/>
            <a:ext cx="4114800" cy="365125"/>
          </a:xfrm>
          <a:prstGeom prst="rect">
            <a:avLst/>
          </a:prstGeom>
        </p:spPr>
        <p:txBody>
          <a:bodyPr/>
          <a:lstStyle>
            <a:lvl1pPr algn="ctr">
              <a:defRPr sz="1200" b="1">
                <a:solidFill>
                  <a:srgbClr val="00376F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3AD6B24F-6759-4931-A1C4-77BA8AF7E0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56511" y="6492875"/>
            <a:ext cx="2743200" cy="365125"/>
          </a:xfrm>
          <a:prstGeom prst="rect">
            <a:avLst/>
          </a:prstGeom>
        </p:spPr>
        <p:txBody>
          <a:bodyPr/>
          <a:lstStyle>
            <a:lvl1pPr algn="r">
              <a:defRPr sz="1200" b="1">
                <a:solidFill>
                  <a:srgbClr val="00376F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9EA0BE3B-158A-4EDF-80DC-E394A0D1600F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0" name="Title 8">
            <a:extLst>
              <a:ext uri="{FF2B5EF4-FFF2-40B4-BE49-F238E27FC236}">
                <a16:creationId xmlns:a16="http://schemas.microsoft.com/office/drawing/2014/main" id="{1CD850F7-B0EC-49AD-960D-051EAF5F36D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8736" y="112543"/>
            <a:ext cx="11514528" cy="436098"/>
          </a:xfrm>
          <a:prstGeom prst="rect">
            <a:avLst/>
          </a:prstGeom>
        </p:spPr>
        <p:txBody>
          <a:bodyPr/>
          <a:lstStyle>
            <a:lvl1pPr>
              <a:defRPr sz="2800" b="1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r>
              <a:rPr lang="en-US" dirty="0"/>
              <a:t>Title 4:……………………………………..</a:t>
            </a:r>
          </a:p>
        </p:txBody>
      </p:sp>
      <p:sp>
        <p:nvSpPr>
          <p:cNvPr id="11" name="Chart Placeholder 14">
            <a:extLst>
              <a:ext uri="{FF2B5EF4-FFF2-40B4-BE49-F238E27FC236}">
                <a16:creationId xmlns:a16="http://schemas.microsoft.com/office/drawing/2014/main" id="{4A80550F-98CB-400B-9D36-210A7AED20E8}"/>
              </a:ext>
            </a:extLst>
          </p:cNvPr>
          <p:cNvSpPr>
            <a:spLocks noGrp="1"/>
          </p:cNvSpPr>
          <p:nvPr>
            <p:ph type="chart" sz="quarter" idx="13" hasCustomPrompt="1"/>
          </p:nvPr>
        </p:nvSpPr>
        <p:spPr>
          <a:xfrm>
            <a:off x="338736" y="1406525"/>
            <a:ext cx="5757264" cy="4670425"/>
          </a:xfrm>
          <a:prstGeom prst="rect">
            <a:avLst/>
          </a:prstGeom>
        </p:spPr>
        <p:txBody>
          <a:bodyPr/>
          <a:lstStyle>
            <a:lvl1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r>
              <a:rPr lang="en-US" dirty="0"/>
              <a:t>Chart</a:t>
            </a:r>
          </a:p>
        </p:txBody>
      </p:sp>
      <p:sp>
        <p:nvSpPr>
          <p:cNvPr id="12" name="Table Placeholder 16">
            <a:extLst>
              <a:ext uri="{FF2B5EF4-FFF2-40B4-BE49-F238E27FC236}">
                <a16:creationId xmlns:a16="http://schemas.microsoft.com/office/drawing/2014/main" id="{15345DA2-1E92-473D-9483-A24F87614F3D}"/>
              </a:ext>
            </a:extLst>
          </p:cNvPr>
          <p:cNvSpPr>
            <a:spLocks noGrp="1"/>
          </p:cNvSpPr>
          <p:nvPr>
            <p:ph type="tbl" sz="quarter" idx="14" hasCustomPrompt="1"/>
          </p:nvPr>
        </p:nvSpPr>
        <p:spPr>
          <a:xfrm>
            <a:off x="6210300" y="1392239"/>
            <a:ext cx="5592763" cy="4684712"/>
          </a:xfrm>
          <a:prstGeom prst="rect">
            <a:avLst/>
          </a:prstGeom>
        </p:spPr>
        <p:txBody>
          <a:bodyPr/>
          <a:lstStyle>
            <a:lvl1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r>
              <a:rPr lang="en-US" dirty="0"/>
              <a:t>Table</a:t>
            </a:r>
          </a:p>
        </p:txBody>
      </p:sp>
    </p:spTree>
    <p:extLst>
      <p:ext uri="{BB962C8B-B14F-4D97-AF65-F5344CB8AC3E}">
        <p14:creationId xmlns:p14="http://schemas.microsoft.com/office/powerpoint/2010/main" val="3242682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00">
        <p:fade/>
      </p:transition>
    </mc:Choice>
    <mc:Fallback xmlns="">
      <p:transition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Date Placeholder 3">
            <a:extLst>
              <a:ext uri="{FF2B5EF4-FFF2-40B4-BE49-F238E27FC236}">
                <a16:creationId xmlns:a16="http://schemas.microsoft.com/office/drawing/2014/main" id="{4F1F29B1-F2F8-4527-A0B9-5A566F0DB56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486006"/>
            <a:ext cx="2743200" cy="365125"/>
          </a:xfrm>
          <a:prstGeom prst="rect">
            <a:avLst/>
          </a:prstGeom>
        </p:spPr>
        <p:txBody>
          <a:bodyPr/>
          <a:lstStyle>
            <a:lvl1pPr>
              <a:defRPr sz="1200" b="1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EEBFCEF3-2DDE-476B-8A96-303EC557333C}" type="datetime1">
              <a:rPr lang="en-US" smtClean="0"/>
              <a:pPr/>
              <a:t>7/2/2026</a:t>
            </a:fld>
            <a:endParaRPr lang="en-US"/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B1F89192-9608-4DA0-9D58-CE5D74F016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486006"/>
            <a:ext cx="4114800" cy="365125"/>
          </a:xfrm>
          <a:prstGeom prst="rect">
            <a:avLst/>
          </a:prstGeom>
        </p:spPr>
        <p:txBody>
          <a:bodyPr/>
          <a:lstStyle>
            <a:lvl1pPr algn="ctr">
              <a:defRPr sz="1200" b="1">
                <a:solidFill>
                  <a:srgbClr val="00376F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41300396-45C9-472A-AA37-70408F1C2F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56511" y="6492875"/>
            <a:ext cx="2743200" cy="365125"/>
          </a:xfrm>
          <a:prstGeom prst="rect">
            <a:avLst/>
          </a:prstGeom>
        </p:spPr>
        <p:txBody>
          <a:bodyPr/>
          <a:lstStyle>
            <a:lvl1pPr algn="r">
              <a:defRPr sz="1200" b="1">
                <a:solidFill>
                  <a:srgbClr val="00376F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9EA0BE3B-158A-4EDF-80DC-E394A0D1600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9" name="Content Placeholder 4">
            <a:extLst>
              <a:ext uri="{FF2B5EF4-FFF2-40B4-BE49-F238E27FC236}">
                <a16:creationId xmlns:a16="http://schemas.microsoft.com/office/drawing/2014/main" id="{45B855E6-8413-49D5-929E-33A3B3627516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558372" y="1248325"/>
            <a:ext cx="7391400" cy="5205412"/>
          </a:xfrm>
          <a:prstGeom prst="rect">
            <a:avLst/>
          </a:prstGeom>
        </p:spPr>
        <p:txBody>
          <a:bodyPr/>
          <a:lstStyle>
            <a:lvl1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  <a:lvl2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2pPr>
            <a:lvl3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3pPr>
            <a:lvl4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4pPr>
            <a:lvl5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Title 8">
            <a:extLst>
              <a:ext uri="{FF2B5EF4-FFF2-40B4-BE49-F238E27FC236}">
                <a16:creationId xmlns:a16="http://schemas.microsoft.com/office/drawing/2014/main" id="{AB6BBE52-BFE6-4B4F-95C1-25C2EB84A64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58372" y="404265"/>
            <a:ext cx="7391400" cy="436098"/>
          </a:xfrm>
          <a:prstGeom prst="rect">
            <a:avLst/>
          </a:prstGeom>
        </p:spPr>
        <p:txBody>
          <a:bodyPr/>
          <a:lstStyle>
            <a:lvl1pPr>
              <a:defRPr sz="2800" b="1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r>
              <a:rPr lang="en-US" dirty="0"/>
              <a:t>Title 5:……………………………………..</a:t>
            </a:r>
          </a:p>
        </p:txBody>
      </p:sp>
    </p:spTree>
    <p:extLst>
      <p:ext uri="{BB962C8B-B14F-4D97-AF65-F5344CB8AC3E}">
        <p14:creationId xmlns:p14="http://schemas.microsoft.com/office/powerpoint/2010/main" val="411343918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00">
        <p:fade/>
      </p:transition>
    </mc:Choice>
    <mc:Fallback xmlns="">
      <p:transition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Comparison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8">
            <a:extLst>
              <a:ext uri="{FF2B5EF4-FFF2-40B4-BE49-F238E27FC236}">
                <a16:creationId xmlns:a16="http://schemas.microsoft.com/office/drawing/2014/main" id="{3E6AE9CF-41FF-46D0-BF7A-815E4777895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8736" y="112543"/>
            <a:ext cx="11514528" cy="436098"/>
          </a:xfrm>
          <a:prstGeom prst="rect">
            <a:avLst/>
          </a:prstGeom>
        </p:spPr>
        <p:txBody>
          <a:bodyPr/>
          <a:lstStyle>
            <a:lvl1pPr>
              <a:defRPr sz="2800" b="1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r>
              <a:rPr lang="en-US" dirty="0"/>
              <a:t>Title 6:……………………………………..</a:t>
            </a:r>
          </a:p>
        </p:txBody>
      </p:sp>
      <p:sp>
        <p:nvSpPr>
          <p:cNvPr id="12" name="Text Placeholder 9">
            <a:extLst>
              <a:ext uri="{FF2B5EF4-FFF2-40B4-BE49-F238E27FC236}">
                <a16:creationId xmlns:a16="http://schemas.microsoft.com/office/drawing/2014/main" id="{A85E41C6-3987-4F5C-A750-35F5C730A56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37539" y="1032510"/>
            <a:ext cx="11515725" cy="4938713"/>
          </a:xfrm>
          <a:prstGeom prst="rect">
            <a:avLst/>
          </a:prstGeom>
        </p:spPr>
        <p:txBody>
          <a:bodyPr/>
          <a:lstStyle>
            <a:lvl1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  <a:lvl2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2pPr>
            <a:lvl3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3pPr>
            <a:lvl4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4pPr>
            <a:lvl5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3" name="Date Placeholder 3">
            <a:extLst>
              <a:ext uri="{FF2B5EF4-FFF2-40B4-BE49-F238E27FC236}">
                <a16:creationId xmlns:a16="http://schemas.microsoft.com/office/drawing/2014/main" id="{C99BA7CA-DC84-4A35-BD8A-C14D582181A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486006"/>
            <a:ext cx="2743200" cy="365125"/>
          </a:xfrm>
          <a:prstGeom prst="rect">
            <a:avLst/>
          </a:prstGeom>
        </p:spPr>
        <p:txBody>
          <a:bodyPr/>
          <a:lstStyle>
            <a:lvl1pPr>
              <a:defRPr sz="1200" b="1">
                <a:solidFill>
                  <a:srgbClr val="00376F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8CDB0C24-DFE0-41C5-B02D-FC32F5C22F7C}" type="datetime1">
              <a:rPr lang="en-US" smtClean="0"/>
              <a:pPr/>
              <a:t>7/2/2026</a:t>
            </a:fld>
            <a:endParaRPr lang="en-US"/>
          </a:p>
        </p:txBody>
      </p:sp>
      <p:sp>
        <p:nvSpPr>
          <p:cNvPr id="14" name="Footer Placeholder 4">
            <a:extLst>
              <a:ext uri="{FF2B5EF4-FFF2-40B4-BE49-F238E27FC236}">
                <a16:creationId xmlns:a16="http://schemas.microsoft.com/office/drawing/2014/main" id="{E1DCC345-F4E6-42D6-9173-88011D0E27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486006"/>
            <a:ext cx="4114800" cy="365125"/>
          </a:xfrm>
          <a:prstGeom prst="rect">
            <a:avLst/>
          </a:prstGeom>
        </p:spPr>
        <p:txBody>
          <a:bodyPr/>
          <a:lstStyle>
            <a:lvl1pPr algn="ctr">
              <a:defRPr sz="1200" b="1">
                <a:solidFill>
                  <a:srgbClr val="00376F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BD82AFB1-CD7C-4710-A82A-F9FEE6DA5C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56511" y="6492875"/>
            <a:ext cx="2743200" cy="365125"/>
          </a:xfrm>
          <a:prstGeom prst="rect">
            <a:avLst/>
          </a:prstGeom>
        </p:spPr>
        <p:txBody>
          <a:bodyPr/>
          <a:lstStyle>
            <a:lvl1pPr algn="r">
              <a:defRPr sz="1200" b="1">
                <a:solidFill>
                  <a:srgbClr val="00376F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9EA0BE3B-158A-4EDF-80DC-E394A0D1600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13358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00">
        <p:fade/>
      </p:transition>
    </mc:Choice>
    <mc:Fallback xmlns="">
      <p:transition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wo Conten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84B5929F-A28F-4256-A6B2-5D095331D01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486006"/>
            <a:ext cx="2743200" cy="365125"/>
          </a:xfrm>
          <a:prstGeom prst="rect">
            <a:avLst/>
          </a:prstGeom>
        </p:spPr>
        <p:txBody>
          <a:bodyPr/>
          <a:lstStyle>
            <a:lvl1pPr>
              <a:defRPr sz="1200" b="1">
                <a:solidFill>
                  <a:srgbClr val="00376F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B3ACFEBC-8634-4116-B617-2BE5C2034C2C}" type="datetime1">
              <a:rPr lang="en-US" smtClean="0"/>
              <a:pPr/>
              <a:t>7/2/2026</a:t>
            </a:fld>
            <a:endParaRPr lang="en-US"/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7C2F339A-915E-4496-B889-28FBBAAD31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486006"/>
            <a:ext cx="4114800" cy="365125"/>
          </a:xfrm>
          <a:prstGeom prst="rect">
            <a:avLst/>
          </a:prstGeom>
        </p:spPr>
        <p:txBody>
          <a:bodyPr/>
          <a:lstStyle>
            <a:lvl1pPr algn="ctr">
              <a:defRPr sz="1200" b="1">
                <a:solidFill>
                  <a:srgbClr val="00376F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endParaRPr lang="en-US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028A2E5F-7F4D-4F39-A494-67088E8046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56511" y="6492875"/>
            <a:ext cx="2743200" cy="365125"/>
          </a:xfrm>
          <a:prstGeom prst="rect">
            <a:avLst/>
          </a:prstGeom>
        </p:spPr>
        <p:txBody>
          <a:bodyPr/>
          <a:lstStyle>
            <a:lvl1pPr algn="r">
              <a:defRPr sz="1200" b="1">
                <a:solidFill>
                  <a:srgbClr val="00376F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9EA0BE3B-158A-4EDF-80DC-E394A0D1600F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1" name="Title 8">
            <a:extLst>
              <a:ext uri="{FF2B5EF4-FFF2-40B4-BE49-F238E27FC236}">
                <a16:creationId xmlns:a16="http://schemas.microsoft.com/office/drawing/2014/main" id="{FC0C4515-8106-49DA-9C06-E98AF815242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8736" y="112543"/>
            <a:ext cx="11514528" cy="436098"/>
          </a:xfrm>
          <a:prstGeom prst="rect">
            <a:avLst/>
          </a:prstGeom>
        </p:spPr>
        <p:txBody>
          <a:bodyPr/>
          <a:lstStyle>
            <a:lvl1pPr>
              <a:defRPr sz="2800" b="1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r>
              <a:rPr lang="en-US" dirty="0"/>
              <a:t>Title 7:……………………………………..</a:t>
            </a:r>
          </a:p>
        </p:txBody>
      </p:sp>
      <p:sp>
        <p:nvSpPr>
          <p:cNvPr id="12" name="Chart Placeholder 9">
            <a:extLst>
              <a:ext uri="{FF2B5EF4-FFF2-40B4-BE49-F238E27FC236}">
                <a16:creationId xmlns:a16="http://schemas.microsoft.com/office/drawing/2014/main" id="{F49327FB-190B-40C4-9FC9-66F9F7D12317}"/>
              </a:ext>
            </a:extLst>
          </p:cNvPr>
          <p:cNvSpPr>
            <a:spLocks noGrp="1"/>
          </p:cNvSpPr>
          <p:nvPr>
            <p:ph type="chart" sz="quarter" idx="13" hasCustomPrompt="1"/>
          </p:nvPr>
        </p:nvSpPr>
        <p:spPr>
          <a:xfrm>
            <a:off x="330201" y="1406769"/>
            <a:ext cx="5765800" cy="4655894"/>
          </a:xfrm>
          <a:prstGeom prst="rect">
            <a:avLst/>
          </a:prstGeom>
        </p:spPr>
        <p:txBody>
          <a:bodyPr/>
          <a:lstStyle>
            <a:lvl1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r>
              <a:rPr lang="en-US" dirty="0"/>
              <a:t>Chart</a:t>
            </a:r>
          </a:p>
        </p:txBody>
      </p:sp>
      <p:sp>
        <p:nvSpPr>
          <p:cNvPr id="13" name="Picture Placeholder 11">
            <a:extLst>
              <a:ext uri="{FF2B5EF4-FFF2-40B4-BE49-F238E27FC236}">
                <a16:creationId xmlns:a16="http://schemas.microsoft.com/office/drawing/2014/main" id="{733EBCBB-E1FE-415C-8ED9-6D1F36748478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6238875" y="1414463"/>
            <a:ext cx="5445125" cy="4656137"/>
          </a:xfrm>
          <a:prstGeom prst="rect">
            <a:avLst/>
          </a:prstGeom>
        </p:spPr>
        <p:txBody>
          <a:bodyPr/>
          <a:lstStyle>
            <a:lvl1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r>
              <a:rPr lang="en-US" dirty="0"/>
              <a:t>Picture</a:t>
            </a:r>
          </a:p>
        </p:txBody>
      </p:sp>
    </p:spTree>
    <p:extLst>
      <p:ext uri="{BB962C8B-B14F-4D97-AF65-F5344CB8AC3E}">
        <p14:creationId xmlns:p14="http://schemas.microsoft.com/office/powerpoint/2010/main" val="96058506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00">
        <p:fade/>
      </p:transition>
    </mc:Choice>
    <mc:Fallback xmlns="">
      <p:transition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omparison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8">
            <a:extLst>
              <a:ext uri="{FF2B5EF4-FFF2-40B4-BE49-F238E27FC236}">
                <a16:creationId xmlns:a16="http://schemas.microsoft.com/office/drawing/2014/main" id="{3E6AE9CF-41FF-46D0-BF7A-815E4777895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8736" y="112543"/>
            <a:ext cx="11514528" cy="436098"/>
          </a:xfrm>
          <a:prstGeom prst="rect">
            <a:avLst/>
          </a:prstGeom>
        </p:spPr>
        <p:txBody>
          <a:bodyPr/>
          <a:lstStyle>
            <a:lvl1pPr>
              <a:defRPr sz="2800" b="1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r>
              <a:rPr lang="en-US" dirty="0"/>
              <a:t>Title 8:……………………………………..</a:t>
            </a:r>
          </a:p>
        </p:txBody>
      </p:sp>
      <p:sp>
        <p:nvSpPr>
          <p:cNvPr id="12" name="Text Placeholder 9">
            <a:extLst>
              <a:ext uri="{FF2B5EF4-FFF2-40B4-BE49-F238E27FC236}">
                <a16:creationId xmlns:a16="http://schemas.microsoft.com/office/drawing/2014/main" id="{A85E41C6-3987-4F5C-A750-35F5C730A56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37539" y="1032510"/>
            <a:ext cx="11515725" cy="4938713"/>
          </a:xfrm>
          <a:prstGeom prst="rect">
            <a:avLst/>
          </a:prstGeom>
        </p:spPr>
        <p:txBody>
          <a:bodyPr/>
          <a:lstStyle>
            <a:lvl1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  <a:lvl2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2pPr>
            <a:lvl3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3pPr>
            <a:lvl4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4pPr>
            <a:lvl5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3" name="Date Placeholder 3">
            <a:extLst>
              <a:ext uri="{FF2B5EF4-FFF2-40B4-BE49-F238E27FC236}">
                <a16:creationId xmlns:a16="http://schemas.microsoft.com/office/drawing/2014/main" id="{C99BA7CA-DC84-4A35-BD8A-C14D582181A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486006"/>
            <a:ext cx="2743200" cy="365125"/>
          </a:xfrm>
          <a:prstGeom prst="rect">
            <a:avLst/>
          </a:prstGeom>
        </p:spPr>
        <p:txBody>
          <a:bodyPr/>
          <a:lstStyle>
            <a:lvl1pPr>
              <a:defRPr sz="1200" b="1">
                <a:solidFill>
                  <a:srgbClr val="00376F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8CDB0C24-DFE0-41C5-B02D-FC32F5C22F7C}" type="datetime1">
              <a:rPr lang="en-US" smtClean="0"/>
              <a:pPr/>
              <a:t>7/2/2026</a:t>
            </a:fld>
            <a:endParaRPr lang="en-US"/>
          </a:p>
        </p:txBody>
      </p:sp>
      <p:sp>
        <p:nvSpPr>
          <p:cNvPr id="14" name="Footer Placeholder 4">
            <a:extLst>
              <a:ext uri="{FF2B5EF4-FFF2-40B4-BE49-F238E27FC236}">
                <a16:creationId xmlns:a16="http://schemas.microsoft.com/office/drawing/2014/main" id="{E1DCC345-F4E6-42D6-9173-88011D0E27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486006"/>
            <a:ext cx="4114800" cy="365125"/>
          </a:xfrm>
          <a:prstGeom prst="rect">
            <a:avLst/>
          </a:prstGeom>
        </p:spPr>
        <p:txBody>
          <a:bodyPr/>
          <a:lstStyle>
            <a:lvl1pPr algn="ctr">
              <a:defRPr sz="1200" b="1">
                <a:solidFill>
                  <a:srgbClr val="00376F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BD82AFB1-CD7C-4710-A82A-F9FEE6DA5C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56511" y="6492875"/>
            <a:ext cx="2743200" cy="365125"/>
          </a:xfrm>
          <a:prstGeom prst="rect">
            <a:avLst/>
          </a:prstGeom>
        </p:spPr>
        <p:txBody>
          <a:bodyPr/>
          <a:lstStyle>
            <a:lvl1pPr algn="r">
              <a:defRPr sz="1200" b="1">
                <a:solidFill>
                  <a:srgbClr val="00376F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9EA0BE3B-158A-4EDF-80DC-E394A0D1600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003201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00">
        <p:fade/>
      </p:transition>
    </mc:Choice>
    <mc:Fallback xmlns="">
      <p:transition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wo Conten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84B5929F-A28F-4256-A6B2-5D095331D01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486006"/>
            <a:ext cx="2743200" cy="365125"/>
          </a:xfrm>
          <a:prstGeom prst="rect">
            <a:avLst/>
          </a:prstGeom>
        </p:spPr>
        <p:txBody>
          <a:bodyPr/>
          <a:lstStyle>
            <a:lvl1pPr>
              <a:defRPr sz="1200" b="1">
                <a:solidFill>
                  <a:srgbClr val="00376F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B3ACFEBC-8634-4116-B617-2BE5C2034C2C}" type="datetime1">
              <a:rPr lang="en-US" smtClean="0"/>
              <a:pPr/>
              <a:t>7/2/2026</a:t>
            </a:fld>
            <a:endParaRPr lang="en-US"/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7C2F339A-915E-4496-B889-28FBBAAD31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486006"/>
            <a:ext cx="4114800" cy="365125"/>
          </a:xfrm>
          <a:prstGeom prst="rect">
            <a:avLst/>
          </a:prstGeom>
        </p:spPr>
        <p:txBody>
          <a:bodyPr/>
          <a:lstStyle>
            <a:lvl1pPr algn="ctr">
              <a:defRPr sz="1200" b="1">
                <a:solidFill>
                  <a:srgbClr val="00376F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endParaRPr lang="en-US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028A2E5F-7F4D-4F39-A494-67088E8046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56511" y="6492875"/>
            <a:ext cx="2743200" cy="365125"/>
          </a:xfrm>
          <a:prstGeom prst="rect">
            <a:avLst/>
          </a:prstGeom>
        </p:spPr>
        <p:txBody>
          <a:bodyPr/>
          <a:lstStyle>
            <a:lvl1pPr algn="r">
              <a:defRPr sz="1200" b="1">
                <a:solidFill>
                  <a:srgbClr val="00376F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9EA0BE3B-158A-4EDF-80DC-E394A0D1600F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1" name="Title 8">
            <a:extLst>
              <a:ext uri="{FF2B5EF4-FFF2-40B4-BE49-F238E27FC236}">
                <a16:creationId xmlns:a16="http://schemas.microsoft.com/office/drawing/2014/main" id="{FC0C4515-8106-49DA-9C06-E98AF815242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8736" y="112543"/>
            <a:ext cx="11514528" cy="436098"/>
          </a:xfrm>
          <a:prstGeom prst="rect">
            <a:avLst/>
          </a:prstGeom>
        </p:spPr>
        <p:txBody>
          <a:bodyPr/>
          <a:lstStyle>
            <a:lvl1pPr>
              <a:defRPr sz="2800" b="1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r>
              <a:rPr lang="en-US" dirty="0"/>
              <a:t>Title 9:……………………………………..</a:t>
            </a:r>
          </a:p>
        </p:txBody>
      </p:sp>
      <p:sp>
        <p:nvSpPr>
          <p:cNvPr id="12" name="Chart Placeholder 9">
            <a:extLst>
              <a:ext uri="{FF2B5EF4-FFF2-40B4-BE49-F238E27FC236}">
                <a16:creationId xmlns:a16="http://schemas.microsoft.com/office/drawing/2014/main" id="{F49327FB-190B-40C4-9FC9-66F9F7D12317}"/>
              </a:ext>
            </a:extLst>
          </p:cNvPr>
          <p:cNvSpPr>
            <a:spLocks noGrp="1"/>
          </p:cNvSpPr>
          <p:nvPr>
            <p:ph type="chart" sz="quarter" idx="13" hasCustomPrompt="1"/>
          </p:nvPr>
        </p:nvSpPr>
        <p:spPr>
          <a:xfrm>
            <a:off x="330201" y="1406769"/>
            <a:ext cx="5765800" cy="4655894"/>
          </a:xfrm>
          <a:prstGeom prst="rect">
            <a:avLst/>
          </a:prstGeom>
        </p:spPr>
        <p:txBody>
          <a:bodyPr/>
          <a:lstStyle>
            <a:lvl1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r>
              <a:rPr lang="en-US" dirty="0"/>
              <a:t>Chart</a:t>
            </a:r>
          </a:p>
        </p:txBody>
      </p:sp>
      <p:sp>
        <p:nvSpPr>
          <p:cNvPr id="13" name="Picture Placeholder 11">
            <a:extLst>
              <a:ext uri="{FF2B5EF4-FFF2-40B4-BE49-F238E27FC236}">
                <a16:creationId xmlns:a16="http://schemas.microsoft.com/office/drawing/2014/main" id="{733EBCBB-E1FE-415C-8ED9-6D1F36748478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6238875" y="1414463"/>
            <a:ext cx="5445125" cy="4656137"/>
          </a:xfrm>
          <a:prstGeom prst="rect">
            <a:avLst/>
          </a:prstGeom>
        </p:spPr>
        <p:txBody>
          <a:bodyPr/>
          <a:lstStyle>
            <a:lvl1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r>
              <a:rPr lang="en-US" dirty="0"/>
              <a:t>Picture</a:t>
            </a:r>
          </a:p>
        </p:txBody>
      </p:sp>
    </p:spTree>
    <p:extLst>
      <p:ext uri="{BB962C8B-B14F-4D97-AF65-F5344CB8AC3E}">
        <p14:creationId xmlns:p14="http://schemas.microsoft.com/office/powerpoint/2010/main" val="122620056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00">
        <p:fade/>
      </p:transition>
    </mc:Choice>
    <mc:Fallback xmlns="">
      <p:transition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Caption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A21A061D-9F38-49ED-BAF8-8055D9FB97A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492875"/>
            <a:ext cx="2743200" cy="365125"/>
          </a:xfrm>
          <a:prstGeom prst="rect">
            <a:avLst/>
          </a:prstGeom>
        </p:spPr>
        <p:txBody>
          <a:bodyPr/>
          <a:lstStyle>
            <a:lvl1pPr>
              <a:defRPr sz="1200" b="1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82F65D4C-DEE4-4C7B-91C4-D6D57A523E98}" type="datetime1">
              <a:rPr lang="en-US" smtClean="0"/>
              <a:pPr/>
              <a:t>7/2/2026</a:t>
            </a:fld>
            <a:endParaRPr lang="en-US"/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490FAA6E-46AD-4366-8E80-2F5BEB7D5B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492875"/>
            <a:ext cx="4114800" cy="365125"/>
          </a:xfrm>
          <a:prstGeom prst="rect">
            <a:avLst/>
          </a:prstGeom>
        </p:spPr>
        <p:txBody>
          <a:bodyPr/>
          <a:lstStyle>
            <a:lvl1pPr algn="ctr">
              <a:defRPr sz="1200" b="1">
                <a:solidFill>
                  <a:srgbClr val="00376F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9A5604C7-0828-446E-97CC-8D6162E69E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56511" y="6492875"/>
            <a:ext cx="2743200" cy="365125"/>
          </a:xfrm>
          <a:prstGeom prst="rect">
            <a:avLst/>
          </a:prstGeom>
        </p:spPr>
        <p:txBody>
          <a:bodyPr/>
          <a:lstStyle>
            <a:lvl1pPr algn="r">
              <a:defRPr sz="1200" b="1">
                <a:solidFill>
                  <a:srgbClr val="00376F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9EA0BE3B-158A-4EDF-80DC-E394A0D1600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488166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00">
        <p:fade/>
      </p:transition>
    </mc:Choice>
    <mc:Fallback xmlns="">
      <p:transition>
        <p:fade/>
      </p:transition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5603337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00">
        <p:fade/>
      </p:transition>
    </mc:Choice>
    <mc:Fallback xmlns="">
      <p:transition>
        <p:fade/>
      </p:transition>
    </mc:Fallback>
  </mc:AlternateConten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4">
            <a:extLst>
              <a:ext uri="{FF2B5EF4-FFF2-40B4-BE49-F238E27FC236}">
                <a16:creationId xmlns:a16="http://schemas.microsoft.com/office/drawing/2014/main" id="{4C167836-5AFF-4757-AB55-39FD3BBF9D4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788898" y="2461846"/>
            <a:ext cx="4614203" cy="1934307"/>
          </a:xfrm>
          <a:prstGeom prst="rect">
            <a:avLst/>
          </a:prstGeom>
        </p:spPr>
        <p:txBody>
          <a:bodyPr/>
          <a:lstStyle>
            <a:lvl1pPr algn="ctr">
              <a:defRPr sz="4800" b="1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98152027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00">
        <p:fade/>
      </p:transition>
    </mc:Choice>
    <mc:Fallback xmlns="">
      <p:transition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1.pn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5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0954338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0" r:id="rId1"/>
    <p:sldLayoutId id="2147483651" r:id="rId2"/>
    <p:sldLayoutId id="2147483652" r:id="rId3"/>
    <p:sldLayoutId id="2147483653" r:id="rId4"/>
    <p:sldLayoutId id="2147483655" r:id="rId5"/>
    <p:sldLayoutId id="2147483654" r:id="rId6"/>
    <p:sldLayoutId id="2147483660" r:id="rId7"/>
    <p:sldLayoutId id="2147483659" r:id="rId8"/>
    <p:sldLayoutId id="2147483658" r:id="rId9"/>
    <p:sldLayoutId id="2147483661" r:id="rId10"/>
    <p:sldLayoutId id="2147483656" r:id="rId11"/>
    <p:sldLayoutId id="2147483657" r:id="rId12"/>
    <p:sldLayoutId id="2147483649" r:id="rId13"/>
  </p:sldLayoutIdLst>
  <mc:AlternateContent xmlns:mc="http://schemas.openxmlformats.org/markup-compatibility/2006" xmlns:p14="http://schemas.microsoft.com/office/powerpoint/2010/main">
    <mc:Choice Requires="p14">
      <p:transition p14:dur="200">
        <p:fade/>
      </p:transition>
    </mc:Choice>
    <mc:Fallback xmlns="">
      <p:transition>
        <p:fade/>
      </p:transition>
    </mc:Fallback>
  </mc:AlternateConten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1.png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7" Type="http://schemas.openxmlformats.org/officeDocument/2006/relationships/image" Target="../media/image2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6.png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3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5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5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5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3">
            <a:extLst>
              <a:ext uri="{FF2B5EF4-FFF2-40B4-BE49-F238E27FC236}">
                <a16:creationId xmlns:a16="http://schemas.microsoft.com/office/drawing/2014/main" id="{737FC17F-78B9-4DA3-B1E3-B6651CB1745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86634" y="331380"/>
            <a:ext cx="3174367" cy="952975"/>
          </a:xfrm>
          <a:prstGeom prst="rect">
            <a:avLst/>
          </a:prstGeom>
        </p:spPr>
      </p:pic>
      <p:sp>
        <p:nvSpPr>
          <p:cNvPr id="3" name="Title 6">
            <a:extLst>
              <a:ext uri="{FF2B5EF4-FFF2-40B4-BE49-F238E27FC236}">
                <a16:creationId xmlns:a16="http://schemas.microsoft.com/office/drawing/2014/main" id="{5702E00C-3125-4CD1-A5F8-64723BF48E3E}"/>
              </a:ext>
            </a:extLst>
          </p:cNvPr>
          <p:cNvSpPr txBox="1">
            <a:spLocks/>
          </p:cNvSpPr>
          <p:nvPr/>
        </p:nvSpPr>
        <p:spPr>
          <a:xfrm>
            <a:off x="386634" y="2219413"/>
            <a:ext cx="10044299" cy="1649854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b="1" kern="1200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r>
              <a:rPr lang="en-US" b="0"/>
              <a:t>Student’s engagement detection in online classes</a:t>
            </a:r>
          </a:p>
        </p:txBody>
      </p:sp>
      <p:sp>
        <p:nvSpPr>
          <p:cNvPr id="4" name="Title 6">
            <a:extLst>
              <a:ext uri="{FF2B5EF4-FFF2-40B4-BE49-F238E27FC236}">
                <a16:creationId xmlns:a16="http://schemas.microsoft.com/office/drawing/2014/main" id="{72BF49D9-2FCE-4950-8B1C-F580CC18F4C9}"/>
              </a:ext>
            </a:extLst>
          </p:cNvPr>
          <p:cNvSpPr txBox="1">
            <a:spLocks/>
          </p:cNvSpPr>
          <p:nvPr/>
        </p:nvSpPr>
        <p:spPr>
          <a:xfrm>
            <a:off x="386634" y="3931747"/>
            <a:ext cx="8257833" cy="18255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b="1" kern="1200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r>
              <a:rPr lang="en-US" sz="2800" b="0" dirty="0"/>
              <a:t>Phan Minh Hòa - 20225495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9BF4829-01AB-4F75-A03B-DF4FC4C312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A0BE3B-158A-4EDF-80DC-E394A0D1600F}" type="slidenum">
              <a:rPr lang="en-US" smtClean="0"/>
              <a:pPr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31729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00">
        <p:fade/>
      </p:transition>
    </mc:Choice>
    <mc:Fallback xmlns="">
      <p:transition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5308E1B1-D9CD-415A-BCE5-B57F39B2F31D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pPr marL="514350" indent="-514350">
              <a:buAutoNum type="arabicPeriod"/>
            </a:pPr>
            <a:r>
              <a:rPr lang="en-US"/>
              <a:t>Introduction</a:t>
            </a:r>
          </a:p>
          <a:p>
            <a:pPr marL="514350" indent="-514350">
              <a:buAutoNum type="arabicPeriod"/>
            </a:pPr>
            <a:r>
              <a:rPr lang="en-US"/>
              <a:t>Literature Review</a:t>
            </a:r>
          </a:p>
          <a:p>
            <a:pPr marL="514350" indent="-514350">
              <a:buAutoNum type="arabicPeriod"/>
            </a:pPr>
            <a:r>
              <a:rPr lang="en-US"/>
              <a:t>Methodology</a:t>
            </a:r>
          </a:p>
          <a:p>
            <a:pPr marL="514350" indent="-514350">
              <a:buAutoNum type="arabicPeriod"/>
            </a:pPr>
            <a:r>
              <a:rPr lang="en-US"/>
              <a:t>Experimental Results</a:t>
            </a:r>
          </a:p>
          <a:p>
            <a:pPr marL="514350" indent="-514350">
              <a:buAutoNum type="arabicPeriod"/>
            </a:pPr>
            <a:r>
              <a:rPr lang="en-US"/>
              <a:t>Conclusions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AD6941D0-D074-43AE-8875-C4BDC98ADB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Content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D91CA00-8B5A-4B5F-AE21-CF0691D64D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A0BE3B-158A-4EDF-80DC-E394A0D1600F}" type="slidenum">
              <a:rPr lang="en-US" smtClean="0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550054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00">
        <p:fade/>
      </p:transition>
    </mc:Choice>
    <mc:Fallback xmlns="">
      <p:transition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B7B4C0-1A87-3AEA-CA04-910607BD85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>
            <a:extLst>
              <a:ext uri="{FF2B5EF4-FFF2-40B4-BE49-F238E27FC236}">
                <a16:creationId xmlns:a16="http://schemas.microsoft.com/office/drawing/2014/main" id="{00D31DE1-6BD8-2C7C-CA1E-15ACB6CFA6D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41665" y="3694701"/>
            <a:ext cx="2234160" cy="167739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AB98451-2B17-4542-60DD-741660BBB5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8736" y="112543"/>
            <a:ext cx="2768021" cy="436098"/>
          </a:xfrm>
        </p:spPr>
        <p:txBody>
          <a:bodyPr/>
          <a:lstStyle/>
          <a:p>
            <a:r>
              <a:rPr lang="en-US" dirty="0"/>
              <a:t>1. Introduction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ED558AB-E35A-41A1-84F3-8128DEBDDA2E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06392" y="1066196"/>
            <a:ext cx="4010578" cy="657673"/>
          </a:xfrm>
        </p:spPr>
        <p:txBody>
          <a:bodyPr/>
          <a:lstStyle/>
          <a:p>
            <a:pPr marL="0" indent="0">
              <a:buNone/>
            </a:pPr>
            <a:r>
              <a:rPr lang="en-US" b="1"/>
              <a:t>Problem Statement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DAF71C1-125B-0929-45B0-6CF4AAF4F1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A0BE3B-158A-4EDF-80DC-E394A0D1600F}" type="slidenum">
              <a:rPr lang="en-US" smtClean="0"/>
              <a:pPr/>
              <a:t>3</a:t>
            </a:fld>
            <a:endParaRPr lang="en-US" dirty="0"/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48AB0CF0-BED9-CB26-CA6C-20CFDC3EC064}"/>
              </a:ext>
            </a:extLst>
          </p:cNvPr>
          <p:cNvSpPr txBox="1">
            <a:spLocks/>
          </p:cNvSpPr>
          <p:nvPr/>
        </p:nvSpPr>
        <p:spPr>
          <a:xfrm>
            <a:off x="561421" y="1527161"/>
            <a:ext cx="5802875" cy="4264643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Task: Recognize students’ engagement level </a:t>
            </a:r>
          </a:p>
          <a:p>
            <a:r>
              <a:rPr lang="en-US" dirty="0"/>
              <a:t>Input: 10s clips from students’ webcams</a:t>
            </a:r>
          </a:p>
          <a:p>
            <a:r>
              <a:rPr lang="en-US" dirty="0"/>
              <a:t>Output: 4 classes</a:t>
            </a:r>
          </a:p>
          <a:p>
            <a:pPr lvl="1"/>
            <a:r>
              <a:rPr lang="en-US" dirty="0"/>
              <a:t>Highly Engage</a:t>
            </a:r>
          </a:p>
          <a:p>
            <a:pPr lvl="1"/>
            <a:r>
              <a:rPr lang="en-US" dirty="0"/>
              <a:t>Engage</a:t>
            </a:r>
          </a:p>
          <a:p>
            <a:pPr lvl="1"/>
            <a:r>
              <a:rPr lang="en-US" dirty="0"/>
              <a:t>Disengage</a:t>
            </a:r>
          </a:p>
          <a:p>
            <a:pPr lvl="1"/>
            <a:r>
              <a:rPr lang="en-US" dirty="0"/>
              <a:t>Highly Disengage</a:t>
            </a: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C998E620-55FB-9A90-1C17-7ADF10208AD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43982" y="1723869"/>
            <a:ext cx="2197683" cy="1996485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353EE243-84BD-F1E0-6CF5-81ED8352E3D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41665" y="1723869"/>
            <a:ext cx="2234160" cy="1996485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67C6FB75-E595-F045-2BAE-5DA06C47D60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43982" y="3720354"/>
            <a:ext cx="2197683" cy="1651740"/>
          </a:xfrm>
          <a:prstGeom prst="rect">
            <a:avLst/>
          </a:prstGeom>
        </p:spPr>
      </p:pic>
      <p:sp>
        <p:nvSpPr>
          <p:cNvPr id="5" name="Title 1">
            <a:extLst>
              <a:ext uri="{FF2B5EF4-FFF2-40B4-BE49-F238E27FC236}">
                <a16:creationId xmlns:a16="http://schemas.microsoft.com/office/drawing/2014/main" id="{78CB30A8-EF35-DA7B-64D1-B18EE877EA69}"/>
              </a:ext>
            </a:extLst>
          </p:cNvPr>
          <p:cNvSpPr txBox="1">
            <a:spLocks/>
          </p:cNvSpPr>
          <p:nvPr/>
        </p:nvSpPr>
        <p:spPr>
          <a:xfrm>
            <a:off x="9957839" y="112543"/>
            <a:ext cx="1895426" cy="436098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800" b="1" kern="1200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pPr algn="r"/>
            <a:r>
              <a:rPr lang="en-US" dirty="0"/>
              <a:t>(1/3)</a:t>
            </a:r>
          </a:p>
        </p:txBody>
      </p:sp>
    </p:spTree>
    <p:extLst>
      <p:ext uri="{BB962C8B-B14F-4D97-AF65-F5344CB8AC3E}">
        <p14:creationId xmlns:p14="http://schemas.microsoft.com/office/powerpoint/2010/main" val="194794070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00">
        <p:fade/>
      </p:transition>
    </mc:Choice>
    <mc:Fallback xmlns="">
      <p:transition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8C8FD1-E1EA-3E64-A1CB-4121983DC0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1C8BAC-4AF2-C0AD-60B7-645DBA3EC0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1. Introduction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E23136A-C1C8-6A04-920D-9E70EF956F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A0BE3B-158A-4EDF-80DC-E394A0D1600F}" type="slidenum">
              <a:rPr lang="en-US" smtClean="0"/>
              <a:pPr/>
              <a:t>4</a:t>
            </a:fld>
            <a:endParaRPr lang="en-US" dirty="0"/>
          </a:p>
        </p:txBody>
      </p:sp>
      <p:sp>
        <p:nvSpPr>
          <p:cNvPr id="18" name="Content Placeholder 2">
            <a:extLst>
              <a:ext uri="{FF2B5EF4-FFF2-40B4-BE49-F238E27FC236}">
                <a16:creationId xmlns:a16="http://schemas.microsoft.com/office/drawing/2014/main" id="{31D2388E-EA8E-4623-4066-4A70208DB8DE}"/>
              </a:ext>
            </a:extLst>
          </p:cNvPr>
          <p:cNvSpPr txBox="1">
            <a:spLocks/>
          </p:cNvSpPr>
          <p:nvPr/>
        </p:nvSpPr>
        <p:spPr>
          <a:xfrm>
            <a:off x="606392" y="1066196"/>
            <a:ext cx="4010578" cy="657673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b="1" dirty="0"/>
              <a:t>Key Challenges</a:t>
            </a:r>
          </a:p>
        </p:txBody>
      </p:sp>
      <p:sp>
        <p:nvSpPr>
          <p:cNvPr id="19" name="Content Placeholder 2">
            <a:extLst>
              <a:ext uri="{FF2B5EF4-FFF2-40B4-BE49-F238E27FC236}">
                <a16:creationId xmlns:a16="http://schemas.microsoft.com/office/drawing/2014/main" id="{6774727F-BA14-D855-52C5-AA15ABDC36D5}"/>
              </a:ext>
            </a:extLst>
          </p:cNvPr>
          <p:cNvSpPr txBox="1">
            <a:spLocks/>
          </p:cNvSpPr>
          <p:nvPr/>
        </p:nvSpPr>
        <p:spPr>
          <a:xfrm>
            <a:off x="606392" y="1839466"/>
            <a:ext cx="3085563" cy="1589534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/>
              <a:t>Ordinality</a:t>
            </a:r>
          </a:p>
          <a:p>
            <a:r>
              <a:rPr lang="en-US"/>
              <a:t>Imbalance</a:t>
            </a:r>
          </a:p>
          <a:p>
            <a:r>
              <a:rPr lang="en-US"/>
              <a:t>Angle Diversity</a:t>
            </a:r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D3D7C9A8-960C-4C91-C131-73A30757C69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5503" y="4156937"/>
            <a:ext cx="2917343" cy="1640577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2FE9653F-3643-29B2-0188-3B2DADB43EB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15988" y="4156937"/>
            <a:ext cx="2883723" cy="1634867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8938FA3F-A3FB-A22E-9843-9D6C57DBC8E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39418" y="4156937"/>
            <a:ext cx="2876570" cy="1634867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C5145315-53E5-903E-586A-7C5EA32DF9D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262847" y="4159239"/>
            <a:ext cx="2876570" cy="1638275"/>
          </a:xfrm>
          <a:prstGeom prst="rect">
            <a:avLst/>
          </a:prstGeom>
        </p:spPr>
      </p:pic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F09B92DA-96F3-DA0E-ECB3-A1D7460AF81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30828493"/>
              </p:ext>
            </p:extLst>
          </p:nvPr>
        </p:nvGraphicFramePr>
        <p:xfrm>
          <a:off x="4898602" y="1606746"/>
          <a:ext cx="6687006" cy="184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1446">
                  <a:extLst>
                    <a:ext uri="{9D8B030D-6E8A-4147-A177-3AD203B41FA5}">
                      <a16:colId xmlns:a16="http://schemas.microsoft.com/office/drawing/2014/main" val="1834286826"/>
                    </a:ext>
                  </a:extLst>
                </a:gridCol>
                <a:gridCol w="1399142">
                  <a:extLst>
                    <a:ext uri="{9D8B030D-6E8A-4147-A177-3AD203B41FA5}">
                      <a16:colId xmlns:a16="http://schemas.microsoft.com/office/drawing/2014/main" val="948797892"/>
                    </a:ext>
                  </a:extLst>
                </a:gridCol>
                <a:gridCol w="1432193">
                  <a:extLst>
                    <a:ext uri="{9D8B030D-6E8A-4147-A177-3AD203B41FA5}">
                      <a16:colId xmlns:a16="http://schemas.microsoft.com/office/drawing/2014/main" val="658952351"/>
                    </a:ext>
                  </a:extLst>
                </a:gridCol>
                <a:gridCol w="1454225">
                  <a:extLst>
                    <a:ext uri="{9D8B030D-6E8A-4147-A177-3AD203B41FA5}">
                      <a16:colId xmlns:a16="http://schemas.microsoft.com/office/drawing/2014/main" val="3519637500"/>
                    </a:ext>
                  </a:extLst>
                </a:gridCol>
              </a:tblGrid>
              <a:tr h="353596">
                <a:tc>
                  <a:txBody>
                    <a:bodyPr/>
                    <a:lstStyle/>
                    <a:p>
                      <a:r>
                        <a:rPr lang="en-US" dirty="0"/>
                        <a:t>Engagement class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CMOSE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DAiSEE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Private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7229755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Highly Engage (HE)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9.6%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43.8%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30.6%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3650169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Engage (EG)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69.4%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50.3%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58.2%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330149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Disengage (DE)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18.1%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5.1%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8.5%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797992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Highly Disengage (HD)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2.7%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60705829"/>
                  </a:ext>
                </a:extLst>
              </a:tr>
            </a:tbl>
          </a:graphicData>
        </a:graphic>
      </p:graphicFrame>
      <p:sp>
        <p:nvSpPr>
          <p:cNvPr id="6" name="Title 1">
            <a:extLst>
              <a:ext uri="{FF2B5EF4-FFF2-40B4-BE49-F238E27FC236}">
                <a16:creationId xmlns:a16="http://schemas.microsoft.com/office/drawing/2014/main" id="{5D01FE60-288A-CC0C-5637-A983701CA00B}"/>
              </a:ext>
            </a:extLst>
          </p:cNvPr>
          <p:cNvSpPr txBox="1">
            <a:spLocks/>
          </p:cNvSpPr>
          <p:nvPr/>
        </p:nvSpPr>
        <p:spPr>
          <a:xfrm>
            <a:off x="9957839" y="112543"/>
            <a:ext cx="1895426" cy="436098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800" b="1" kern="1200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pPr algn="r"/>
            <a:r>
              <a:rPr lang="en-US" dirty="0"/>
              <a:t>(2/3)</a:t>
            </a:r>
          </a:p>
        </p:txBody>
      </p:sp>
    </p:spTree>
    <p:extLst>
      <p:ext uri="{BB962C8B-B14F-4D97-AF65-F5344CB8AC3E}">
        <p14:creationId xmlns:p14="http://schemas.microsoft.com/office/powerpoint/2010/main" val="28004884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00">
        <p:fade/>
      </p:transition>
    </mc:Choice>
    <mc:Fallback xmlns="">
      <p:transition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9B3AB5-95DF-4273-871C-843529DB72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1. Introduction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CAB879D-D188-4DA3-8675-F8BCF379A1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A0BE3B-158A-4EDF-80DC-E394A0D1600F}" type="slidenum">
              <a:rPr lang="en-US" smtClean="0"/>
              <a:pPr/>
              <a:t>5</a:t>
            </a:fld>
            <a:endParaRPr lang="en-US"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100A148E-BE35-3C4E-99AD-CF53BA42E8A5}"/>
              </a:ext>
            </a:extLst>
          </p:cNvPr>
          <p:cNvSpPr txBox="1">
            <a:spLocks/>
          </p:cNvSpPr>
          <p:nvPr/>
        </p:nvSpPr>
        <p:spPr>
          <a:xfrm>
            <a:off x="606392" y="1066196"/>
            <a:ext cx="4010578" cy="657673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b="1" dirty="0"/>
              <a:t>Research Gaps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8B64B79C-63B6-D522-49A1-56ED9F21321E}"/>
              </a:ext>
            </a:extLst>
          </p:cNvPr>
          <p:cNvSpPr txBox="1">
            <a:spLocks/>
          </p:cNvSpPr>
          <p:nvPr/>
        </p:nvSpPr>
        <p:spPr>
          <a:xfrm>
            <a:off x="606392" y="3100163"/>
            <a:ext cx="4010578" cy="657673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b="1" dirty="0"/>
              <a:t>Contributions</a:t>
            </a:r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A14DBB38-70A7-BEFC-2B46-29908DFA2588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06391" y="1583751"/>
            <a:ext cx="11293319" cy="1424310"/>
          </a:xfrm>
        </p:spPr>
        <p:txBody>
          <a:bodyPr/>
          <a:lstStyle/>
          <a:p>
            <a:r>
              <a:rPr lang="en-US" dirty="0"/>
              <a:t>Facial features are mixed but are encoded as one block.</a:t>
            </a:r>
          </a:p>
          <a:p>
            <a:r>
              <a:rPr lang="en-US" dirty="0"/>
              <a:t>Studies mostly use accuracy for evaluation and cross dataset </a:t>
            </a:r>
            <a:r>
              <a:rPr lang="en-US" dirty="0" err="1"/>
              <a:t>generalisation</a:t>
            </a:r>
            <a:r>
              <a:rPr lang="en-US" dirty="0"/>
              <a:t> is limited.</a:t>
            </a:r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A6BCC16D-BFCB-B860-4A66-FBBA847778C3}"/>
              </a:ext>
            </a:extLst>
          </p:cNvPr>
          <p:cNvSpPr txBox="1">
            <a:spLocks/>
          </p:cNvSpPr>
          <p:nvPr/>
        </p:nvSpPr>
        <p:spPr>
          <a:xfrm>
            <a:off x="606392" y="3757836"/>
            <a:ext cx="10979216" cy="1607378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New architecture that divide facial features then fuse them.</a:t>
            </a:r>
          </a:p>
          <a:p>
            <a:r>
              <a:rPr lang="en-US" dirty="0"/>
              <a:t>New private dataset manually labeled from a SOICT online class.</a:t>
            </a:r>
          </a:p>
          <a:p>
            <a:r>
              <a:rPr lang="en-US" dirty="0"/>
              <a:t>Generalization study using QWK instead of accuracy.</a:t>
            </a: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0BC6EE65-C757-5C98-1152-750AD9179ECE}"/>
              </a:ext>
            </a:extLst>
          </p:cNvPr>
          <p:cNvSpPr txBox="1">
            <a:spLocks/>
          </p:cNvSpPr>
          <p:nvPr/>
        </p:nvSpPr>
        <p:spPr>
          <a:xfrm>
            <a:off x="9957839" y="112543"/>
            <a:ext cx="1895426" cy="436098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800" b="1" kern="1200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pPr algn="r"/>
            <a:r>
              <a:rPr lang="en-US" dirty="0"/>
              <a:t>(3/3)</a:t>
            </a:r>
          </a:p>
        </p:txBody>
      </p:sp>
    </p:spTree>
    <p:extLst>
      <p:ext uri="{BB962C8B-B14F-4D97-AF65-F5344CB8AC3E}">
        <p14:creationId xmlns:p14="http://schemas.microsoft.com/office/powerpoint/2010/main" val="22143377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00">
        <p:fade/>
      </p:transition>
    </mc:Choice>
    <mc:Fallback xmlns="">
      <p:transition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1A1944-94D8-3C6B-F8DC-17425E09C6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9245B3-2FD8-B6B4-174C-A9DEEE7EFE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2. Literature Review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14A4F0-81B5-F48E-E2A1-6B58713275AB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06392" y="1723868"/>
            <a:ext cx="5904577" cy="4251451"/>
          </a:xfrm>
        </p:spPr>
        <p:txBody>
          <a:bodyPr/>
          <a:lstStyle/>
          <a:p>
            <a:r>
              <a:rPr lang="en-US" dirty="0" err="1"/>
              <a:t>OpenFace</a:t>
            </a:r>
            <a:r>
              <a:rPr lang="en-US" dirty="0"/>
              <a:t> features:</a:t>
            </a:r>
          </a:p>
          <a:p>
            <a:pPr lvl="1"/>
            <a:r>
              <a:rPr lang="en-US" dirty="0"/>
              <a:t>709 features per frame, includes:</a:t>
            </a:r>
          </a:p>
          <a:p>
            <a:pPr lvl="2"/>
            <a:r>
              <a:rPr lang="en-US" dirty="0"/>
              <a:t>Gaze</a:t>
            </a:r>
          </a:p>
          <a:p>
            <a:pPr lvl="2"/>
            <a:r>
              <a:rPr lang="en-US" dirty="0"/>
              <a:t>Eye landmarks</a:t>
            </a:r>
          </a:p>
          <a:p>
            <a:pPr lvl="2"/>
            <a:r>
              <a:rPr lang="en-US" dirty="0"/>
              <a:t>Face landmarks</a:t>
            </a:r>
          </a:p>
          <a:p>
            <a:pPr lvl="2"/>
            <a:r>
              <a:rPr lang="en-US" dirty="0"/>
              <a:t>Head pose</a:t>
            </a:r>
          </a:p>
          <a:p>
            <a:pPr lvl="2"/>
            <a:r>
              <a:rPr lang="en-US" dirty="0"/>
              <a:t>Action units</a:t>
            </a:r>
          </a:p>
          <a:p>
            <a:r>
              <a:rPr lang="en-US" dirty="0"/>
              <a:t>I3D features:</a:t>
            </a:r>
          </a:p>
          <a:p>
            <a:pPr lvl="1"/>
            <a:r>
              <a:rPr lang="en-US" dirty="0"/>
              <a:t>1024 features per clip</a:t>
            </a:r>
          </a:p>
          <a:p>
            <a:pPr lvl="1"/>
            <a:r>
              <a:rPr lang="en-US" dirty="0"/>
              <a:t>Trained on Kinetics-400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80C3F91-8E41-5228-B954-5164180277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A0BE3B-158A-4EDF-80DC-E394A0D1600F}" type="slidenum">
              <a:rPr lang="en-US" smtClean="0"/>
              <a:pPr/>
              <a:t>6</a:t>
            </a:fld>
            <a:endParaRPr lang="en-US"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FA5B1A98-E6D4-15F4-D0B6-0E575345C14D}"/>
              </a:ext>
            </a:extLst>
          </p:cNvPr>
          <p:cNvSpPr txBox="1">
            <a:spLocks/>
          </p:cNvSpPr>
          <p:nvPr/>
        </p:nvSpPr>
        <p:spPr>
          <a:xfrm>
            <a:off x="606392" y="1066196"/>
            <a:ext cx="4010578" cy="657673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b="1" dirty="0"/>
              <a:t>Features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878D9270-00D3-E43E-3C84-DAB83E28A469}"/>
              </a:ext>
            </a:extLst>
          </p:cNvPr>
          <p:cNvSpPr txBox="1">
            <a:spLocks/>
          </p:cNvSpPr>
          <p:nvPr/>
        </p:nvSpPr>
        <p:spPr>
          <a:xfrm>
            <a:off x="7023660" y="1063755"/>
            <a:ext cx="4010578" cy="657673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b="1" dirty="0"/>
              <a:t>Encoder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D74913EB-7112-7FD8-2D43-085FC67EA4DE}"/>
              </a:ext>
            </a:extLst>
          </p:cNvPr>
          <p:cNvSpPr txBox="1">
            <a:spLocks/>
          </p:cNvSpPr>
          <p:nvPr/>
        </p:nvSpPr>
        <p:spPr>
          <a:xfrm>
            <a:off x="7023660" y="1982646"/>
            <a:ext cx="5113322" cy="4251451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TCN </a:t>
            </a:r>
            <a:r>
              <a:rPr lang="en-US" sz="2000" dirty="0"/>
              <a:t>(Temporal Convolutional Network)</a:t>
            </a:r>
          </a:p>
          <a:p>
            <a:r>
              <a:rPr lang="en-US" dirty="0"/>
              <a:t>LSTM </a:t>
            </a:r>
            <a:r>
              <a:rPr lang="en-US" sz="2000" dirty="0"/>
              <a:t>(Long Short-Term Memory)</a:t>
            </a:r>
          </a:p>
          <a:p>
            <a:r>
              <a:rPr lang="en-US" dirty="0"/>
              <a:t>Transformer</a:t>
            </a:r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300CBF05-0DDF-4DCA-FEF7-6D1AAC6856FF}"/>
              </a:ext>
            </a:extLst>
          </p:cNvPr>
          <p:cNvSpPr txBox="1">
            <a:spLocks/>
          </p:cNvSpPr>
          <p:nvPr/>
        </p:nvSpPr>
        <p:spPr>
          <a:xfrm>
            <a:off x="9957839" y="112543"/>
            <a:ext cx="1895426" cy="436098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800" b="1" kern="1200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pPr algn="r"/>
            <a:r>
              <a:rPr lang="en-US" dirty="0"/>
              <a:t>(1/1)</a:t>
            </a:r>
          </a:p>
        </p:txBody>
      </p:sp>
    </p:spTree>
    <p:extLst>
      <p:ext uri="{BB962C8B-B14F-4D97-AF65-F5344CB8AC3E}">
        <p14:creationId xmlns:p14="http://schemas.microsoft.com/office/powerpoint/2010/main" val="203023026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00">
        <p:fade/>
      </p:transition>
    </mc:Choice>
    <mc:Fallback xmlns="">
      <p:transition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0AA132-FCC4-2F38-D36B-80758D6BBE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010FF2-D786-04B1-8E8A-35AC942EFF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3. Methodology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55422AE-B93E-FEE3-1C14-5C90D476E5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A0BE3B-158A-4EDF-80DC-E394A0D1600F}" type="slidenum">
              <a:rPr lang="en-US" smtClean="0"/>
              <a:pPr/>
              <a:t>7</a:t>
            </a:fld>
            <a:endParaRPr lang="en-US"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0CDB7D51-A3B7-4AE1-2867-B8FD271F892A}"/>
              </a:ext>
            </a:extLst>
          </p:cNvPr>
          <p:cNvSpPr txBox="1">
            <a:spLocks/>
          </p:cNvSpPr>
          <p:nvPr/>
        </p:nvSpPr>
        <p:spPr>
          <a:xfrm>
            <a:off x="606392" y="1066196"/>
            <a:ext cx="4010578" cy="657673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b="1" dirty="0"/>
              <a:t>Public Datasets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0244EC71-2B64-2CDC-FB70-FDCEA3E03190}"/>
              </a:ext>
            </a:extLst>
          </p:cNvPr>
          <p:cNvSpPr txBox="1">
            <a:spLocks/>
          </p:cNvSpPr>
          <p:nvPr/>
        </p:nvSpPr>
        <p:spPr>
          <a:xfrm>
            <a:off x="7023660" y="1063755"/>
            <a:ext cx="4010578" cy="657673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b="1" dirty="0"/>
              <a:t>Private </a:t>
            </a:r>
            <a:r>
              <a:rPr lang="en-US" b="1" dirty="0" err="1"/>
              <a:t>Datset</a:t>
            </a:r>
            <a:endParaRPr lang="en-US" b="1" dirty="0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20FEF5DE-885A-3787-5222-10B2067CCE81}"/>
              </a:ext>
            </a:extLst>
          </p:cNvPr>
          <p:cNvSpPr txBox="1">
            <a:spLocks/>
          </p:cNvSpPr>
          <p:nvPr/>
        </p:nvSpPr>
        <p:spPr>
          <a:xfrm>
            <a:off x="7023660" y="1982646"/>
            <a:ext cx="5113322" cy="4251451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366  10-second-long clips</a:t>
            </a:r>
          </a:p>
          <a:p>
            <a:r>
              <a:rPr lang="en-US" dirty="0"/>
              <a:t>Single annotator</a:t>
            </a:r>
          </a:p>
          <a:p>
            <a:r>
              <a:rPr lang="en-US" dirty="0"/>
              <a:t>Test only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CC2BEDDA-D5B1-627A-D3BF-7007E57FC6C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8736" y="1721428"/>
            <a:ext cx="5716178" cy="4070376"/>
          </a:xfrm>
          <a:prstGeom prst="rect">
            <a:avLst/>
          </a:prstGeom>
        </p:spPr>
      </p:pic>
      <p:sp>
        <p:nvSpPr>
          <p:cNvPr id="5" name="Title 1">
            <a:extLst>
              <a:ext uri="{FF2B5EF4-FFF2-40B4-BE49-F238E27FC236}">
                <a16:creationId xmlns:a16="http://schemas.microsoft.com/office/drawing/2014/main" id="{D14F9C9A-1F03-03B3-F173-3ADEE8F6ADC2}"/>
              </a:ext>
            </a:extLst>
          </p:cNvPr>
          <p:cNvSpPr txBox="1">
            <a:spLocks/>
          </p:cNvSpPr>
          <p:nvPr/>
        </p:nvSpPr>
        <p:spPr>
          <a:xfrm>
            <a:off x="9957839" y="112543"/>
            <a:ext cx="1895426" cy="436098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800" b="1" kern="1200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pPr algn="r"/>
            <a:r>
              <a:rPr lang="en-US" dirty="0"/>
              <a:t>(1/3)</a:t>
            </a:r>
          </a:p>
        </p:txBody>
      </p:sp>
    </p:spTree>
    <p:extLst>
      <p:ext uri="{BB962C8B-B14F-4D97-AF65-F5344CB8AC3E}">
        <p14:creationId xmlns:p14="http://schemas.microsoft.com/office/powerpoint/2010/main" val="205065621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00">
        <p:fade/>
      </p:transition>
    </mc:Choice>
    <mc:Fallback xmlns="">
      <p:transition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AFCC26-9E43-A366-544B-4BEB0D4E50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84FAAD-1C61-C39A-CE87-E616565DBF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3. Methodology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C5BDD0A-3EAC-03C2-82F8-281AF1F4EE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A0BE3B-158A-4EDF-80DC-E394A0D1600F}" type="slidenum">
              <a:rPr lang="en-US" smtClean="0"/>
              <a:pPr/>
              <a:t>8</a:t>
            </a:fld>
            <a:endParaRPr lang="en-US"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00FF9723-4B0D-FB68-9B16-2E880148FE94}"/>
              </a:ext>
            </a:extLst>
          </p:cNvPr>
          <p:cNvSpPr txBox="1">
            <a:spLocks/>
          </p:cNvSpPr>
          <p:nvPr/>
        </p:nvSpPr>
        <p:spPr>
          <a:xfrm>
            <a:off x="606392" y="1066196"/>
            <a:ext cx="5530696" cy="657673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b="1" dirty="0"/>
              <a:t>Baseline Architectures</a:t>
            </a:r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AB9F95A2-849D-22F6-D123-5150D8357207}"/>
              </a:ext>
            </a:extLst>
          </p:cNvPr>
          <p:cNvSpPr txBox="1">
            <a:spLocks/>
          </p:cNvSpPr>
          <p:nvPr/>
        </p:nvSpPr>
        <p:spPr>
          <a:xfrm>
            <a:off x="9957839" y="112543"/>
            <a:ext cx="1895426" cy="436098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800" b="1" kern="1200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pPr algn="r"/>
            <a:r>
              <a:rPr lang="en-US" dirty="0"/>
              <a:t>(2/3)</a:t>
            </a:r>
          </a:p>
        </p:txBody>
      </p:sp>
      <p:pic>
        <p:nvPicPr>
          <p:cNvPr id="28" name="Picture 27">
            <a:extLst>
              <a:ext uri="{FF2B5EF4-FFF2-40B4-BE49-F238E27FC236}">
                <a16:creationId xmlns:a16="http://schemas.microsoft.com/office/drawing/2014/main" id="{45E984D6-DCEF-1E4B-699E-A711C145BE8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14146" y="991832"/>
            <a:ext cx="5231936" cy="657673"/>
          </a:xfrm>
          <a:prstGeom prst="rect">
            <a:avLst/>
          </a:prstGeom>
        </p:spPr>
      </p:pic>
      <p:pic>
        <p:nvPicPr>
          <p:cNvPr id="30" name="Picture 29">
            <a:extLst>
              <a:ext uri="{FF2B5EF4-FFF2-40B4-BE49-F238E27FC236}">
                <a16:creationId xmlns:a16="http://schemas.microsoft.com/office/drawing/2014/main" id="{A96D3F3F-6386-46EC-3C74-428097AEE74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88133" y="1649505"/>
            <a:ext cx="4108483" cy="1582709"/>
          </a:xfrm>
          <a:prstGeom prst="rect">
            <a:avLst/>
          </a:prstGeom>
        </p:spPr>
      </p:pic>
      <p:pic>
        <p:nvPicPr>
          <p:cNvPr id="32" name="Picture 31">
            <a:extLst>
              <a:ext uri="{FF2B5EF4-FFF2-40B4-BE49-F238E27FC236}">
                <a16:creationId xmlns:a16="http://schemas.microsoft.com/office/drawing/2014/main" id="{1DCECEDD-DC8A-252C-AAEB-B8B288B83173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14147" y="3148223"/>
            <a:ext cx="6682374" cy="613166"/>
          </a:xfrm>
          <a:prstGeom prst="rect">
            <a:avLst/>
          </a:prstGeom>
        </p:spPr>
      </p:pic>
      <p:pic>
        <p:nvPicPr>
          <p:cNvPr id="34" name="Picture 33">
            <a:extLst>
              <a:ext uri="{FF2B5EF4-FFF2-40B4-BE49-F238E27FC236}">
                <a16:creationId xmlns:a16="http://schemas.microsoft.com/office/drawing/2014/main" id="{6EF19D4E-5AF2-AC51-10B2-7A0C342621D8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88133" y="3761388"/>
            <a:ext cx="4636568" cy="1956052"/>
          </a:xfrm>
          <a:prstGeom prst="rect">
            <a:avLst/>
          </a:prstGeom>
        </p:spPr>
      </p:pic>
      <p:pic>
        <p:nvPicPr>
          <p:cNvPr id="36" name="Picture 35">
            <a:extLst>
              <a:ext uri="{FF2B5EF4-FFF2-40B4-BE49-F238E27FC236}">
                <a16:creationId xmlns:a16="http://schemas.microsoft.com/office/drawing/2014/main" id="{2697CBAC-FD02-6C43-A953-56FC72E7C16C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14146" y="5717440"/>
            <a:ext cx="5155009" cy="484613"/>
          </a:xfrm>
          <a:prstGeom prst="rect">
            <a:avLst/>
          </a:prstGeom>
        </p:spPr>
      </p:pic>
      <p:sp>
        <p:nvSpPr>
          <p:cNvPr id="37" name="Content Placeholder 2">
            <a:extLst>
              <a:ext uri="{FF2B5EF4-FFF2-40B4-BE49-F238E27FC236}">
                <a16:creationId xmlns:a16="http://schemas.microsoft.com/office/drawing/2014/main" id="{66E488D6-BC0C-35E9-810B-4E0A93ACE94D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06392" y="1723868"/>
            <a:ext cx="3632275" cy="4251451"/>
          </a:xfrm>
        </p:spPr>
        <p:txBody>
          <a:bodyPr/>
          <a:lstStyle/>
          <a:p>
            <a:r>
              <a:rPr lang="en-US" dirty="0"/>
              <a:t>5 single-encoder baselines:</a:t>
            </a:r>
          </a:p>
          <a:p>
            <a:pPr lvl="1"/>
            <a:r>
              <a:rPr lang="en-US" dirty="0"/>
              <a:t>4 over </a:t>
            </a:r>
            <a:r>
              <a:rPr lang="en-US" dirty="0" err="1"/>
              <a:t>OpenFace</a:t>
            </a:r>
            <a:r>
              <a:rPr lang="en-US" dirty="0"/>
              <a:t> (MLP, TCN, LSTM, Transformer)</a:t>
            </a:r>
          </a:p>
          <a:p>
            <a:pPr lvl="1"/>
            <a:r>
              <a:rPr lang="en-US" dirty="0"/>
              <a:t>1 over I3D (MLP)</a:t>
            </a:r>
          </a:p>
          <a:p>
            <a:r>
              <a:rPr lang="en-US" dirty="0"/>
              <a:t>Used for </a:t>
            </a:r>
          </a:p>
          <a:p>
            <a:pPr lvl="1"/>
            <a:r>
              <a:rPr lang="en-US" dirty="0"/>
              <a:t>Choosing evaluation method</a:t>
            </a:r>
          </a:p>
          <a:p>
            <a:pPr lvl="1"/>
            <a:r>
              <a:rPr lang="en-US" dirty="0"/>
              <a:t>Set baseline for proposed model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7954796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00">
        <p:fade/>
      </p:transition>
    </mc:Choice>
    <mc:Fallback xmlns="">
      <p:transition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9897C3-03A1-069C-9C62-328D2B8B77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0868C6-B127-8DB3-3E33-1F4157A934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3. Methodology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6BC818B-8938-8609-4A07-C599753EF9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A0BE3B-158A-4EDF-80DC-E394A0D1600F}" type="slidenum">
              <a:rPr lang="en-US" smtClean="0"/>
              <a:pPr/>
              <a:t>9</a:t>
            </a:fld>
            <a:endParaRPr lang="en-US"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4E2D9F96-45CB-71B2-B1F9-FA3F2D3C2E8F}"/>
              </a:ext>
            </a:extLst>
          </p:cNvPr>
          <p:cNvSpPr txBox="1">
            <a:spLocks/>
          </p:cNvSpPr>
          <p:nvPr/>
        </p:nvSpPr>
        <p:spPr>
          <a:xfrm>
            <a:off x="606392" y="1066196"/>
            <a:ext cx="5530696" cy="657673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b="1" dirty="0"/>
              <a:t>Hybrid Architecture</a:t>
            </a:r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D3CAF4A7-6C25-C46B-FA0C-AC8569BF649F}"/>
              </a:ext>
            </a:extLst>
          </p:cNvPr>
          <p:cNvSpPr txBox="1">
            <a:spLocks/>
          </p:cNvSpPr>
          <p:nvPr/>
        </p:nvSpPr>
        <p:spPr>
          <a:xfrm>
            <a:off x="6157563" y="1066195"/>
            <a:ext cx="5530696" cy="657673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endParaRPr lang="en-US" b="1" dirty="0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984895B7-1F78-A0BB-4B87-22AF28863489}"/>
              </a:ext>
            </a:extLst>
          </p:cNvPr>
          <p:cNvSpPr txBox="1">
            <a:spLocks/>
          </p:cNvSpPr>
          <p:nvPr/>
        </p:nvSpPr>
        <p:spPr>
          <a:xfrm>
            <a:off x="9957839" y="112543"/>
            <a:ext cx="1895426" cy="436098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800" b="1" kern="1200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pPr algn="r"/>
            <a:r>
              <a:rPr lang="en-US" dirty="0"/>
              <a:t>(3/3)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E0E3D92D-B770-5D82-7858-9F9237C5EB0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93176" y="2114143"/>
            <a:ext cx="6198823" cy="3677661"/>
          </a:xfrm>
          <a:prstGeom prst="rect">
            <a:avLst/>
          </a:prstGeo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B3AE0F-4377-6656-6A19-DFC4D083A36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06391" y="1723868"/>
            <a:ext cx="5761357" cy="4251451"/>
          </a:xfrm>
        </p:spPr>
        <p:txBody>
          <a:bodyPr/>
          <a:lstStyle/>
          <a:p>
            <a:r>
              <a:rPr lang="en-US" dirty="0" err="1"/>
              <a:t>Openface</a:t>
            </a:r>
            <a:r>
              <a:rPr lang="en-US" dirty="0"/>
              <a:t> features are split into 5 groups</a:t>
            </a:r>
          </a:p>
          <a:p>
            <a:r>
              <a:rPr lang="en-US" dirty="0"/>
              <a:t>Each group have its own encoder (TCN/LSTM/Transformer)</a:t>
            </a:r>
          </a:p>
          <a:p>
            <a:r>
              <a:rPr lang="en-US" dirty="0"/>
              <a:t>I3D motion stream is optional</a:t>
            </a:r>
          </a:p>
          <a:p>
            <a:r>
              <a:rPr lang="en-US" dirty="0"/>
              <a:t>Each stream have auxiliary head</a:t>
            </a:r>
          </a:p>
          <a:p>
            <a:r>
              <a:rPr lang="en-US" dirty="0"/>
              <a:t>Total of 486 configurations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762683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00">
        <p:fade/>
      </p:transition>
    </mc:Choice>
    <mc:Fallback xmlns="">
      <p:transition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9D878F-F99E-25B8-16C6-0915DCDC78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202F2D-A44A-780C-FE08-2584A9066A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4. Experimental Results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7B98D2E-35B8-B8EF-DA08-CF59290F03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A0BE3B-158A-4EDF-80DC-E394A0D1600F}" type="slidenum">
              <a:rPr lang="en-US" smtClean="0"/>
              <a:pPr/>
              <a:t>10</a:t>
            </a:fld>
            <a:endParaRPr lang="en-US"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55C7CCD4-DD4A-2175-59CB-B97D1571B4DA}"/>
              </a:ext>
            </a:extLst>
          </p:cNvPr>
          <p:cNvSpPr txBox="1">
            <a:spLocks/>
          </p:cNvSpPr>
          <p:nvPr/>
        </p:nvSpPr>
        <p:spPr>
          <a:xfrm>
            <a:off x="606391" y="1066196"/>
            <a:ext cx="6091863" cy="657673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b="1" dirty="0"/>
              <a:t>Baseline Models - CMOSE in-domain</a:t>
            </a: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F75373F7-D1E9-A199-C6AE-FD4CD4C9454E}"/>
              </a:ext>
            </a:extLst>
          </p:cNvPr>
          <p:cNvSpPr txBox="1">
            <a:spLocks/>
          </p:cNvSpPr>
          <p:nvPr/>
        </p:nvSpPr>
        <p:spPr>
          <a:xfrm>
            <a:off x="9957839" y="112543"/>
            <a:ext cx="1895426" cy="436098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800" b="1" kern="1200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pPr algn="r"/>
            <a:r>
              <a:rPr lang="en-US" dirty="0"/>
              <a:t>(1/6)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F55A1E1-DC97-688E-D838-8F75415FD4B5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06390" y="1723868"/>
            <a:ext cx="6091863" cy="4251451"/>
          </a:xfrm>
        </p:spPr>
        <p:txBody>
          <a:bodyPr/>
          <a:lstStyle/>
          <a:p>
            <a:r>
              <a:rPr lang="en-US" dirty="0"/>
              <a:t>2 groups of metrics appears</a:t>
            </a:r>
          </a:p>
          <a:p>
            <a:pPr lvl="1"/>
            <a:r>
              <a:rPr lang="en-US" dirty="0"/>
              <a:t>Accuracy, MAE, Cohen’s Kappa</a:t>
            </a:r>
          </a:p>
          <a:p>
            <a:pPr lvl="1"/>
            <a:r>
              <a:rPr lang="en-US" dirty="0"/>
              <a:t>Macro Accuracy, Macro MAE.</a:t>
            </a:r>
          </a:p>
          <a:p>
            <a:r>
              <a:rPr lang="en-US" dirty="0"/>
              <a:t>QWK bridges the two groups.</a:t>
            </a:r>
          </a:p>
          <a:p>
            <a:endParaRPr lang="en-US" dirty="0"/>
          </a:p>
          <a:p>
            <a:endParaRPr lang="en-US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9E695D8E-04C2-BEF5-9381-AFF9CD716C9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54615" y="1917980"/>
            <a:ext cx="5298649" cy="4057339"/>
          </a:xfrm>
          <a:prstGeom prst="rect">
            <a:avLst/>
          </a:prstGeom>
        </p:spPr>
      </p:pic>
      <p:sp>
        <p:nvSpPr>
          <p:cNvPr id="12" name="Arrow: Right 11">
            <a:extLst>
              <a:ext uri="{FF2B5EF4-FFF2-40B4-BE49-F238E27FC236}">
                <a16:creationId xmlns:a16="http://schemas.microsoft.com/office/drawing/2014/main" id="{476BA6A1-5F5E-50B2-73B7-3F1B9F6AA5EC}"/>
              </a:ext>
            </a:extLst>
          </p:cNvPr>
          <p:cNvSpPr/>
          <p:nvPr/>
        </p:nvSpPr>
        <p:spPr>
          <a:xfrm rot="20443958">
            <a:off x="6054842" y="5190559"/>
            <a:ext cx="999545" cy="184371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98066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00">
        <p:fade/>
      </p:transition>
    </mc:Choice>
    <mc:Fallback xmlns="">
      <p:transition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5116BE-94BB-4693-5CDD-CB4AFEC2A4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7DBA012E-66B0-26DA-6760-DCE942CE5AA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44605" y="1604275"/>
            <a:ext cx="5623811" cy="447011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4A86837-E31C-1E38-A4F1-26A5C9F9AF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4. Experimental Results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F125331-B15D-7EFF-71A9-746781643F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A0BE3B-158A-4EDF-80DC-E394A0D1600F}" type="slidenum">
              <a:rPr lang="en-US" smtClean="0"/>
              <a:pPr/>
              <a:t>11</a:t>
            </a:fld>
            <a:endParaRPr lang="en-US"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F6538C23-7D0C-C879-7B60-04A0C75703B9}"/>
              </a:ext>
            </a:extLst>
          </p:cNvPr>
          <p:cNvSpPr txBox="1">
            <a:spLocks/>
          </p:cNvSpPr>
          <p:nvPr/>
        </p:nvSpPr>
        <p:spPr>
          <a:xfrm>
            <a:off x="606392" y="1066196"/>
            <a:ext cx="5489608" cy="657673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b="1" dirty="0"/>
              <a:t>Baseline Models – Cross dataset</a:t>
            </a:r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DECA954E-0029-F785-9F65-3FF490E6EF46}"/>
              </a:ext>
            </a:extLst>
          </p:cNvPr>
          <p:cNvSpPr txBox="1">
            <a:spLocks/>
          </p:cNvSpPr>
          <p:nvPr/>
        </p:nvSpPr>
        <p:spPr>
          <a:xfrm>
            <a:off x="9957839" y="112543"/>
            <a:ext cx="1895426" cy="436098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800" b="1" kern="1200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pPr algn="r"/>
            <a:r>
              <a:rPr lang="en-US" dirty="0"/>
              <a:t>(2/6)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F41323F-DC56-AE27-C8CF-0C33548D00D7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06391" y="1723868"/>
            <a:ext cx="5979133" cy="4251451"/>
          </a:xfrm>
        </p:spPr>
        <p:txBody>
          <a:bodyPr/>
          <a:lstStyle/>
          <a:p>
            <a:r>
              <a:rPr lang="en-US" dirty="0"/>
              <a:t>Accuracy stay high off-diagonal.</a:t>
            </a:r>
          </a:p>
          <a:p>
            <a:r>
              <a:rPr lang="en-US" dirty="0"/>
              <a:t>QWK collapse to near zero shows low transferability.</a:t>
            </a:r>
          </a:p>
          <a:p>
            <a:pPr marL="0" indent="0">
              <a:buNone/>
            </a:pPr>
            <a:endParaRPr lang="en-US" dirty="0"/>
          </a:p>
          <a:p>
            <a:pPr>
              <a:buFont typeface="Symbol" panose="05050102010706020507" pitchFamily="18" charset="2"/>
              <a:buChar char="Þ"/>
            </a:pPr>
            <a:r>
              <a:rPr lang="en-US" dirty="0"/>
              <a:t>QWK is chosen as primary metric.</a:t>
            </a:r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08CDA429-9E63-4A2E-92E9-6CA7D91DF6C0}"/>
              </a:ext>
            </a:extLst>
          </p:cNvPr>
          <p:cNvSpPr/>
          <p:nvPr/>
        </p:nvSpPr>
        <p:spPr>
          <a:xfrm rot="4005862">
            <a:off x="6745275" y="1615435"/>
            <a:ext cx="622617" cy="216867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Arrow: Right 9">
            <a:extLst>
              <a:ext uri="{FF2B5EF4-FFF2-40B4-BE49-F238E27FC236}">
                <a16:creationId xmlns:a16="http://schemas.microsoft.com/office/drawing/2014/main" id="{CFD5D35D-C186-8C29-22A6-91C9C180EB97}"/>
              </a:ext>
            </a:extLst>
          </p:cNvPr>
          <p:cNvSpPr/>
          <p:nvPr/>
        </p:nvSpPr>
        <p:spPr>
          <a:xfrm rot="4005862">
            <a:off x="8120547" y="2869520"/>
            <a:ext cx="622617" cy="216867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106476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00">
        <p:fade/>
      </p:transition>
    </mc:Choice>
    <mc:Fallback xmlns="">
      <p:transition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2B2BAC-6802-15E0-0B7A-45A853A5DF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96617E-E988-5547-09F2-1A1D1640B7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4. Experimental Results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8B2FAD5-5D95-08F0-F5CB-910D75EBB7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A0BE3B-158A-4EDF-80DC-E394A0D1600F}" type="slidenum">
              <a:rPr lang="en-US" smtClean="0"/>
              <a:pPr/>
              <a:t>12</a:t>
            </a:fld>
            <a:endParaRPr lang="en-US"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EA19482C-0A98-AA26-9096-A5440C499669}"/>
              </a:ext>
            </a:extLst>
          </p:cNvPr>
          <p:cNvSpPr txBox="1">
            <a:spLocks/>
          </p:cNvSpPr>
          <p:nvPr/>
        </p:nvSpPr>
        <p:spPr>
          <a:xfrm>
            <a:off x="606392" y="1066196"/>
            <a:ext cx="10427846" cy="657673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b="1" dirty="0"/>
              <a:t>Proposed Hybrid Models Ablation – CMOSE in-domain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07EC794A-742D-3724-EAD9-2F3E4C354D1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93964" y="2589177"/>
            <a:ext cx="7004072" cy="3386142"/>
          </a:xfrm>
          <a:prstGeom prst="rect">
            <a:avLst/>
          </a:prstGeom>
        </p:spPr>
      </p:pic>
      <p:sp>
        <p:nvSpPr>
          <p:cNvPr id="17" name="Title 1">
            <a:extLst>
              <a:ext uri="{FF2B5EF4-FFF2-40B4-BE49-F238E27FC236}">
                <a16:creationId xmlns:a16="http://schemas.microsoft.com/office/drawing/2014/main" id="{2569B514-91EC-5BFB-E813-D9823744DAE4}"/>
              </a:ext>
            </a:extLst>
          </p:cNvPr>
          <p:cNvSpPr txBox="1">
            <a:spLocks/>
          </p:cNvSpPr>
          <p:nvPr/>
        </p:nvSpPr>
        <p:spPr>
          <a:xfrm>
            <a:off x="491136" y="264943"/>
            <a:ext cx="11514528" cy="436098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800" b="1" kern="1200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703992DD-398C-A246-95E5-918707F3D34C}"/>
              </a:ext>
            </a:extLst>
          </p:cNvPr>
          <p:cNvSpPr txBox="1">
            <a:spLocks/>
          </p:cNvSpPr>
          <p:nvPr/>
        </p:nvSpPr>
        <p:spPr>
          <a:xfrm>
            <a:off x="9957839" y="112543"/>
            <a:ext cx="1895426" cy="436098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800" b="1" kern="1200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pPr algn="r"/>
            <a:r>
              <a:rPr lang="en-US" dirty="0"/>
              <a:t>(3/6)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C1BAF4-64F3-D560-E840-B82739D0AB55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06391" y="1723868"/>
            <a:ext cx="7524057" cy="4251451"/>
          </a:xfrm>
        </p:spPr>
        <p:txBody>
          <a:bodyPr/>
          <a:lstStyle/>
          <a:p>
            <a:r>
              <a:rPr lang="en-US" dirty="0"/>
              <a:t>Feature groups don’t show clear preference.</a:t>
            </a:r>
          </a:p>
          <a:p>
            <a:r>
              <a:rPr lang="en-US" dirty="0"/>
              <a:t>Head pose lightly prefers TCN.</a:t>
            </a:r>
          </a:p>
        </p:txBody>
      </p:sp>
    </p:spTree>
    <p:extLst>
      <p:ext uri="{BB962C8B-B14F-4D97-AF65-F5344CB8AC3E}">
        <p14:creationId xmlns:p14="http://schemas.microsoft.com/office/powerpoint/2010/main" val="426075716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00">
        <p:fade/>
      </p:transition>
    </mc:Choice>
    <mc:Fallback xmlns="">
      <p:transition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D1C884-B040-19A0-17A5-3F553A8DED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9DF102-98E3-FECB-3251-17405AC48D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4. Experimental Results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4BB917B-6466-BFEF-8B3D-4A3E6904CE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A0BE3B-158A-4EDF-80DC-E394A0D1600F}" type="slidenum">
              <a:rPr lang="en-US" smtClean="0"/>
              <a:pPr/>
              <a:t>13</a:t>
            </a:fld>
            <a:endParaRPr lang="en-US"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1A5A43F4-355A-9C3C-3989-EB9E412A24E2}"/>
              </a:ext>
            </a:extLst>
          </p:cNvPr>
          <p:cNvSpPr txBox="1">
            <a:spLocks/>
          </p:cNvSpPr>
          <p:nvPr/>
        </p:nvSpPr>
        <p:spPr>
          <a:xfrm>
            <a:off x="606392" y="1066196"/>
            <a:ext cx="10427846" cy="657673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b="1" dirty="0"/>
              <a:t>Proposed Hybrid Models Ablation – CMOSE in-domain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8663C530-E027-46D3-2BAD-55472587C87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31701" y="2167320"/>
            <a:ext cx="6624810" cy="4066777"/>
          </a:xfrm>
          <a:prstGeom prst="rect">
            <a:avLst/>
          </a:prstGeom>
        </p:spPr>
      </p:pic>
      <p:sp>
        <p:nvSpPr>
          <p:cNvPr id="17" name="Title 1">
            <a:extLst>
              <a:ext uri="{FF2B5EF4-FFF2-40B4-BE49-F238E27FC236}">
                <a16:creationId xmlns:a16="http://schemas.microsoft.com/office/drawing/2014/main" id="{728EA940-E49D-442A-16C5-3911012A1F62}"/>
              </a:ext>
            </a:extLst>
          </p:cNvPr>
          <p:cNvSpPr txBox="1">
            <a:spLocks/>
          </p:cNvSpPr>
          <p:nvPr/>
        </p:nvSpPr>
        <p:spPr>
          <a:xfrm>
            <a:off x="491136" y="264943"/>
            <a:ext cx="11514528" cy="436098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800" b="1" kern="1200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0EC95C51-7E5F-0CCA-4C64-2679AC671942}"/>
              </a:ext>
            </a:extLst>
          </p:cNvPr>
          <p:cNvSpPr txBox="1">
            <a:spLocks/>
          </p:cNvSpPr>
          <p:nvPr/>
        </p:nvSpPr>
        <p:spPr>
          <a:xfrm>
            <a:off x="9957839" y="112543"/>
            <a:ext cx="1895426" cy="436098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800" b="1" kern="1200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pPr algn="r"/>
            <a:r>
              <a:rPr lang="en-US" dirty="0"/>
              <a:t>(4/6)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CFEDFD-94E9-3721-0748-1853ACA7949A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06391" y="1723868"/>
            <a:ext cx="9154554" cy="4251451"/>
          </a:xfrm>
        </p:spPr>
        <p:txBody>
          <a:bodyPr/>
          <a:lstStyle/>
          <a:p>
            <a:r>
              <a:rPr lang="en-US" dirty="0"/>
              <a:t>I3D motion stream highly improve performance.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3997302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00">
        <p:fade/>
      </p:transition>
    </mc:Choice>
    <mc:Fallback xmlns="">
      <p:transition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94580A-BE57-5E95-9F33-2B8824D097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>
            <a:extLst>
              <a:ext uri="{FF2B5EF4-FFF2-40B4-BE49-F238E27FC236}">
                <a16:creationId xmlns:a16="http://schemas.microsoft.com/office/drawing/2014/main" id="{D8F5506A-7C90-41BC-875C-F9939A655DC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44605" y="1624794"/>
            <a:ext cx="5623811" cy="447011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42FCA2FA-6BEB-4E0C-B519-4E15A61D8F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4. Experimental Results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8C7C5A3-9BE1-E411-6A6C-D8B433C19C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A0BE3B-158A-4EDF-80DC-E394A0D1600F}" type="slidenum">
              <a:rPr lang="en-US" smtClean="0"/>
              <a:pPr/>
              <a:t>14</a:t>
            </a:fld>
            <a:endParaRPr lang="en-US"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8DC1395E-F770-3AD2-D67E-A6DAA0F63D57}"/>
              </a:ext>
            </a:extLst>
          </p:cNvPr>
          <p:cNvSpPr txBox="1">
            <a:spLocks/>
          </p:cNvSpPr>
          <p:nvPr/>
        </p:nvSpPr>
        <p:spPr>
          <a:xfrm>
            <a:off x="606391" y="1066196"/>
            <a:ext cx="10068953" cy="657673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b="1" dirty="0"/>
              <a:t>Proposed Hybrid Models Ablation – Cross dataset</a:t>
            </a:r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6CA9A1CD-A40B-DA89-A478-DCD817397B9B}"/>
              </a:ext>
            </a:extLst>
          </p:cNvPr>
          <p:cNvSpPr txBox="1">
            <a:spLocks/>
          </p:cNvSpPr>
          <p:nvPr/>
        </p:nvSpPr>
        <p:spPr>
          <a:xfrm>
            <a:off x="9957839" y="112543"/>
            <a:ext cx="1895426" cy="436098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800" b="1" kern="1200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pPr algn="r"/>
            <a:r>
              <a:rPr lang="en-US" dirty="0"/>
              <a:t>(5/6)</a:t>
            </a:r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9404198D-73F4-DFAC-81BB-7054230669F5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06391" y="1723868"/>
            <a:ext cx="5979133" cy="4251451"/>
          </a:xfrm>
        </p:spPr>
        <p:txBody>
          <a:bodyPr/>
          <a:lstStyle/>
          <a:p>
            <a:r>
              <a:rPr lang="en-US" dirty="0"/>
              <a:t>Proposed model outperform baseline model.</a:t>
            </a:r>
          </a:p>
          <a:p>
            <a:pPr lvl="1"/>
            <a:r>
              <a:rPr lang="en-US" dirty="0"/>
              <a:t>QWK = 0.605 (+ 0.068, in-domain)</a:t>
            </a:r>
          </a:p>
          <a:p>
            <a:pPr lvl="1"/>
            <a:r>
              <a:rPr lang="en-US" dirty="0"/>
              <a:t>QWK = 0.379 (+ 0.094, private set)</a:t>
            </a:r>
          </a:p>
          <a:p>
            <a:r>
              <a:rPr lang="en-US" dirty="0"/>
              <a:t>Transferability is still a problem.</a:t>
            </a:r>
          </a:p>
        </p:txBody>
      </p:sp>
      <p:sp>
        <p:nvSpPr>
          <p:cNvPr id="18" name="Arrow: Right 17">
            <a:extLst>
              <a:ext uri="{FF2B5EF4-FFF2-40B4-BE49-F238E27FC236}">
                <a16:creationId xmlns:a16="http://schemas.microsoft.com/office/drawing/2014/main" id="{8788133C-1DC0-66DA-8EC5-79E4727C2D9F}"/>
              </a:ext>
            </a:extLst>
          </p:cNvPr>
          <p:cNvSpPr/>
          <p:nvPr/>
        </p:nvSpPr>
        <p:spPr>
          <a:xfrm rot="4005862">
            <a:off x="6745275" y="1615435"/>
            <a:ext cx="622617" cy="216867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Arrow: Right 19">
            <a:extLst>
              <a:ext uri="{FF2B5EF4-FFF2-40B4-BE49-F238E27FC236}">
                <a16:creationId xmlns:a16="http://schemas.microsoft.com/office/drawing/2014/main" id="{0DC30624-AD6B-7FEB-EFFA-A7BF29FBF9EC}"/>
              </a:ext>
            </a:extLst>
          </p:cNvPr>
          <p:cNvSpPr/>
          <p:nvPr/>
        </p:nvSpPr>
        <p:spPr>
          <a:xfrm rot="4005862">
            <a:off x="8120547" y="2869520"/>
            <a:ext cx="622617" cy="216867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111659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00">
        <p:fade/>
      </p:transition>
    </mc:Choice>
    <mc:Fallback xmlns="">
      <p:transition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905633-C832-AD64-66ED-BBB78F8C4A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3C256C-DC9D-9EA8-8925-49BA318EB6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4. Experimental Results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ABB3363-B84A-6A5B-F19B-63AFA7A193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A0BE3B-158A-4EDF-80DC-E394A0D1600F}" type="slidenum">
              <a:rPr lang="en-US" smtClean="0"/>
              <a:pPr/>
              <a:t>15</a:t>
            </a:fld>
            <a:endParaRPr lang="en-US"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900C53B6-71B4-44CF-3EC5-8731040BC149}"/>
              </a:ext>
            </a:extLst>
          </p:cNvPr>
          <p:cNvSpPr txBox="1">
            <a:spLocks/>
          </p:cNvSpPr>
          <p:nvPr/>
        </p:nvSpPr>
        <p:spPr>
          <a:xfrm>
            <a:off x="606391" y="1066196"/>
            <a:ext cx="5651189" cy="657673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b="1" dirty="0"/>
              <a:t>Private Dataset Comparison</a:t>
            </a: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5F899A00-EFD7-84F4-6C20-05847BB9ED27}"/>
              </a:ext>
            </a:extLst>
          </p:cNvPr>
          <p:cNvSpPr txBox="1">
            <a:spLocks/>
          </p:cNvSpPr>
          <p:nvPr/>
        </p:nvSpPr>
        <p:spPr>
          <a:xfrm>
            <a:off x="9957839" y="112543"/>
            <a:ext cx="1895426" cy="436098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800" b="1" kern="1200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pPr algn="r"/>
            <a:r>
              <a:rPr lang="en-US" dirty="0"/>
              <a:t>(6/6)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5A2DA31D-3E00-1AD4-D4AF-0FA93460738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97417" y="1849966"/>
            <a:ext cx="6402294" cy="4108934"/>
          </a:xfrm>
          <a:prstGeom prst="rect">
            <a:avLst/>
          </a:prstGeo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1EE4489-D0B3-B3A3-6E29-E11398143D80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06391" y="1723868"/>
            <a:ext cx="5133397" cy="4251451"/>
          </a:xfrm>
        </p:spPr>
        <p:txBody>
          <a:bodyPr/>
          <a:lstStyle/>
          <a:p>
            <a:r>
              <a:rPr lang="en-US" dirty="0"/>
              <a:t>Proposed model have higher per-class F1 score.</a:t>
            </a:r>
          </a:p>
          <a:p>
            <a:r>
              <a:rPr lang="en-US" dirty="0"/>
              <a:t>Transferability of HD class remain a challenge under severe class imbalance.</a:t>
            </a:r>
          </a:p>
        </p:txBody>
      </p:sp>
    </p:spTree>
    <p:extLst>
      <p:ext uri="{BB962C8B-B14F-4D97-AF65-F5344CB8AC3E}">
        <p14:creationId xmlns:p14="http://schemas.microsoft.com/office/powerpoint/2010/main" val="5001992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00">
        <p:fade/>
      </p:transition>
    </mc:Choice>
    <mc:Fallback xmlns="">
      <p:transition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30F1A1-DDFF-AA0E-69AD-FE4FAAF0EC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6A55DC-F4F1-76ED-C231-378BB0BF79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5. Conclusions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224CCEF-90E0-33FB-15F8-DB634A8382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A0BE3B-158A-4EDF-80DC-E394A0D1600F}" type="slidenum">
              <a:rPr lang="en-US" smtClean="0"/>
              <a:pPr/>
              <a:t>16</a:t>
            </a:fld>
            <a:endParaRPr lang="en-US"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A3E9EEB9-144C-04F5-4435-5D742AFC8788}"/>
              </a:ext>
            </a:extLst>
          </p:cNvPr>
          <p:cNvSpPr txBox="1">
            <a:spLocks/>
          </p:cNvSpPr>
          <p:nvPr/>
        </p:nvSpPr>
        <p:spPr>
          <a:xfrm>
            <a:off x="606392" y="1066196"/>
            <a:ext cx="4010578" cy="657673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b="1" dirty="0"/>
              <a:t>Conclusions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7F205650-F212-781F-9CA2-A1CE140216C6}"/>
              </a:ext>
            </a:extLst>
          </p:cNvPr>
          <p:cNvSpPr txBox="1">
            <a:spLocks/>
          </p:cNvSpPr>
          <p:nvPr/>
        </p:nvSpPr>
        <p:spPr>
          <a:xfrm>
            <a:off x="606392" y="1850443"/>
            <a:ext cx="9870649" cy="4251451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US" dirty="0"/>
              <a:t>Architecture - decompose-and-fuse; +0.068 QWK in-domain; interpretable.</a:t>
            </a:r>
          </a:p>
          <a:p>
            <a:pPr lvl="0"/>
            <a:r>
              <a:rPr lang="en-US" dirty="0"/>
              <a:t>Private dataset - 366 clips, the decisive deployment probe.</a:t>
            </a:r>
          </a:p>
          <a:p>
            <a:pPr lvl="0"/>
            <a:r>
              <a:rPr lang="en-US" dirty="0"/>
              <a:t>Generalization - transfer collapses; QWK exposes it; +0.094 on private.</a:t>
            </a: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03F50D04-78C9-EF04-0E18-15F7E72357B9}"/>
              </a:ext>
            </a:extLst>
          </p:cNvPr>
          <p:cNvSpPr txBox="1">
            <a:spLocks/>
          </p:cNvSpPr>
          <p:nvPr/>
        </p:nvSpPr>
        <p:spPr>
          <a:xfrm>
            <a:off x="9957839" y="112543"/>
            <a:ext cx="1895426" cy="436098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800" b="1" kern="1200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pPr algn="r"/>
            <a:r>
              <a:rPr lang="en-US" dirty="0"/>
              <a:t>(1/2)</a:t>
            </a:r>
          </a:p>
        </p:txBody>
      </p:sp>
    </p:spTree>
    <p:extLst>
      <p:ext uri="{BB962C8B-B14F-4D97-AF65-F5344CB8AC3E}">
        <p14:creationId xmlns:p14="http://schemas.microsoft.com/office/powerpoint/2010/main" val="25907282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00">
        <p:fade/>
      </p:transition>
    </mc:Choice>
    <mc:Fallback xmlns="">
      <p:transition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4265A1-6CAD-778F-7EA3-53327AA0AD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513B32-7F6A-3833-6361-6F1BFC84CE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5. Conclusions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8526D1A-64DB-15D0-FD85-C25BD899EB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A0BE3B-158A-4EDF-80DC-E394A0D1600F}" type="slidenum">
              <a:rPr lang="en-US" smtClean="0"/>
              <a:pPr/>
              <a:t>17</a:t>
            </a:fld>
            <a:endParaRPr lang="en-US"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28E89CF2-4B88-18D2-AD27-9DF4A93AE8BF}"/>
              </a:ext>
            </a:extLst>
          </p:cNvPr>
          <p:cNvSpPr txBox="1">
            <a:spLocks/>
          </p:cNvSpPr>
          <p:nvPr/>
        </p:nvSpPr>
        <p:spPr>
          <a:xfrm>
            <a:off x="606392" y="1066196"/>
            <a:ext cx="4010578" cy="657673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b="1" dirty="0"/>
              <a:t>Limitations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C3D895C9-062D-5725-D67E-177569D35AC0}"/>
              </a:ext>
            </a:extLst>
          </p:cNvPr>
          <p:cNvSpPr txBox="1">
            <a:spLocks/>
          </p:cNvSpPr>
          <p:nvPr/>
        </p:nvSpPr>
        <p:spPr>
          <a:xfrm>
            <a:off x="6285530" y="1063755"/>
            <a:ext cx="4010578" cy="657673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b="1" dirty="0"/>
              <a:t>Future Work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42969DD5-7163-8D4C-2B3E-5CC0D49AE196}"/>
              </a:ext>
            </a:extLst>
          </p:cNvPr>
          <p:cNvSpPr txBox="1">
            <a:spLocks/>
          </p:cNvSpPr>
          <p:nvPr/>
        </p:nvSpPr>
        <p:spPr>
          <a:xfrm>
            <a:off x="6285530" y="1981426"/>
            <a:ext cx="5300078" cy="4251451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Private dataset</a:t>
            </a:r>
          </a:p>
          <a:p>
            <a:pPr lvl="1"/>
            <a:r>
              <a:rPr lang="en-US" dirty="0"/>
              <a:t>Larger dataset</a:t>
            </a:r>
          </a:p>
          <a:p>
            <a:pPr lvl="1"/>
            <a:r>
              <a:rPr lang="en-US" dirty="0"/>
              <a:t>More structured labeling system</a:t>
            </a:r>
          </a:p>
          <a:p>
            <a:r>
              <a:rPr lang="en-US" dirty="0"/>
              <a:t>Target HD class</a:t>
            </a:r>
          </a:p>
          <a:p>
            <a:r>
              <a:rPr lang="en-US" dirty="0"/>
              <a:t>Learned group encoders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4AE519FA-7082-F2C6-8276-18657A98BA11}"/>
              </a:ext>
            </a:extLst>
          </p:cNvPr>
          <p:cNvSpPr txBox="1">
            <a:spLocks/>
          </p:cNvSpPr>
          <p:nvPr/>
        </p:nvSpPr>
        <p:spPr>
          <a:xfrm>
            <a:off x="606392" y="1982646"/>
            <a:ext cx="5113322" cy="4251451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Private dataset</a:t>
            </a:r>
          </a:p>
          <a:p>
            <a:pPr lvl="1"/>
            <a:r>
              <a:rPr lang="en-US" dirty="0"/>
              <a:t>Too small to train on</a:t>
            </a:r>
          </a:p>
          <a:p>
            <a:pPr lvl="1"/>
            <a:r>
              <a:rPr lang="en-US" dirty="0"/>
              <a:t>Single annotator</a:t>
            </a:r>
          </a:p>
          <a:p>
            <a:r>
              <a:rPr lang="en-US" dirty="0"/>
              <a:t>Modest in-domain gain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3FC1FF92-5BD9-6482-D0DE-E2EE1CA1B8FC}"/>
              </a:ext>
            </a:extLst>
          </p:cNvPr>
          <p:cNvSpPr txBox="1">
            <a:spLocks/>
          </p:cNvSpPr>
          <p:nvPr/>
        </p:nvSpPr>
        <p:spPr>
          <a:xfrm>
            <a:off x="9957839" y="112543"/>
            <a:ext cx="1895426" cy="436098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800" b="1" kern="1200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pPr algn="r"/>
            <a:r>
              <a:rPr lang="en-US" dirty="0"/>
              <a:t>(2/2)</a:t>
            </a:r>
          </a:p>
        </p:txBody>
      </p:sp>
    </p:spTree>
    <p:extLst>
      <p:ext uri="{BB962C8B-B14F-4D97-AF65-F5344CB8AC3E}">
        <p14:creationId xmlns:p14="http://schemas.microsoft.com/office/powerpoint/2010/main" val="294626614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00">
        <p:fade/>
      </p:transition>
    </mc:Choice>
    <mc:Fallback xmlns="">
      <p:transition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6">
            <a:extLst>
              <a:ext uri="{FF2B5EF4-FFF2-40B4-BE49-F238E27FC236}">
                <a16:creationId xmlns:a16="http://schemas.microsoft.com/office/drawing/2014/main" id="{5945A2BB-ABB6-48FB-A491-502474D93E34}"/>
              </a:ext>
            </a:extLst>
          </p:cNvPr>
          <p:cNvSpPr txBox="1">
            <a:spLocks/>
          </p:cNvSpPr>
          <p:nvPr/>
        </p:nvSpPr>
        <p:spPr>
          <a:xfrm>
            <a:off x="5605763" y="2869457"/>
            <a:ext cx="5422456" cy="971304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7200" b="1" kern="1200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r>
              <a:rPr lang="en-US" sz="6000" dirty="0"/>
              <a:t>THANK YOU !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255FE58-BA70-418C-863F-55066B6675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A0BE3B-158A-4EDF-80DC-E394A0D1600F}" type="slidenum">
              <a:rPr lang="en-US" smtClean="0"/>
              <a:pPr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06271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00">
        <p:fade/>
      </p:transition>
    </mc:Choice>
    <mc:Fallback xmlns="">
      <p:transition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6635530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00">
        <p:fade/>
      </p:transition>
    </mc:Choice>
    <mc:Fallback xmlns="">
      <p:transition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5642BA63-383F-45B9-939A-7A3B792A60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88898" y="2461846"/>
            <a:ext cx="4614203" cy="1934307"/>
          </a:xfrm>
        </p:spPr>
        <p:txBody>
          <a:bodyPr/>
          <a:lstStyle/>
          <a:p>
            <a:r>
              <a:rPr lang="en-US" dirty="0"/>
              <a:t>Backup Slides</a:t>
            </a:r>
          </a:p>
        </p:txBody>
      </p:sp>
    </p:spTree>
    <p:extLst>
      <p:ext uri="{BB962C8B-B14F-4D97-AF65-F5344CB8AC3E}">
        <p14:creationId xmlns:p14="http://schemas.microsoft.com/office/powerpoint/2010/main" val="123400412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00">
        <p:fade/>
      </p:transition>
    </mc:Choice>
    <mc:Fallback xmlns="">
      <p:transition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AEFE0E-299A-46D8-9DF7-2C84CBBCAF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Backup Slides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8B4E653-E636-4EED-9A37-BC263FE84A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A0BE3B-158A-4EDF-80DC-E394A0D1600F}" type="slidenum">
              <a:rPr lang="en-US" smtClean="0"/>
              <a:pPr/>
              <a:t>21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F1B10DCE-A80C-8CA6-EEE8-519E10E1CDB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81339" y="1224884"/>
            <a:ext cx="8853626" cy="50877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770022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00">
        <p:fade/>
      </p:transition>
    </mc:Choice>
    <mc:Fallback xmlns="">
      <p:transition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A6CCC70F-DDA6-272F-6E2B-ECF91EDEBE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48F0CB-686F-32DC-4C3F-408D2C8EFA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Backup Slides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980D7BD-27BD-0FF2-A83C-ECBBB5A86E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A0BE3B-158A-4EDF-80DC-E394A0D1600F}" type="slidenum">
              <a:rPr lang="en-US" smtClean="0"/>
              <a:pPr/>
              <a:t>22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27EBE9E-BD23-CBC2-83A3-5CFA1783189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36636" y="1272569"/>
            <a:ext cx="5918727" cy="46874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851420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00">
        <p:fade/>
      </p:transition>
    </mc:Choice>
    <mc:Fallback xmlns="">
      <p:transition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C0A3D055-AA16-0446-D939-CFE7A4F3A2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1ED172-470D-146F-A680-645AC7E12B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Backup Slides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01F3741-D65A-BEBD-1E68-9721736A12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A0BE3B-158A-4EDF-80DC-E394A0D1600F}" type="slidenum">
              <a:rPr lang="en-US" smtClean="0"/>
              <a:pPr/>
              <a:t>23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B83BC3F0-0C91-31CC-9D03-650570254BB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39817" y="1374808"/>
            <a:ext cx="9077013" cy="47017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499882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00">
        <p:fade/>
      </p:transition>
    </mc:Choice>
    <mc:Fallback xmlns="">
      <p:transition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7175136E-A82A-3A77-F5B3-8E0670B7A5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89CBBC-63E1-0F5E-ABCD-AE4525FEB8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Backup Slides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72CF576-B877-A63E-CE0A-E5EF44C1C0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A0BE3B-158A-4EDF-80DC-E394A0D1600F}" type="slidenum">
              <a:rPr lang="en-US" smtClean="0"/>
              <a:pPr/>
              <a:t>24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9184025-FE0D-4784-249E-4BB2FB782AF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58694" y="1132297"/>
            <a:ext cx="6074611" cy="52574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628694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00">
        <p:fade/>
      </p:transition>
    </mc:Choice>
    <mc:Fallback xmlns="">
      <p:transition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ECB19AD86CDF2D4DBF9DAD694EFBC09D" ma:contentTypeVersion="7" ma:contentTypeDescription="Create a new document." ma:contentTypeScope="" ma:versionID="6423fc3df46fff0625ec86a02e55459f">
  <xsd:schema xmlns:xsd="http://www.w3.org/2001/XMLSchema" xmlns:xs="http://www.w3.org/2001/XMLSchema" xmlns:p="http://schemas.microsoft.com/office/2006/metadata/properties" xmlns:ns2="757826ba-dfa3-48aa-98b2-1e988427fee5" xmlns:ns3="e4770848-7955-4ec6-9f06-ace3904740ab" targetNamespace="http://schemas.microsoft.com/office/2006/metadata/properties" ma:root="true" ma:fieldsID="24cf96f43bac35fd0bad3b1a63bec25f" ns2:_="" ns3:_="">
    <xsd:import namespace="757826ba-dfa3-48aa-98b2-1e988427fee5"/>
    <xsd:import namespace="e4770848-7955-4ec6-9f06-ace3904740ab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2:MediaServiceDateTaken" minOccurs="0"/>
                <xsd:element ref="ns2:MediaLengthInSeconds" minOccurs="0"/>
                <xsd:element ref="ns3:SharedWithUsers" minOccurs="0"/>
                <xsd:element ref="ns3:SharedWithDetail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57826ba-dfa3-48aa-98b2-1e988427fee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DateTaken" ma:index="11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LengthInSeconds" ma:index="12" nillable="true" ma:displayName="MediaLengthInSeconds" ma:hidden="true" ma:internalName="MediaLengthInSeconds" ma:readOnly="true">
      <xsd:simpleType>
        <xsd:restriction base="dms:Unknow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4770848-7955-4ec6-9f06-ace3904740ab" elementFormDefault="qualified">
    <xsd:import namespace="http://schemas.microsoft.com/office/2006/documentManagement/types"/>
    <xsd:import namespace="http://schemas.microsoft.com/office/infopath/2007/PartnerControls"/>
    <xsd:element name="SharedWithUsers" ma:index="13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4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2C34D971-5E4A-4DCB-9925-F7DA6878D485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EBC316FA-151E-4EDB-9E09-98DAB3D0971A}">
  <ds:schemaRefs>
    <ds:schemaRef ds:uri="http://schemas.microsoft.com/office/2006/metadata/properties"/>
    <ds:schemaRef ds:uri="http://schemas.microsoft.com/office/infopath/2007/PartnerControls"/>
  </ds:schemaRefs>
</ds:datastoreItem>
</file>

<file path=customXml/itemProps3.xml><?xml version="1.0" encoding="utf-8"?>
<ds:datastoreItem xmlns:ds="http://schemas.openxmlformats.org/officeDocument/2006/customXml" ds:itemID="{698E78E3-0A98-4D61-9B64-F38933067CC3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57826ba-dfa3-48aa-98b2-1e988427fee5"/>
    <ds:schemaRef ds:uri="e4770848-7955-4ec6-9f06-ace3904740ab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4235</TotalTime>
  <Words>648</Words>
  <Application>Microsoft Office PowerPoint</Application>
  <PresentationFormat>Widescreen</PresentationFormat>
  <Paragraphs>199</Paragraphs>
  <Slides>24</Slides>
  <Notes>23</Notes>
  <HiddenSlides>6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9" baseType="lpstr">
      <vt:lpstr>Arial</vt:lpstr>
      <vt:lpstr>Calibri</vt:lpstr>
      <vt:lpstr>Lato</vt:lpstr>
      <vt:lpstr>Symbol</vt:lpstr>
      <vt:lpstr>Office Theme</vt:lpstr>
      <vt:lpstr>PowerPoint Presentation</vt:lpstr>
      <vt:lpstr>Content</vt:lpstr>
      <vt:lpstr>1. Introduction</vt:lpstr>
      <vt:lpstr>1. Introduction</vt:lpstr>
      <vt:lpstr>1. Introduction</vt:lpstr>
      <vt:lpstr>2. Literature Review</vt:lpstr>
      <vt:lpstr>3. Methodology</vt:lpstr>
      <vt:lpstr>3. Methodology</vt:lpstr>
      <vt:lpstr>3. Methodology</vt:lpstr>
      <vt:lpstr>4. Experimental Results</vt:lpstr>
      <vt:lpstr>4. Experimental Results</vt:lpstr>
      <vt:lpstr>4. Experimental Results</vt:lpstr>
      <vt:lpstr>4. Experimental Results</vt:lpstr>
      <vt:lpstr>4. Experimental Results</vt:lpstr>
      <vt:lpstr>4. Experimental Results</vt:lpstr>
      <vt:lpstr>5. Conclusions</vt:lpstr>
      <vt:lpstr>5. Conclusions</vt:lpstr>
      <vt:lpstr>PowerPoint Presentation</vt:lpstr>
      <vt:lpstr>PowerPoint Presentation</vt:lpstr>
      <vt:lpstr>Backup Slides</vt:lpstr>
      <vt:lpstr>Backup Slides</vt:lpstr>
      <vt:lpstr>Backup Slides</vt:lpstr>
      <vt:lpstr>Backup Slides</vt:lpstr>
      <vt:lpstr>Backup Slides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Phong TT &amp; QTTH</dc:creator>
  <cp:lastModifiedBy>Hòa Phan Minh</cp:lastModifiedBy>
  <cp:revision>27</cp:revision>
  <dcterms:created xsi:type="dcterms:W3CDTF">2021-05-28T04:32:29Z</dcterms:created>
  <dcterms:modified xsi:type="dcterms:W3CDTF">2026-07-02T12:07:21Z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0x010100ECB19AD86CDF2D4DBF9DAD694EFBC09D</vt:lpwstr>
  </property>
</Properties>
</file>