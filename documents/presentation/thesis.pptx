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3"/>
  </p:notesMasterIdLst>
  <p:handoutMasterIdLst>
    <p:handoutMasterId r:id="rId24"/>
  </p:handoutMasterIdLst>
  <p:sldIdLst>
    <p:sldId id="257" r:id="rId5"/>
    <p:sldId id="263" r:id="rId6"/>
    <p:sldId id="268" r:id="rId7"/>
    <p:sldId id="275" r:id="rId8"/>
    <p:sldId id="260" r:id="rId9"/>
    <p:sldId id="276" r:id="rId10"/>
    <p:sldId id="272" r:id="rId11"/>
    <p:sldId id="277" r:id="rId12"/>
    <p:sldId id="280" r:id="rId13"/>
    <p:sldId id="278" r:id="rId14"/>
    <p:sldId id="269" r:id="rId15"/>
    <p:sldId id="279" r:id="rId16"/>
    <p:sldId id="270" r:id="rId17"/>
    <p:sldId id="274" r:id="rId18"/>
    <p:sldId id="262" r:id="rId19"/>
    <p:sldId id="259" r:id="rId20"/>
    <p:sldId id="256" r:id="rId21"/>
    <p:sldId id="26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2B2"/>
    <a:srgbClr val="D55E00"/>
    <a:srgbClr val="009E73"/>
    <a:srgbClr val="ED7D31"/>
    <a:srgbClr val="CC79A7"/>
    <a:srgbClr val="00376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58907" autoAdjust="0"/>
  </p:normalViewPr>
  <p:slideViewPr>
    <p:cSldViewPr snapToGrid="0">
      <p:cViewPr varScale="1">
        <p:scale>
          <a:sx n="64" d="100"/>
          <a:sy n="64" d="100"/>
        </p:scale>
        <p:origin x="10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6/23/2026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a:solidFill>
                  <a:schemeClr val="tx1"/>
                </a:solidFill>
                <a:effectLst/>
                <a:latin typeface="+mn-lt"/>
                <a:ea typeface="+mn-ea"/>
                <a:cs typeface="+mn-cs"/>
              </a:rPr>
              <a:t>Good morning everyone. I’m Phan Minh Hòa. Today, I will present to you my thesis on “Student’s engagement detection in online classes”. Without wasting your time, let’s go right into the main content.</a:t>
            </a:r>
          </a:p>
        </p:txBody>
      </p:sp>
      <p:sp>
        <p:nvSpPr>
          <p:cNvPr id="4" name="Slide Number Placeholder 3"/>
          <p:cNvSpPr>
            <a:spLocks noGrp="1"/>
          </p:cNvSpPr>
          <p:nvPr>
            <p:ph type="sldNum" sz="quarter" idx="5"/>
          </p:nvPr>
        </p:nvSpPr>
        <p:spPr/>
        <p:txBody>
          <a:bodyPr/>
          <a:lstStyle/>
          <a:p>
            <a:fld id="{AB2FC7A4-3D1B-482D-8C9D-7642A2CE3076}" type="slidenum">
              <a:rPr lang="en-US" smtClean="0"/>
              <a:t>1</a:t>
            </a:fld>
            <a:endParaRPr lang="en-US"/>
          </a:p>
        </p:txBody>
      </p:sp>
    </p:spTree>
    <p:extLst>
      <p:ext uri="{BB962C8B-B14F-4D97-AF65-F5344CB8AC3E}">
        <p14:creationId xmlns:p14="http://schemas.microsoft.com/office/powerpoint/2010/main" val="9053097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a:solidFill>
                  <a:schemeClr val="tx1"/>
                </a:solidFill>
                <a:effectLst/>
                <a:latin typeface="+mn-lt"/>
                <a:ea typeface="+mn-ea"/>
                <a:cs typeface="+mn-cs"/>
              </a:rPr>
              <a:t>Here's the outline of my presentation.</a:t>
            </a:r>
          </a:p>
          <a:p>
            <a:endParaRPr lang="en-GB"/>
          </a:p>
        </p:txBody>
      </p:sp>
      <p:sp>
        <p:nvSpPr>
          <p:cNvPr id="4" name="Slide Number Placeholder 3"/>
          <p:cNvSpPr>
            <a:spLocks noGrp="1"/>
          </p:cNvSpPr>
          <p:nvPr>
            <p:ph type="sldNum" sz="quarter" idx="5"/>
          </p:nvPr>
        </p:nvSpPr>
        <p:spPr/>
        <p:txBody>
          <a:bodyPr/>
          <a:lstStyle/>
          <a:p>
            <a:fld id="{AB2FC7A4-3D1B-482D-8C9D-7642A2CE3076}" type="slidenum">
              <a:rPr lang="en-US" smtClean="0"/>
              <a:t>2</a:t>
            </a:fld>
            <a:endParaRPr lang="en-US"/>
          </a:p>
        </p:txBody>
      </p:sp>
    </p:spTree>
    <p:extLst>
      <p:ext uri="{BB962C8B-B14F-4D97-AF65-F5344CB8AC3E}">
        <p14:creationId xmlns:p14="http://schemas.microsoft.com/office/powerpoint/2010/main" val="1918043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a:solidFill>
                  <a:schemeClr val="tx1"/>
                </a:solidFill>
                <a:effectLst/>
                <a:latin typeface="+mn-lt"/>
                <a:ea typeface="+mn-ea"/>
                <a:cs typeface="+mn-cs"/>
              </a:rPr>
              <a:t>In online classes, the webcam became the teacher's only window onto the learner. When teaching and focusing on their own screen sharing, teachers realistically cannot read the room and decide they should change the pace or repeat the points they just made. To assist online teachers our thesis focus on one automation task: classify ten-second clips into four ordered engagement levels, from Highly-Disengaged to Highly-Engaged.</a:t>
            </a:r>
          </a:p>
          <a:p>
            <a:endParaRPr lang="en-GB"/>
          </a:p>
        </p:txBody>
      </p:sp>
      <p:sp>
        <p:nvSpPr>
          <p:cNvPr id="4" name="Slide Number Placeholder 3"/>
          <p:cNvSpPr>
            <a:spLocks noGrp="1"/>
          </p:cNvSpPr>
          <p:nvPr>
            <p:ph type="sldNum" sz="quarter" idx="5"/>
          </p:nvPr>
        </p:nvSpPr>
        <p:spPr/>
        <p:txBody>
          <a:bodyPr/>
          <a:lstStyle/>
          <a:p>
            <a:fld id="{AB2FC7A4-3D1B-482D-8C9D-7642A2CE3076}" type="slidenum">
              <a:rPr lang="en-US" smtClean="0"/>
              <a:t>3</a:t>
            </a:fld>
            <a:endParaRPr lang="en-US"/>
          </a:p>
        </p:txBody>
      </p:sp>
    </p:spTree>
    <p:extLst>
      <p:ext uri="{BB962C8B-B14F-4D97-AF65-F5344CB8AC3E}">
        <p14:creationId xmlns:p14="http://schemas.microsoft.com/office/powerpoint/2010/main" val="17387446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a:solidFill>
                  <a:schemeClr val="tx1"/>
                </a:solidFill>
                <a:effectLst/>
                <a:latin typeface="+mn-lt"/>
                <a:ea typeface="+mn-ea"/>
                <a:cs typeface="+mn-cs"/>
              </a:rPr>
              <a:t>This task innately have three key challenges. One: the ordinal scale forms a </a:t>
            </a:r>
            <a:r>
              <a:rPr lang="en-GB" sz="1200" b="0" i="1" kern="1200">
                <a:solidFill>
                  <a:schemeClr val="tx1"/>
                </a:solidFill>
                <a:effectLst/>
                <a:latin typeface="+mn-lt"/>
                <a:ea typeface="+mn-ea"/>
                <a:cs typeface="+mn-cs"/>
              </a:rPr>
              <a:t>stair</a:t>
            </a:r>
            <a:r>
              <a:rPr lang="en-GB" sz="1200" b="0" i="0" kern="1200">
                <a:solidFill>
                  <a:schemeClr val="tx1"/>
                </a:solidFill>
                <a:effectLst/>
                <a:latin typeface="+mn-lt"/>
                <a:ea typeface="+mn-ea"/>
                <a:cs typeface="+mn-cs"/>
              </a:rPr>
              <a:t> — mistaking a disengaged student for a highly-engaged one is a disaster, off-by-one is fine, but plain accuracy can't tell those apart. Two: the dataset is highly imbalance for example, CMOSE dataset have almost 70% of the clips labeled 'Engaged' while only under 3% labeled highly-disengaged. A model can have high accuracy by always guessing 'Engaged' and never doing its job. Three: every learner frames their webcam differently — a laptop looking up, a monitor camera at eye level, a phone off to the side — so the same expression reaches the model at a different angle and head pose. The OpenFace features are measured in that geometry, so the angle alone shifts them even when the engagement is identical. Doing well on one dataset's camera setups tells us little about the angles the model will actually meet.</a:t>
            </a:r>
            <a:endParaRPr lang="en-GB"/>
          </a:p>
        </p:txBody>
      </p:sp>
      <p:sp>
        <p:nvSpPr>
          <p:cNvPr id="4" name="Slide Number Placeholder 3"/>
          <p:cNvSpPr>
            <a:spLocks noGrp="1"/>
          </p:cNvSpPr>
          <p:nvPr>
            <p:ph type="sldNum" sz="quarter" idx="5"/>
          </p:nvPr>
        </p:nvSpPr>
        <p:spPr/>
        <p:txBody>
          <a:bodyPr/>
          <a:lstStyle/>
          <a:p>
            <a:fld id="{AB2FC7A4-3D1B-482D-8C9D-7642A2CE3076}" type="slidenum">
              <a:rPr lang="en-US" smtClean="0"/>
              <a:t>4</a:t>
            </a:fld>
            <a:endParaRPr lang="en-US"/>
          </a:p>
        </p:txBody>
      </p:sp>
    </p:spTree>
    <p:extLst>
      <p:ext uri="{BB962C8B-B14F-4D97-AF65-F5344CB8AC3E}">
        <p14:creationId xmlns:p14="http://schemas.microsoft.com/office/powerpoint/2010/main" val="27701293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Date Placeholder 3">
            <a:extLst>
              <a:ext uri="{FF2B5EF4-FFF2-40B4-BE49-F238E27FC236}">
                <a16:creationId xmlns:a16="http://schemas.microsoft.com/office/drawing/2014/main" id="{26152509-8D0C-4712-AA81-AF54972C78DB}"/>
              </a:ext>
            </a:extLst>
          </p:cNvPr>
          <p:cNvSpPr>
            <a:spLocks noGrp="1"/>
          </p:cNvSpPr>
          <p:nvPr>
            <p:ph type="dt" sz="half" idx="10"/>
          </p:nvPr>
        </p:nvSpPr>
        <p:spPr>
          <a:xfrm>
            <a:off x="838200" y="6486006"/>
            <a:ext cx="27432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58E92B09-5AF4-4E86-A8BE-E866F0E2C017}" type="datetime1">
              <a:rPr lang="en-US" smtClean="0"/>
              <a:pPr/>
              <a:t>6/23/2026</a:t>
            </a:fld>
            <a:endParaRPr lang="en-US" dirty="0"/>
          </a:p>
        </p:txBody>
      </p:sp>
      <p:sp>
        <p:nvSpPr>
          <p:cNvPr id="10" name="Footer Placeholder 4">
            <a:extLst>
              <a:ext uri="{FF2B5EF4-FFF2-40B4-BE49-F238E27FC236}">
                <a16:creationId xmlns:a16="http://schemas.microsoft.com/office/drawing/2014/main" id="{A9A90DE7-FAAB-4B91-AC83-B18850F1EC89}"/>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1" name="Slide Number Placeholder 5">
            <a:extLst>
              <a:ext uri="{FF2B5EF4-FFF2-40B4-BE49-F238E27FC236}">
                <a16:creationId xmlns:a16="http://schemas.microsoft.com/office/drawing/2014/main" id="{0FD5971E-BD21-416C-BC2E-97EE0E09A50C}"/>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4079575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6/23/2026</a:t>
            </a:fld>
            <a:endParaRPr lang="en-US" dirty="0"/>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7" name="Title 8">
            <a:extLst>
              <a:ext uri="{FF2B5EF4-FFF2-40B4-BE49-F238E27FC236}">
                <a16:creationId xmlns:a16="http://schemas.microsoft.com/office/drawing/2014/main" id="{DEAFB3E9-4F5E-435C-B51A-CC5766A852D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a:t>
            </a:r>
          </a:p>
        </p:txBody>
      </p:sp>
      <p:sp>
        <p:nvSpPr>
          <p:cNvPr id="8" name="Content Placeholder 7">
            <a:extLst>
              <a:ext uri="{FF2B5EF4-FFF2-40B4-BE49-F238E27FC236}">
                <a16:creationId xmlns:a16="http://schemas.microsoft.com/office/drawing/2014/main" id="{69C57778-6639-411E-9B4C-12D035AECE27}"/>
              </a:ext>
            </a:extLst>
          </p:cNvPr>
          <p:cNvSpPr>
            <a:spLocks noGrp="1"/>
          </p:cNvSpPr>
          <p:nvPr>
            <p:ph sz="quarter" idx="13"/>
          </p:nvPr>
        </p:nvSpPr>
        <p:spPr>
          <a:xfrm>
            <a:off x="338736" y="1058844"/>
            <a:ext cx="11514528" cy="490912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1329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6/23/2026</a:t>
            </a:fld>
            <a:endParaRPr lang="en-US" dirty="0"/>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38876699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6/23/2026</a:t>
            </a:fld>
            <a:endParaRPr lang="en-US" dirty="0"/>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958126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8A78F82-82C6-4F07-B7D8-4A1219A1BB4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19A9EFEF-A194-4819-82D7-1112425D0E86}" type="datetime1">
              <a:rPr lang="en-US" smtClean="0"/>
              <a:pPr/>
              <a:t>6/23/2026</a:t>
            </a:fld>
            <a:endParaRPr lang="en-US"/>
          </a:p>
        </p:txBody>
      </p:sp>
      <p:sp>
        <p:nvSpPr>
          <p:cNvPr id="8" name="Footer Placeholder 4">
            <a:extLst>
              <a:ext uri="{FF2B5EF4-FFF2-40B4-BE49-F238E27FC236}">
                <a16:creationId xmlns:a16="http://schemas.microsoft.com/office/drawing/2014/main" id="{12041C72-5CA2-4523-9F1E-50662A3276CE}"/>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3AD6B24F-6759-4931-A1C4-77BA8AF7E085}"/>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0" name="Title 8">
            <a:extLst>
              <a:ext uri="{FF2B5EF4-FFF2-40B4-BE49-F238E27FC236}">
                <a16:creationId xmlns:a16="http://schemas.microsoft.com/office/drawing/2014/main" id="{1CD850F7-B0EC-49AD-960D-051EAF5F36DD}"/>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a:t>
            </a:r>
          </a:p>
        </p:txBody>
      </p:sp>
      <p:sp>
        <p:nvSpPr>
          <p:cNvPr id="11" name="Chart Placeholder 14">
            <a:extLst>
              <a:ext uri="{FF2B5EF4-FFF2-40B4-BE49-F238E27FC236}">
                <a16:creationId xmlns:a16="http://schemas.microsoft.com/office/drawing/2014/main" id="{4A80550F-98CB-400B-9D36-210A7AED20E8}"/>
              </a:ext>
            </a:extLst>
          </p:cNvPr>
          <p:cNvSpPr>
            <a:spLocks noGrp="1"/>
          </p:cNvSpPr>
          <p:nvPr>
            <p:ph type="chart" sz="quarter" idx="13" hasCustomPrompt="1"/>
          </p:nvPr>
        </p:nvSpPr>
        <p:spPr>
          <a:xfrm>
            <a:off x="338736" y="1406525"/>
            <a:ext cx="5757264" cy="4670425"/>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2" name="Table Placeholder 16">
            <a:extLst>
              <a:ext uri="{FF2B5EF4-FFF2-40B4-BE49-F238E27FC236}">
                <a16:creationId xmlns:a16="http://schemas.microsoft.com/office/drawing/2014/main" id="{15345DA2-1E92-473D-9483-A24F87614F3D}"/>
              </a:ext>
            </a:extLst>
          </p:cNvPr>
          <p:cNvSpPr>
            <a:spLocks noGrp="1"/>
          </p:cNvSpPr>
          <p:nvPr>
            <p:ph type="tbl" sz="quarter" idx="14" hasCustomPrompt="1"/>
          </p:nvPr>
        </p:nvSpPr>
        <p:spPr>
          <a:xfrm>
            <a:off x="6210300" y="1392239"/>
            <a:ext cx="5592763" cy="46847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Table</a:t>
            </a:r>
          </a:p>
        </p:txBody>
      </p:sp>
    </p:spTree>
    <p:extLst>
      <p:ext uri="{BB962C8B-B14F-4D97-AF65-F5344CB8AC3E}">
        <p14:creationId xmlns:p14="http://schemas.microsoft.com/office/powerpoint/2010/main" val="32426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e Placeholder 3">
            <a:extLst>
              <a:ext uri="{FF2B5EF4-FFF2-40B4-BE49-F238E27FC236}">
                <a16:creationId xmlns:a16="http://schemas.microsoft.com/office/drawing/2014/main" id="{4F1F29B1-F2F8-4527-A0B9-5A566F0DB568}"/>
              </a:ext>
            </a:extLst>
          </p:cNvPr>
          <p:cNvSpPr>
            <a:spLocks noGrp="1"/>
          </p:cNvSpPr>
          <p:nvPr>
            <p:ph type="dt" sz="half" idx="10"/>
          </p:nvPr>
        </p:nvSpPr>
        <p:spPr>
          <a:xfrm>
            <a:off x="838200" y="6486006"/>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EEBFCEF3-2DDE-476B-8A96-303EC557333C}" type="datetime1">
              <a:rPr lang="en-US" smtClean="0"/>
              <a:pPr/>
              <a:t>6/23/2026</a:t>
            </a:fld>
            <a:endParaRPr lang="en-US"/>
          </a:p>
        </p:txBody>
      </p:sp>
      <p:sp>
        <p:nvSpPr>
          <p:cNvPr id="7" name="Footer Placeholder 4">
            <a:extLst>
              <a:ext uri="{FF2B5EF4-FFF2-40B4-BE49-F238E27FC236}">
                <a16:creationId xmlns:a16="http://schemas.microsoft.com/office/drawing/2014/main" id="{B1F89192-9608-4DA0-9D58-CE5D74F0161B}"/>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8" name="Slide Number Placeholder 5">
            <a:extLst>
              <a:ext uri="{FF2B5EF4-FFF2-40B4-BE49-F238E27FC236}">
                <a16:creationId xmlns:a16="http://schemas.microsoft.com/office/drawing/2014/main" id="{41300396-45C9-472A-AA37-70408F1C2FAF}"/>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9" name="Content Placeholder 4">
            <a:extLst>
              <a:ext uri="{FF2B5EF4-FFF2-40B4-BE49-F238E27FC236}">
                <a16:creationId xmlns:a16="http://schemas.microsoft.com/office/drawing/2014/main" id="{45B855E6-8413-49D5-929E-33A3B3627516}"/>
              </a:ext>
            </a:extLst>
          </p:cNvPr>
          <p:cNvSpPr>
            <a:spLocks noGrp="1"/>
          </p:cNvSpPr>
          <p:nvPr>
            <p:ph sz="quarter" idx="13"/>
          </p:nvPr>
        </p:nvSpPr>
        <p:spPr>
          <a:xfrm>
            <a:off x="4558372" y="1248325"/>
            <a:ext cx="7391400" cy="52054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AB6BBE52-BFE6-4B4F-95C1-25C2EB84A64F}"/>
              </a:ext>
            </a:extLst>
          </p:cNvPr>
          <p:cNvSpPr>
            <a:spLocks noGrp="1"/>
          </p:cNvSpPr>
          <p:nvPr>
            <p:ph type="title" hasCustomPrompt="1"/>
          </p:nvPr>
        </p:nvSpPr>
        <p:spPr>
          <a:xfrm>
            <a:off x="4558372" y="404265"/>
            <a:ext cx="7391400" cy="436098"/>
          </a:xfrm>
          <a:prstGeom prst="rect">
            <a:avLst/>
          </a:prstGeom>
        </p:spPr>
        <p:txBody>
          <a:bodyPr/>
          <a:lstStyle>
            <a:lvl1pPr>
              <a:defRPr sz="2800" b="1">
                <a:solidFill>
                  <a:schemeClr val="tx1"/>
                </a:solidFill>
                <a:latin typeface="Lato" panose="020F0502020204030203" pitchFamily="34" charset="0"/>
                <a:ea typeface="Lato" panose="020F0502020204030203" pitchFamily="34" charset="0"/>
                <a:cs typeface="Lato" panose="020F0502020204030203" pitchFamily="34" charset="0"/>
              </a:defRPr>
            </a:lvl1pPr>
          </a:lstStyle>
          <a:p>
            <a:r>
              <a:rPr lang="en-US" dirty="0"/>
              <a:t>Title 5:……………………………………..</a:t>
            </a:r>
          </a:p>
        </p:txBody>
      </p:sp>
    </p:spTree>
    <p:extLst>
      <p:ext uri="{BB962C8B-B14F-4D97-AF65-F5344CB8AC3E}">
        <p14:creationId xmlns:p14="http://schemas.microsoft.com/office/powerpoint/2010/main" val="4113439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6/23/2026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17913358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6/23/2026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960585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6/23/2026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7500320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6/23/2026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1226200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A21A061D-9F38-49ED-BAF8-8055D9FB97A5}"/>
              </a:ext>
            </a:extLst>
          </p:cNvPr>
          <p:cNvSpPr>
            <a:spLocks noGrp="1"/>
          </p:cNvSpPr>
          <p:nvPr>
            <p:ph type="dt" sz="half" idx="10"/>
          </p:nvPr>
        </p:nvSpPr>
        <p:spPr>
          <a:xfrm>
            <a:off x="838200" y="6492875"/>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82F65D4C-DEE4-4C7B-91C4-D6D57A523E98}" type="datetime1">
              <a:rPr lang="en-US" smtClean="0"/>
              <a:pPr/>
              <a:t>6/23/2026</a:t>
            </a:fld>
            <a:endParaRPr lang="en-US"/>
          </a:p>
        </p:txBody>
      </p:sp>
      <p:sp>
        <p:nvSpPr>
          <p:cNvPr id="9" name="Footer Placeholder 4">
            <a:extLst>
              <a:ext uri="{FF2B5EF4-FFF2-40B4-BE49-F238E27FC236}">
                <a16:creationId xmlns:a16="http://schemas.microsoft.com/office/drawing/2014/main" id="{490FAA6E-46AD-4366-8E80-2F5BEB7D5B24}"/>
              </a:ext>
            </a:extLst>
          </p:cNvPr>
          <p:cNvSpPr>
            <a:spLocks noGrp="1"/>
          </p:cNvSpPr>
          <p:nvPr>
            <p:ph type="ftr" sz="quarter" idx="11"/>
          </p:nvPr>
        </p:nvSpPr>
        <p:spPr>
          <a:xfrm>
            <a:off x="4038600" y="6492875"/>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0" name="Slide Number Placeholder 5">
            <a:extLst>
              <a:ext uri="{FF2B5EF4-FFF2-40B4-BE49-F238E27FC236}">
                <a16:creationId xmlns:a16="http://schemas.microsoft.com/office/drawing/2014/main" id="{9A5604C7-0828-446E-97CC-8D6162E69E60}"/>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0148816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60333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4">
            <a:extLst>
              <a:ext uri="{FF2B5EF4-FFF2-40B4-BE49-F238E27FC236}">
                <a16:creationId xmlns:a16="http://schemas.microsoft.com/office/drawing/2014/main" id="{4C167836-5AFF-4757-AB55-39FD3BBF9D47}"/>
              </a:ext>
            </a:extLst>
          </p:cNvPr>
          <p:cNvSpPr>
            <a:spLocks noGrp="1"/>
          </p:cNvSpPr>
          <p:nvPr>
            <p:ph type="title" hasCustomPrompt="1"/>
          </p:nvPr>
        </p:nvSpPr>
        <p:spPr>
          <a:xfrm>
            <a:off x="3788898" y="2461846"/>
            <a:ext cx="4614203" cy="1934307"/>
          </a:xfrm>
          <a:prstGeom prst="rect">
            <a:avLst/>
          </a:prstGeom>
        </p:spPr>
        <p:txBody>
          <a:bodyPr/>
          <a:lstStyle>
            <a:lvl1pPr algn="ctr">
              <a:defRPr sz="4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CLICK TO EDIT MASTER TITLE STYLE</a:t>
            </a:r>
          </a:p>
        </p:txBody>
      </p:sp>
    </p:spTree>
    <p:extLst>
      <p:ext uri="{BB962C8B-B14F-4D97-AF65-F5344CB8AC3E}">
        <p14:creationId xmlns:p14="http://schemas.microsoft.com/office/powerpoint/2010/main" val="2981520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954338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5" r:id="rId5"/>
    <p:sldLayoutId id="2147483654" r:id="rId6"/>
    <p:sldLayoutId id="2147483660" r:id="rId7"/>
    <p:sldLayoutId id="2147483659" r:id="rId8"/>
    <p:sldLayoutId id="2147483658" r:id="rId9"/>
    <p:sldLayoutId id="2147483661" r:id="rId10"/>
    <p:sldLayoutId id="2147483656" r:id="rId11"/>
    <p:sldLayoutId id="2147483657" r:id="rId12"/>
    <p:sldLayoutId id="2147483649"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3">
            <a:extLst>
              <a:ext uri="{FF2B5EF4-FFF2-40B4-BE49-F238E27FC236}">
                <a16:creationId xmlns:a16="http://schemas.microsoft.com/office/drawing/2014/main" id="{737FC17F-78B9-4DA3-B1E3-B6651CB1745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6634" y="331380"/>
            <a:ext cx="3174367" cy="952975"/>
          </a:xfrm>
          <a:prstGeom prst="rect">
            <a:avLst/>
          </a:prstGeom>
        </p:spPr>
      </p:pic>
      <p:sp>
        <p:nvSpPr>
          <p:cNvPr id="3" name="Title 6">
            <a:extLst>
              <a:ext uri="{FF2B5EF4-FFF2-40B4-BE49-F238E27FC236}">
                <a16:creationId xmlns:a16="http://schemas.microsoft.com/office/drawing/2014/main" id="{5702E00C-3125-4CD1-A5F8-64723BF48E3E}"/>
              </a:ext>
            </a:extLst>
          </p:cNvPr>
          <p:cNvSpPr txBox="1">
            <a:spLocks/>
          </p:cNvSpPr>
          <p:nvPr/>
        </p:nvSpPr>
        <p:spPr>
          <a:xfrm>
            <a:off x="386634" y="2219413"/>
            <a:ext cx="10044299" cy="1649854"/>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b="0"/>
              <a:t>Student’s engagement detection in online classes</a:t>
            </a:r>
          </a:p>
        </p:txBody>
      </p:sp>
      <p:sp>
        <p:nvSpPr>
          <p:cNvPr id="4" name="Title 6">
            <a:extLst>
              <a:ext uri="{FF2B5EF4-FFF2-40B4-BE49-F238E27FC236}">
                <a16:creationId xmlns:a16="http://schemas.microsoft.com/office/drawing/2014/main" id="{72BF49D9-2FCE-4950-8B1C-F580CC18F4C9}"/>
              </a:ext>
            </a:extLst>
          </p:cNvPr>
          <p:cNvSpPr txBox="1">
            <a:spLocks/>
          </p:cNvSpPr>
          <p:nvPr/>
        </p:nvSpPr>
        <p:spPr>
          <a:xfrm>
            <a:off x="386634" y="3931747"/>
            <a:ext cx="8257833" cy="1825586"/>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2800" b="0"/>
              <a:t>Phan Minh Hòa - 20225495</a:t>
            </a:r>
            <a:endParaRPr lang="en-US" sz="2800" b="0" dirty="0"/>
          </a:p>
        </p:txBody>
      </p:sp>
      <p:sp>
        <p:nvSpPr>
          <p:cNvPr id="9" name="Slide Number Placeholder 8">
            <a:extLst>
              <a:ext uri="{FF2B5EF4-FFF2-40B4-BE49-F238E27FC236}">
                <a16:creationId xmlns:a16="http://schemas.microsoft.com/office/drawing/2014/main" id="{99BF4829-01AB-4F75-A03B-DF4FC4C312C6}"/>
              </a:ext>
            </a:extLst>
          </p:cNvPr>
          <p:cNvSpPr>
            <a:spLocks noGrp="1"/>
          </p:cNvSpPr>
          <p:nvPr>
            <p:ph type="sldNum" sz="quarter" idx="12"/>
          </p:nvPr>
        </p:nvSpPr>
        <p:spPr/>
        <p:txBody>
          <a:bodyPr/>
          <a:lstStyle/>
          <a:p>
            <a:fld id="{9EA0BE3B-158A-4EDF-80DC-E394A0D1600F}" type="slidenum">
              <a:rPr lang="en-US" smtClean="0"/>
              <a:pPr/>
              <a:t>1</a:t>
            </a:fld>
            <a:endParaRPr lang="en-US"/>
          </a:p>
        </p:txBody>
      </p:sp>
    </p:spTree>
    <p:extLst>
      <p:ext uri="{BB962C8B-B14F-4D97-AF65-F5344CB8AC3E}">
        <p14:creationId xmlns:p14="http://schemas.microsoft.com/office/powerpoint/2010/main" val="7431729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08E1B1-D9CD-415A-BCE5-B57F39B2F31D}"/>
              </a:ext>
            </a:extLst>
          </p:cNvPr>
          <p:cNvSpPr>
            <a:spLocks noGrp="1"/>
          </p:cNvSpPr>
          <p:nvPr>
            <p:ph sz="quarter" idx="13"/>
          </p:nvPr>
        </p:nvSpPr>
        <p:spPr/>
        <p:txBody>
          <a:bodyPr/>
          <a:lstStyle/>
          <a:p>
            <a:pPr marL="514350" indent="-514350">
              <a:buAutoNum type="arabicPeriod"/>
            </a:pPr>
            <a:r>
              <a:rPr lang="en-US"/>
              <a:t>Introduction</a:t>
            </a:r>
          </a:p>
          <a:p>
            <a:pPr marL="514350" indent="-514350">
              <a:buAutoNum type="arabicPeriod"/>
            </a:pPr>
            <a:r>
              <a:rPr lang="en-US"/>
              <a:t>Literature Review</a:t>
            </a:r>
          </a:p>
          <a:p>
            <a:pPr marL="514350" indent="-514350">
              <a:buAutoNum type="arabicPeriod"/>
            </a:pPr>
            <a:r>
              <a:rPr lang="en-US"/>
              <a:t>Methodology</a:t>
            </a:r>
          </a:p>
          <a:p>
            <a:pPr marL="514350" indent="-514350">
              <a:buAutoNum type="arabicPeriod"/>
            </a:pPr>
            <a:r>
              <a:rPr lang="en-US"/>
              <a:t>Experimental Results</a:t>
            </a:r>
          </a:p>
          <a:p>
            <a:pPr marL="514350" indent="-514350">
              <a:buAutoNum type="arabicPeriod"/>
            </a:pPr>
            <a:r>
              <a:rPr lang="en-US"/>
              <a:t>Conclusions</a:t>
            </a:r>
          </a:p>
        </p:txBody>
      </p:sp>
      <p:sp>
        <p:nvSpPr>
          <p:cNvPr id="3" name="Title 2">
            <a:extLst>
              <a:ext uri="{FF2B5EF4-FFF2-40B4-BE49-F238E27FC236}">
                <a16:creationId xmlns:a16="http://schemas.microsoft.com/office/drawing/2014/main" id="{AD6941D0-D074-43AE-8875-C4BDC98ADB7F}"/>
              </a:ext>
            </a:extLst>
          </p:cNvPr>
          <p:cNvSpPr>
            <a:spLocks noGrp="1"/>
          </p:cNvSpPr>
          <p:nvPr>
            <p:ph type="title"/>
          </p:nvPr>
        </p:nvSpPr>
        <p:spPr/>
        <p:txBody>
          <a:bodyPr/>
          <a:lstStyle/>
          <a:p>
            <a:r>
              <a:rPr lang="en-US"/>
              <a:t>Content</a:t>
            </a:r>
          </a:p>
        </p:txBody>
      </p:sp>
      <p:sp>
        <p:nvSpPr>
          <p:cNvPr id="4" name="Slide Number Placeholder 3">
            <a:extLst>
              <a:ext uri="{FF2B5EF4-FFF2-40B4-BE49-F238E27FC236}">
                <a16:creationId xmlns:a16="http://schemas.microsoft.com/office/drawing/2014/main" id="{BD91CA00-8B5A-4B5F-AE21-CF0691D64D53}"/>
              </a:ext>
            </a:extLst>
          </p:cNvPr>
          <p:cNvSpPr>
            <a:spLocks noGrp="1"/>
          </p:cNvSpPr>
          <p:nvPr>
            <p:ph type="sldNum" sz="quarter" idx="12"/>
          </p:nvPr>
        </p:nvSpPr>
        <p:spPr/>
        <p:txBody>
          <a:bodyPr/>
          <a:lstStyle/>
          <a:p>
            <a:fld id="{9EA0BE3B-158A-4EDF-80DC-E394A0D1600F}" type="slidenum">
              <a:rPr lang="en-US" smtClean="0"/>
              <a:pPr/>
              <a:t>2</a:t>
            </a:fld>
            <a:endParaRPr lang="en-US"/>
          </a:p>
        </p:txBody>
      </p:sp>
    </p:spTree>
    <p:extLst>
      <p:ext uri="{BB962C8B-B14F-4D97-AF65-F5344CB8AC3E}">
        <p14:creationId xmlns:p14="http://schemas.microsoft.com/office/powerpoint/2010/main" val="485500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7B4C0-1A87-3AEA-CA04-910607BD85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98451-2B17-4542-60DD-741660BBB52D}"/>
              </a:ext>
            </a:extLst>
          </p:cNvPr>
          <p:cNvSpPr>
            <a:spLocks noGrp="1"/>
          </p:cNvSpPr>
          <p:nvPr>
            <p:ph type="title"/>
          </p:nvPr>
        </p:nvSpPr>
        <p:spPr>
          <a:xfrm>
            <a:off x="338736" y="112543"/>
            <a:ext cx="8817775" cy="436098"/>
          </a:xfrm>
        </p:spPr>
        <p:txBody>
          <a:bodyPr/>
          <a:lstStyle/>
          <a:p>
            <a:r>
              <a:rPr lang="en-US"/>
              <a:t>1. Introduction</a:t>
            </a:r>
          </a:p>
        </p:txBody>
      </p:sp>
      <p:sp>
        <p:nvSpPr>
          <p:cNvPr id="3" name="Content Placeholder 2">
            <a:extLst>
              <a:ext uri="{FF2B5EF4-FFF2-40B4-BE49-F238E27FC236}">
                <a16:creationId xmlns:a16="http://schemas.microsoft.com/office/drawing/2014/main" id="{EED558AB-E35A-41A1-84F3-8128DEBDDA2E}"/>
              </a:ext>
            </a:extLst>
          </p:cNvPr>
          <p:cNvSpPr>
            <a:spLocks noGrp="1"/>
          </p:cNvSpPr>
          <p:nvPr>
            <p:ph sz="quarter" idx="13"/>
          </p:nvPr>
        </p:nvSpPr>
        <p:spPr>
          <a:xfrm>
            <a:off x="606392" y="1066196"/>
            <a:ext cx="4010578" cy="657673"/>
          </a:xfrm>
        </p:spPr>
        <p:txBody>
          <a:bodyPr/>
          <a:lstStyle/>
          <a:p>
            <a:pPr marL="0" indent="0">
              <a:buNone/>
            </a:pPr>
            <a:r>
              <a:rPr lang="en-US" b="1"/>
              <a:t>Problem Statement</a:t>
            </a:r>
          </a:p>
        </p:txBody>
      </p:sp>
      <p:sp>
        <p:nvSpPr>
          <p:cNvPr id="4" name="Slide Number Placeholder 3">
            <a:extLst>
              <a:ext uri="{FF2B5EF4-FFF2-40B4-BE49-F238E27FC236}">
                <a16:creationId xmlns:a16="http://schemas.microsoft.com/office/drawing/2014/main" id="{BDAF71C1-125B-0929-45B0-6CF4AAF4F146}"/>
              </a:ext>
            </a:extLst>
          </p:cNvPr>
          <p:cNvSpPr>
            <a:spLocks noGrp="1"/>
          </p:cNvSpPr>
          <p:nvPr>
            <p:ph type="sldNum" sz="quarter" idx="12"/>
          </p:nvPr>
        </p:nvSpPr>
        <p:spPr/>
        <p:txBody>
          <a:bodyPr/>
          <a:lstStyle/>
          <a:p>
            <a:fld id="{9EA0BE3B-158A-4EDF-80DC-E394A0D1600F}" type="slidenum">
              <a:rPr lang="en-US" smtClean="0"/>
              <a:pPr/>
              <a:t>3</a:t>
            </a:fld>
            <a:endParaRPr lang="en-US" dirty="0"/>
          </a:p>
        </p:txBody>
      </p:sp>
      <p:sp>
        <p:nvSpPr>
          <p:cNvPr id="13" name="Content Placeholder 2">
            <a:extLst>
              <a:ext uri="{FF2B5EF4-FFF2-40B4-BE49-F238E27FC236}">
                <a16:creationId xmlns:a16="http://schemas.microsoft.com/office/drawing/2014/main" id="{48AB0CF0-BED9-CB26-CA6C-20CFDC3EC064}"/>
              </a:ext>
            </a:extLst>
          </p:cNvPr>
          <p:cNvSpPr txBox="1">
            <a:spLocks/>
          </p:cNvSpPr>
          <p:nvPr/>
        </p:nvSpPr>
        <p:spPr>
          <a:xfrm>
            <a:off x="561421" y="1527161"/>
            <a:ext cx="5802875" cy="283497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Recognize students’ engagement level </a:t>
            </a:r>
          </a:p>
          <a:p>
            <a:r>
              <a:rPr lang="en-US"/>
              <a:t>Input:</a:t>
            </a:r>
          </a:p>
          <a:p>
            <a:pPr lvl="1"/>
            <a:r>
              <a:rPr lang="en-US"/>
              <a:t>10s clips of online classes</a:t>
            </a:r>
          </a:p>
          <a:p>
            <a:r>
              <a:rPr lang="en-US"/>
              <a:t>Output:</a:t>
            </a:r>
          </a:p>
          <a:p>
            <a:pPr lvl="1"/>
            <a:r>
              <a:rPr lang="en-US"/>
              <a:t>4 classes: HE/E/D/HD</a:t>
            </a:r>
          </a:p>
        </p:txBody>
      </p:sp>
      <p:pic>
        <p:nvPicPr>
          <p:cNvPr id="17" name="Picture 16">
            <a:extLst>
              <a:ext uri="{FF2B5EF4-FFF2-40B4-BE49-F238E27FC236}">
                <a16:creationId xmlns:a16="http://schemas.microsoft.com/office/drawing/2014/main" id="{C998E620-55FB-9A90-1C17-7ADF10208AD1}"/>
              </a:ext>
            </a:extLst>
          </p:cNvPr>
          <p:cNvPicPr>
            <a:picLocks noChangeAspect="1"/>
          </p:cNvPicPr>
          <p:nvPr/>
        </p:nvPicPr>
        <p:blipFill>
          <a:blip r:embed="rId3"/>
          <a:stretch>
            <a:fillRect/>
          </a:stretch>
        </p:blipFill>
        <p:spPr>
          <a:xfrm>
            <a:off x="6843982" y="1723869"/>
            <a:ext cx="2197683" cy="1996485"/>
          </a:xfrm>
          <a:prstGeom prst="rect">
            <a:avLst/>
          </a:prstGeom>
        </p:spPr>
      </p:pic>
      <p:pic>
        <p:nvPicPr>
          <p:cNvPr id="18" name="Picture 17">
            <a:extLst>
              <a:ext uri="{FF2B5EF4-FFF2-40B4-BE49-F238E27FC236}">
                <a16:creationId xmlns:a16="http://schemas.microsoft.com/office/drawing/2014/main" id="{353EE243-84BD-F1E0-6CF5-81ED8352E3D3}"/>
              </a:ext>
            </a:extLst>
          </p:cNvPr>
          <p:cNvPicPr>
            <a:picLocks noChangeAspect="1"/>
          </p:cNvPicPr>
          <p:nvPr/>
        </p:nvPicPr>
        <p:blipFill>
          <a:blip r:embed="rId4"/>
          <a:stretch>
            <a:fillRect/>
          </a:stretch>
        </p:blipFill>
        <p:spPr>
          <a:xfrm>
            <a:off x="9041665" y="1723869"/>
            <a:ext cx="2234160" cy="1996485"/>
          </a:xfrm>
          <a:prstGeom prst="rect">
            <a:avLst/>
          </a:prstGeom>
        </p:spPr>
      </p:pic>
    </p:spTree>
    <p:extLst>
      <p:ext uri="{BB962C8B-B14F-4D97-AF65-F5344CB8AC3E}">
        <p14:creationId xmlns:p14="http://schemas.microsoft.com/office/powerpoint/2010/main" val="19479407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C8FD1-E1EA-3E64-A1CB-4121983DC0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1C8BAC-4AF2-C0AD-60B7-645DBA3EC008}"/>
              </a:ext>
            </a:extLst>
          </p:cNvPr>
          <p:cNvSpPr>
            <a:spLocks noGrp="1"/>
          </p:cNvSpPr>
          <p:nvPr>
            <p:ph type="title"/>
          </p:nvPr>
        </p:nvSpPr>
        <p:spPr/>
        <p:txBody>
          <a:bodyPr/>
          <a:lstStyle/>
          <a:p>
            <a:r>
              <a:rPr lang="en-US"/>
              <a:t>2. Problem Statement</a:t>
            </a:r>
          </a:p>
        </p:txBody>
      </p:sp>
      <p:sp>
        <p:nvSpPr>
          <p:cNvPr id="4" name="Slide Number Placeholder 3">
            <a:extLst>
              <a:ext uri="{FF2B5EF4-FFF2-40B4-BE49-F238E27FC236}">
                <a16:creationId xmlns:a16="http://schemas.microsoft.com/office/drawing/2014/main" id="{BE23136A-C1C8-6A04-920D-9E70EF956FCA}"/>
              </a:ext>
            </a:extLst>
          </p:cNvPr>
          <p:cNvSpPr>
            <a:spLocks noGrp="1"/>
          </p:cNvSpPr>
          <p:nvPr>
            <p:ph type="sldNum" sz="quarter" idx="12"/>
          </p:nvPr>
        </p:nvSpPr>
        <p:spPr/>
        <p:txBody>
          <a:bodyPr/>
          <a:lstStyle/>
          <a:p>
            <a:fld id="{9EA0BE3B-158A-4EDF-80DC-E394A0D1600F}" type="slidenum">
              <a:rPr lang="en-US" smtClean="0"/>
              <a:pPr/>
              <a:t>4</a:t>
            </a:fld>
            <a:endParaRPr lang="en-US" dirty="0"/>
          </a:p>
        </p:txBody>
      </p:sp>
      <p:sp>
        <p:nvSpPr>
          <p:cNvPr id="18" name="Content Placeholder 2">
            <a:extLst>
              <a:ext uri="{FF2B5EF4-FFF2-40B4-BE49-F238E27FC236}">
                <a16:creationId xmlns:a16="http://schemas.microsoft.com/office/drawing/2014/main" id="{31D2388E-EA8E-4623-4066-4A70208DB8DE}"/>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a:t>Key Challenges</a:t>
            </a:r>
          </a:p>
        </p:txBody>
      </p:sp>
      <p:sp>
        <p:nvSpPr>
          <p:cNvPr id="19" name="Content Placeholder 2">
            <a:extLst>
              <a:ext uri="{FF2B5EF4-FFF2-40B4-BE49-F238E27FC236}">
                <a16:creationId xmlns:a16="http://schemas.microsoft.com/office/drawing/2014/main" id="{6774727F-BA14-D855-52C5-AA15ABDC36D5}"/>
              </a:ext>
            </a:extLst>
          </p:cNvPr>
          <p:cNvSpPr txBox="1">
            <a:spLocks/>
          </p:cNvSpPr>
          <p:nvPr/>
        </p:nvSpPr>
        <p:spPr>
          <a:xfrm>
            <a:off x="606392" y="1839466"/>
            <a:ext cx="3085563" cy="158953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Ordinality</a:t>
            </a:r>
          </a:p>
          <a:p>
            <a:r>
              <a:rPr lang="en-US"/>
              <a:t>Imbalance</a:t>
            </a:r>
          </a:p>
          <a:p>
            <a:r>
              <a:rPr lang="en-US"/>
              <a:t>Angle Diversity</a:t>
            </a:r>
          </a:p>
        </p:txBody>
      </p:sp>
      <p:pic>
        <p:nvPicPr>
          <p:cNvPr id="23" name="Picture 22">
            <a:extLst>
              <a:ext uri="{FF2B5EF4-FFF2-40B4-BE49-F238E27FC236}">
                <a16:creationId xmlns:a16="http://schemas.microsoft.com/office/drawing/2014/main" id="{D3D7C9A8-960C-4C91-C131-73A30757C690}"/>
              </a:ext>
            </a:extLst>
          </p:cNvPr>
          <p:cNvPicPr>
            <a:picLocks noChangeAspect="1"/>
          </p:cNvPicPr>
          <p:nvPr/>
        </p:nvPicPr>
        <p:blipFill>
          <a:blip r:embed="rId3"/>
          <a:stretch>
            <a:fillRect/>
          </a:stretch>
        </p:blipFill>
        <p:spPr>
          <a:xfrm>
            <a:off x="345503" y="4156937"/>
            <a:ext cx="2917343" cy="1640577"/>
          </a:xfrm>
          <a:prstGeom prst="rect">
            <a:avLst/>
          </a:prstGeom>
        </p:spPr>
      </p:pic>
      <p:pic>
        <p:nvPicPr>
          <p:cNvPr id="24" name="Picture 23">
            <a:extLst>
              <a:ext uri="{FF2B5EF4-FFF2-40B4-BE49-F238E27FC236}">
                <a16:creationId xmlns:a16="http://schemas.microsoft.com/office/drawing/2014/main" id="{2FE9653F-3643-29B2-0188-3B2DADB43EBF}"/>
              </a:ext>
            </a:extLst>
          </p:cNvPr>
          <p:cNvPicPr>
            <a:picLocks noChangeAspect="1"/>
          </p:cNvPicPr>
          <p:nvPr/>
        </p:nvPicPr>
        <p:blipFill>
          <a:blip r:embed="rId4"/>
          <a:stretch>
            <a:fillRect/>
          </a:stretch>
        </p:blipFill>
        <p:spPr>
          <a:xfrm>
            <a:off x="9015988" y="4156937"/>
            <a:ext cx="2883723" cy="1634867"/>
          </a:xfrm>
          <a:prstGeom prst="rect">
            <a:avLst/>
          </a:prstGeom>
        </p:spPr>
      </p:pic>
      <p:pic>
        <p:nvPicPr>
          <p:cNvPr id="25" name="Picture 24">
            <a:extLst>
              <a:ext uri="{FF2B5EF4-FFF2-40B4-BE49-F238E27FC236}">
                <a16:creationId xmlns:a16="http://schemas.microsoft.com/office/drawing/2014/main" id="{8938FA3F-A3FB-A22E-9843-9D6C57DBC8E3}"/>
              </a:ext>
            </a:extLst>
          </p:cNvPr>
          <p:cNvPicPr>
            <a:picLocks noChangeAspect="1"/>
          </p:cNvPicPr>
          <p:nvPr/>
        </p:nvPicPr>
        <p:blipFill>
          <a:blip r:embed="rId5"/>
          <a:stretch>
            <a:fillRect/>
          </a:stretch>
        </p:blipFill>
        <p:spPr>
          <a:xfrm>
            <a:off x="6139418" y="4156937"/>
            <a:ext cx="2876570" cy="1634867"/>
          </a:xfrm>
          <a:prstGeom prst="rect">
            <a:avLst/>
          </a:prstGeom>
        </p:spPr>
      </p:pic>
      <p:pic>
        <p:nvPicPr>
          <p:cNvPr id="26" name="Picture 25">
            <a:extLst>
              <a:ext uri="{FF2B5EF4-FFF2-40B4-BE49-F238E27FC236}">
                <a16:creationId xmlns:a16="http://schemas.microsoft.com/office/drawing/2014/main" id="{C5145315-53E5-903E-586A-7C5EA32DF9DF}"/>
              </a:ext>
            </a:extLst>
          </p:cNvPr>
          <p:cNvPicPr>
            <a:picLocks noChangeAspect="1"/>
          </p:cNvPicPr>
          <p:nvPr/>
        </p:nvPicPr>
        <p:blipFill>
          <a:blip r:embed="rId6"/>
          <a:stretch>
            <a:fillRect/>
          </a:stretch>
        </p:blipFill>
        <p:spPr>
          <a:xfrm>
            <a:off x="3262847" y="4159239"/>
            <a:ext cx="2876570" cy="1638275"/>
          </a:xfrm>
          <a:prstGeom prst="rect">
            <a:avLst/>
          </a:prstGeom>
        </p:spPr>
      </p:pic>
      <p:pic>
        <p:nvPicPr>
          <p:cNvPr id="31" name="Picture 30">
            <a:extLst>
              <a:ext uri="{FF2B5EF4-FFF2-40B4-BE49-F238E27FC236}">
                <a16:creationId xmlns:a16="http://schemas.microsoft.com/office/drawing/2014/main" id="{4D955244-AE43-2E22-1652-9FA1A4385C8C}"/>
              </a:ext>
            </a:extLst>
          </p:cNvPr>
          <p:cNvPicPr>
            <a:picLocks noChangeAspect="1"/>
          </p:cNvPicPr>
          <p:nvPr/>
        </p:nvPicPr>
        <p:blipFill>
          <a:blip r:embed="rId7"/>
          <a:stretch>
            <a:fillRect/>
          </a:stretch>
        </p:blipFill>
        <p:spPr>
          <a:xfrm>
            <a:off x="3545194" y="1207919"/>
            <a:ext cx="8354517" cy="2852628"/>
          </a:xfrm>
          <a:prstGeom prst="rect">
            <a:avLst/>
          </a:prstGeom>
        </p:spPr>
      </p:pic>
    </p:spTree>
    <p:extLst>
      <p:ext uri="{BB962C8B-B14F-4D97-AF65-F5344CB8AC3E}">
        <p14:creationId xmlns:p14="http://schemas.microsoft.com/office/powerpoint/2010/main" val="2800488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B3AB5-95DF-4273-871C-843529DB7255}"/>
              </a:ext>
            </a:extLst>
          </p:cNvPr>
          <p:cNvSpPr>
            <a:spLocks noGrp="1"/>
          </p:cNvSpPr>
          <p:nvPr>
            <p:ph type="title"/>
          </p:nvPr>
        </p:nvSpPr>
        <p:spPr/>
        <p:txBody>
          <a:bodyPr/>
          <a:lstStyle/>
          <a:p>
            <a:r>
              <a:rPr lang="en-US"/>
              <a:t>3. Datasets</a:t>
            </a:r>
          </a:p>
        </p:txBody>
      </p:sp>
      <p:sp>
        <p:nvSpPr>
          <p:cNvPr id="3" name="Content Placeholder 2">
            <a:extLst>
              <a:ext uri="{FF2B5EF4-FFF2-40B4-BE49-F238E27FC236}">
                <a16:creationId xmlns:a16="http://schemas.microsoft.com/office/drawing/2014/main" id="{3573E091-9DCD-4DE7-96D1-A93E44E0F5B9}"/>
              </a:ext>
            </a:extLst>
          </p:cNvPr>
          <p:cNvSpPr>
            <a:spLocks noGrp="1"/>
          </p:cNvSpPr>
          <p:nvPr>
            <p:ph sz="quarter" idx="13"/>
          </p:nvPr>
        </p:nvSpPr>
        <p:spPr>
          <a:xfrm>
            <a:off x="313490" y="974438"/>
            <a:ext cx="5443997" cy="4909124"/>
          </a:xfrm>
        </p:spPr>
        <p:txBody>
          <a:bodyPr/>
          <a:lstStyle/>
          <a:p>
            <a:r>
              <a:rPr lang="en-US"/>
              <a:t>CMOSE dataset</a:t>
            </a:r>
          </a:p>
          <a:p>
            <a:pPr lvl="1"/>
            <a:r>
              <a:rPr lang="en-US"/>
              <a:t>12197 instances</a:t>
            </a:r>
          </a:p>
          <a:p>
            <a:pPr lvl="1"/>
            <a:r>
              <a:rPr lang="en-US"/>
              <a:t>train/eval/test = 72/18/10</a:t>
            </a:r>
          </a:p>
          <a:p>
            <a:pPr lvl="1"/>
            <a:r>
              <a:rPr lang="en-US"/>
              <a:t>Online presentation training class</a:t>
            </a:r>
          </a:p>
        </p:txBody>
      </p:sp>
      <p:sp>
        <p:nvSpPr>
          <p:cNvPr id="4" name="Slide Number Placeholder 3">
            <a:extLst>
              <a:ext uri="{FF2B5EF4-FFF2-40B4-BE49-F238E27FC236}">
                <a16:creationId xmlns:a16="http://schemas.microsoft.com/office/drawing/2014/main" id="{6CAB879D-D188-4DA3-8675-F8BCF379A12E}"/>
              </a:ext>
            </a:extLst>
          </p:cNvPr>
          <p:cNvSpPr>
            <a:spLocks noGrp="1"/>
          </p:cNvSpPr>
          <p:nvPr>
            <p:ph type="sldNum" sz="quarter" idx="12"/>
          </p:nvPr>
        </p:nvSpPr>
        <p:spPr/>
        <p:txBody>
          <a:bodyPr/>
          <a:lstStyle/>
          <a:p>
            <a:fld id="{9EA0BE3B-158A-4EDF-80DC-E394A0D1600F}" type="slidenum">
              <a:rPr lang="en-US" smtClean="0"/>
              <a:pPr/>
              <a:t>5</a:t>
            </a:fld>
            <a:endParaRPr lang="en-US" dirty="0"/>
          </a:p>
        </p:txBody>
      </p:sp>
      <p:sp>
        <p:nvSpPr>
          <p:cNvPr id="14" name="Content Placeholder 2">
            <a:extLst>
              <a:ext uri="{FF2B5EF4-FFF2-40B4-BE49-F238E27FC236}">
                <a16:creationId xmlns:a16="http://schemas.microsoft.com/office/drawing/2014/main" id="{336B9B46-E69D-FD6C-C3B6-DE534CB96283}"/>
              </a:ext>
            </a:extLst>
          </p:cNvPr>
          <p:cNvSpPr txBox="1">
            <a:spLocks/>
          </p:cNvSpPr>
          <p:nvPr/>
        </p:nvSpPr>
        <p:spPr>
          <a:xfrm>
            <a:off x="6383322" y="1065592"/>
            <a:ext cx="3877336" cy="490912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Our dataset</a:t>
            </a:r>
          </a:p>
          <a:p>
            <a:pPr lvl="1"/>
            <a:r>
              <a:rPr lang="en-US"/>
              <a:t>368 instances</a:t>
            </a:r>
          </a:p>
          <a:p>
            <a:pPr lvl="1"/>
            <a:r>
              <a:rPr lang="en-US"/>
              <a:t>Online class of SOICT</a:t>
            </a:r>
          </a:p>
        </p:txBody>
      </p:sp>
      <p:pic>
        <p:nvPicPr>
          <p:cNvPr id="17" name="Picture 16">
            <a:extLst>
              <a:ext uri="{FF2B5EF4-FFF2-40B4-BE49-F238E27FC236}">
                <a16:creationId xmlns:a16="http://schemas.microsoft.com/office/drawing/2014/main" id="{ABC392BA-9A12-33A1-3B29-5B5D09C65EBB}"/>
              </a:ext>
            </a:extLst>
          </p:cNvPr>
          <p:cNvPicPr>
            <a:picLocks noChangeAspect="1"/>
          </p:cNvPicPr>
          <p:nvPr/>
        </p:nvPicPr>
        <p:blipFill>
          <a:blip r:embed="rId2"/>
          <a:stretch>
            <a:fillRect/>
          </a:stretch>
        </p:blipFill>
        <p:spPr>
          <a:xfrm>
            <a:off x="757947" y="3520154"/>
            <a:ext cx="2197683" cy="1996485"/>
          </a:xfrm>
          <a:prstGeom prst="rect">
            <a:avLst/>
          </a:prstGeom>
        </p:spPr>
      </p:pic>
      <p:pic>
        <p:nvPicPr>
          <p:cNvPr id="48" name="Picture 47">
            <a:extLst>
              <a:ext uri="{FF2B5EF4-FFF2-40B4-BE49-F238E27FC236}">
                <a16:creationId xmlns:a16="http://schemas.microsoft.com/office/drawing/2014/main" id="{B3D49902-38AC-4125-4467-9AAB958F5B34}"/>
              </a:ext>
            </a:extLst>
          </p:cNvPr>
          <p:cNvPicPr>
            <a:picLocks noChangeAspect="1"/>
          </p:cNvPicPr>
          <p:nvPr/>
        </p:nvPicPr>
        <p:blipFill>
          <a:blip r:embed="rId3"/>
          <a:stretch>
            <a:fillRect/>
          </a:stretch>
        </p:blipFill>
        <p:spPr>
          <a:xfrm>
            <a:off x="2955630" y="3520154"/>
            <a:ext cx="2234160" cy="1996485"/>
          </a:xfrm>
          <a:prstGeom prst="rect">
            <a:avLst/>
          </a:prstGeom>
        </p:spPr>
      </p:pic>
      <p:pic>
        <p:nvPicPr>
          <p:cNvPr id="54" name="Picture 53">
            <a:extLst>
              <a:ext uri="{FF2B5EF4-FFF2-40B4-BE49-F238E27FC236}">
                <a16:creationId xmlns:a16="http://schemas.microsoft.com/office/drawing/2014/main" id="{D6D7264A-3C5F-DA65-F120-762D7048B3C2}"/>
              </a:ext>
            </a:extLst>
          </p:cNvPr>
          <p:cNvPicPr>
            <a:picLocks noChangeAspect="1"/>
          </p:cNvPicPr>
          <p:nvPr/>
        </p:nvPicPr>
        <p:blipFill>
          <a:blip r:embed="rId4"/>
          <a:stretch>
            <a:fillRect/>
          </a:stretch>
        </p:blipFill>
        <p:spPr>
          <a:xfrm>
            <a:off x="6532113" y="2715161"/>
            <a:ext cx="2624398" cy="1475839"/>
          </a:xfrm>
          <a:prstGeom prst="rect">
            <a:avLst/>
          </a:prstGeom>
        </p:spPr>
      </p:pic>
      <p:pic>
        <p:nvPicPr>
          <p:cNvPr id="56" name="Picture 55">
            <a:extLst>
              <a:ext uri="{FF2B5EF4-FFF2-40B4-BE49-F238E27FC236}">
                <a16:creationId xmlns:a16="http://schemas.microsoft.com/office/drawing/2014/main" id="{E0BFCE11-AD10-F763-3237-AF4E122B4D5E}"/>
              </a:ext>
            </a:extLst>
          </p:cNvPr>
          <p:cNvPicPr>
            <a:picLocks noChangeAspect="1"/>
          </p:cNvPicPr>
          <p:nvPr/>
        </p:nvPicPr>
        <p:blipFill>
          <a:blip r:embed="rId5"/>
          <a:stretch>
            <a:fillRect/>
          </a:stretch>
        </p:blipFill>
        <p:spPr>
          <a:xfrm>
            <a:off x="9156511" y="2715161"/>
            <a:ext cx="2624398" cy="1487848"/>
          </a:xfrm>
          <a:prstGeom prst="rect">
            <a:avLst/>
          </a:prstGeom>
        </p:spPr>
      </p:pic>
      <p:pic>
        <p:nvPicPr>
          <p:cNvPr id="58" name="Picture 57">
            <a:extLst>
              <a:ext uri="{FF2B5EF4-FFF2-40B4-BE49-F238E27FC236}">
                <a16:creationId xmlns:a16="http://schemas.microsoft.com/office/drawing/2014/main" id="{CAB97801-3B08-1C24-A3CE-A9FE950298AE}"/>
              </a:ext>
            </a:extLst>
          </p:cNvPr>
          <p:cNvPicPr>
            <a:picLocks noChangeAspect="1"/>
          </p:cNvPicPr>
          <p:nvPr/>
        </p:nvPicPr>
        <p:blipFill>
          <a:blip r:embed="rId6"/>
          <a:stretch>
            <a:fillRect/>
          </a:stretch>
        </p:blipFill>
        <p:spPr>
          <a:xfrm>
            <a:off x="9156511" y="4191000"/>
            <a:ext cx="2617888" cy="1487848"/>
          </a:xfrm>
          <a:prstGeom prst="rect">
            <a:avLst/>
          </a:prstGeom>
        </p:spPr>
      </p:pic>
      <p:pic>
        <p:nvPicPr>
          <p:cNvPr id="62" name="Picture 61">
            <a:extLst>
              <a:ext uri="{FF2B5EF4-FFF2-40B4-BE49-F238E27FC236}">
                <a16:creationId xmlns:a16="http://schemas.microsoft.com/office/drawing/2014/main" id="{B1EED9AC-5C87-073F-C295-207F722DFC8D}"/>
              </a:ext>
            </a:extLst>
          </p:cNvPr>
          <p:cNvPicPr>
            <a:picLocks noChangeAspect="1"/>
          </p:cNvPicPr>
          <p:nvPr/>
        </p:nvPicPr>
        <p:blipFill>
          <a:blip r:embed="rId7"/>
          <a:stretch>
            <a:fillRect/>
          </a:stretch>
        </p:blipFill>
        <p:spPr>
          <a:xfrm>
            <a:off x="6536227" y="4186535"/>
            <a:ext cx="2620284" cy="1492314"/>
          </a:xfrm>
          <a:prstGeom prst="rect">
            <a:avLst/>
          </a:prstGeom>
        </p:spPr>
      </p:pic>
    </p:spTree>
    <p:extLst>
      <p:ext uri="{BB962C8B-B14F-4D97-AF65-F5344CB8AC3E}">
        <p14:creationId xmlns:p14="http://schemas.microsoft.com/office/powerpoint/2010/main" val="2214337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1944-94D8-3C6B-F8DC-17425E09C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9245B3-2FD8-B6B4-174C-A9DEEE7EFEEF}"/>
              </a:ext>
            </a:extLst>
          </p:cNvPr>
          <p:cNvSpPr>
            <a:spLocks noGrp="1"/>
          </p:cNvSpPr>
          <p:nvPr>
            <p:ph type="title"/>
          </p:nvPr>
        </p:nvSpPr>
        <p:spPr/>
        <p:txBody>
          <a:bodyPr/>
          <a:lstStyle/>
          <a:p>
            <a:r>
              <a:rPr lang="en-US"/>
              <a:t>4. Feature Extraction</a:t>
            </a:r>
          </a:p>
        </p:txBody>
      </p:sp>
      <p:sp>
        <p:nvSpPr>
          <p:cNvPr id="3" name="Content Placeholder 2">
            <a:extLst>
              <a:ext uri="{FF2B5EF4-FFF2-40B4-BE49-F238E27FC236}">
                <a16:creationId xmlns:a16="http://schemas.microsoft.com/office/drawing/2014/main" id="{4214A4F0-81B5-F48E-E2A1-6B58713275AB}"/>
              </a:ext>
            </a:extLst>
          </p:cNvPr>
          <p:cNvSpPr>
            <a:spLocks noGrp="1"/>
          </p:cNvSpPr>
          <p:nvPr>
            <p:ph sz="quarter" idx="13"/>
          </p:nvPr>
        </p:nvSpPr>
        <p:spPr>
          <a:xfrm>
            <a:off x="606392" y="1066196"/>
            <a:ext cx="8969408" cy="4909124"/>
          </a:xfrm>
        </p:spPr>
        <p:txBody>
          <a:bodyPr/>
          <a:lstStyle/>
          <a:p>
            <a:r>
              <a:rPr lang="en-US"/>
              <a:t>OpenFace features:</a:t>
            </a:r>
          </a:p>
          <a:p>
            <a:pPr lvl="1"/>
            <a:r>
              <a:rPr lang="en-US"/>
              <a:t>709 features per frame, includes:</a:t>
            </a:r>
          </a:p>
          <a:p>
            <a:pPr lvl="2"/>
            <a:r>
              <a:rPr lang="en-US"/>
              <a:t>Gaze</a:t>
            </a:r>
          </a:p>
          <a:p>
            <a:pPr lvl="2"/>
            <a:r>
              <a:rPr lang="en-US"/>
              <a:t>Head pose</a:t>
            </a:r>
          </a:p>
          <a:p>
            <a:pPr lvl="2"/>
            <a:r>
              <a:rPr lang="en-US"/>
              <a:t>Face landmark</a:t>
            </a:r>
          </a:p>
          <a:p>
            <a:pPr lvl="2"/>
            <a:r>
              <a:rPr lang="en-US"/>
              <a:t>Eye landmark</a:t>
            </a:r>
          </a:p>
          <a:p>
            <a:pPr lvl="2"/>
            <a:r>
              <a:rPr lang="en-US"/>
              <a:t>Shape/PDM</a:t>
            </a:r>
          </a:p>
          <a:p>
            <a:pPr lvl="2"/>
            <a:r>
              <a:rPr lang="en-US"/>
              <a:t>Action unit</a:t>
            </a:r>
          </a:p>
          <a:p>
            <a:r>
              <a:rPr lang="en-US"/>
              <a:t>I3D features:</a:t>
            </a:r>
          </a:p>
          <a:p>
            <a:pPr lvl="1"/>
            <a:r>
              <a:rPr lang="en-US"/>
              <a:t>1024 features per clip</a:t>
            </a:r>
          </a:p>
          <a:p>
            <a:pPr lvl="1"/>
            <a:r>
              <a:rPr lang="en-US"/>
              <a:t>Trained on Kinetics-400</a:t>
            </a:r>
          </a:p>
        </p:txBody>
      </p:sp>
      <p:sp>
        <p:nvSpPr>
          <p:cNvPr id="4" name="Slide Number Placeholder 3">
            <a:extLst>
              <a:ext uri="{FF2B5EF4-FFF2-40B4-BE49-F238E27FC236}">
                <a16:creationId xmlns:a16="http://schemas.microsoft.com/office/drawing/2014/main" id="{580C3F91-8E41-5228-B954-5164180277A5}"/>
              </a:ext>
            </a:extLst>
          </p:cNvPr>
          <p:cNvSpPr>
            <a:spLocks noGrp="1"/>
          </p:cNvSpPr>
          <p:nvPr>
            <p:ph type="sldNum" sz="quarter" idx="12"/>
          </p:nvPr>
        </p:nvSpPr>
        <p:spPr/>
        <p:txBody>
          <a:bodyPr/>
          <a:lstStyle/>
          <a:p>
            <a:fld id="{9EA0BE3B-158A-4EDF-80DC-E394A0D1600F}" type="slidenum">
              <a:rPr lang="en-US" smtClean="0"/>
              <a:pPr/>
              <a:t>6</a:t>
            </a:fld>
            <a:endParaRPr lang="en-US" dirty="0"/>
          </a:p>
        </p:txBody>
      </p:sp>
    </p:spTree>
    <p:extLst>
      <p:ext uri="{BB962C8B-B14F-4D97-AF65-F5344CB8AC3E}">
        <p14:creationId xmlns:p14="http://schemas.microsoft.com/office/powerpoint/2010/main" val="20302302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B4D48-2A2E-C4B0-867C-DF38EE4714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C98AB5-8EDC-0AC6-D5F8-0AE2A9533ECB}"/>
              </a:ext>
            </a:extLst>
          </p:cNvPr>
          <p:cNvSpPr>
            <a:spLocks noGrp="1"/>
          </p:cNvSpPr>
          <p:nvPr>
            <p:ph type="title"/>
          </p:nvPr>
        </p:nvSpPr>
        <p:spPr/>
        <p:txBody>
          <a:bodyPr/>
          <a:lstStyle/>
          <a:p>
            <a:r>
              <a:rPr lang="en-US"/>
              <a:t>5. Architectures</a:t>
            </a:r>
          </a:p>
        </p:txBody>
      </p:sp>
      <p:sp>
        <p:nvSpPr>
          <p:cNvPr id="3" name="Content Placeholder 2">
            <a:extLst>
              <a:ext uri="{FF2B5EF4-FFF2-40B4-BE49-F238E27FC236}">
                <a16:creationId xmlns:a16="http://schemas.microsoft.com/office/drawing/2014/main" id="{E683BC21-62AF-B000-23AE-D5109D302332}"/>
              </a:ext>
            </a:extLst>
          </p:cNvPr>
          <p:cNvSpPr>
            <a:spLocks noGrp="1"/>
          </p:cNvSpPr>
          <p:nvPr>
            <p:ph sz="quarter" idx="13"/>
          </p:nvPr>
        </p:nvSpPr>
        <p:spPr>
          <a:xfrm>
            <a:off x="606392" y="1066196"/>
            <a:ext cx="8550119" cy="4909124"/>
          </a:xfrm>
        </p:spPr>
        <p:txBody>
          <a:bodyPr/>
          <a:lstStyle/>
          <a:p>
            <a:pPr>
              <a:buFontTx/>
              <a:buChar char="-"/>
            </a:pPr>
            <a:r>
              <a:rPr lang="en-US"/>
              <a:t>MLP</a:t>
            </a:r>
          </a:p>
          <a:p>
            <a:pPr>
              <a:buFontTx/>
              <a:buChar char="-"/>
            </a:pPr>
            <a:r>
              <a:rPr lang="en-US"/>
              <a:t>TCN, LSTM, Transformer</a:t>
            </a:r>
          </a:p>
          <a:p>
            <a:pPr>
              <a:buFontTx/>
              <a:buChar char="-"/>
            </a:pPr>
            <a:r>
              <a:rPr lang="en-US"/>
              <a:t>Pipelines</a:t>
            </a:r>
          </a:p>
        </p:txBody>
      </p:sp>
      <p:sp>
        <p:nvSpPr>
          <p:cNvPr id="4" name="Slide Number Placeholder 3">
            <a:extLst>
              <a:ext uri="{FF2B5EF4-FFF2-40B4-BE49-F238E27FC236}">
                <a16:creationId xmlns:a16="http://schemas.microsoft.com/office/drawing/2014/main" id="{332C6B5C-84A8-4A83-8226-03521DB5C9D6}"/>
              </a:ext>
            </a:extLst>
          </p:cNvPr>
          <p:cNvSpPr>
            <a:spLocks noGrp="1"/>
          </p:cNvSpPr>
          <p:nvPr>
            <p:ph type="sldNum" sz="quarter" idx="12"/>
          </p:nvPr>
        </p:nvSpPr>
        <p:spPr/>
        <p:txBody>
          <a:bodyPr/>
          <a:lstStyle/>
          <a:p>
            <a:fld id="{9EA0BE3B-158A-4EDF-80DC-E394A0D1600F}" type="slidenum">
              <a:rPr lang="en-US" smtClean="0"/>
              <a:pPr/>
              <a:t>7</a:t>
            </a:fld>
            <a:endParaRPr lang="en-US" dirty="0"/>
          </a:p>
        </p:txBody>
      </p:sp>
    </p:spTree>
    <p:extLst>
      <p:ext uri="{BB962C8B-B14F-4D97-AF65-F5344CB8AC3E}">
        <p14:creationId xmlns:p14="http://schemas.microsoft.com/office/powerpoint/2010/main" val="10515863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633FB8-6FFE-340F-33EB-CBC7B04CA8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AC44F5-59FE-2FDB-00AD-449FA227F697}"/>
              </a:ext>
            </a:extLst>
          </p:cNvPr>
          <p:cNvSpPr>
            <a:spLocks noGrp="1"/>
          </p:cNvSpPr>
          <p:nvPr>
            <p:ph type="title"/>
          </p:nvPr>
        </p:nvSpPr>
        <p:spPr/>
        <p:txBody>
          <a:bodyPr/>
          <a:lstStyle/>
          <a:p>
            <a:r>
              <a:rPr lang="en-US"/>
              <a:t>6. Losses &amp; Metrics</a:t>
            </a:r>
          </a:p>
        </p:txBody>
      </p:sp>
      <p:sp>
        <p:nvSpPr>
          <p:cNvPr id="3" name="Content Placeholder 2">
            <a:extLst>
              <a:ext uri="{FF2B5EF4-FFF2-40B4-BE49-F238E27FC236}">
                <a16:creationId xmlns:a16="http://schemas.microsoft.com/office/drawing/2014/main" id="{15FBDFCD-BF5A-8185-F622-83A3BC87EB9E}"/>
              </a:ext>
            </a:extLst>
          </p:cNvPr>
          <p:cNvSpPr>
            <a:spLocks noGrp="1"/>
          </p:cNvSpPr>
          <p:nvPr>
            <p:ph sz="quarter" idx="13"/>
          </p:nvPr>
        </p:nvSpPr>
        <p:spPr>
          <a:xfrm>
            <a:off x="682590" y="924576"/>
            <a:ext cx="8791610" cy="503370"/>
          </a:xfrm>
        </p:spPr>
        <p:txBody>
          <a:bodyPr/>
          <a:lstStyle/>
          <a:p>
            <a:r>
              <a:rPr lang="en-US"/>
              <a:t>CE loss:</a:t>
            </a:r>
          </a:p>
        </p:txBody>
      </p:sp>
      <p:sp>
        <p:nvSpPr>
          <p:cNvPr id="4" name="Slide Number Placeholder 3">
            <a:extLst>
              <a:ext uri="{FF2B5EF4-FFF2-40B4-BE49-F238E27FC236}">
                <a16:creationId xmlns:a16="http://schemas.microsoft.com/office/drawing/2014/main" id="{6B6AEA1B-F6FA-A96F-C68B-44846797EC8A}"/>
              </a:ext>
            </a:extLst>
          </p:cNvPr>
          <p:cNvSpPr>
            <a:spLocks noGrp="1"/>
          </p:cNvSpPr>
          <p:nvPr>
            <p:ph type="sldNum" sz="quarter" idx="12"/>
          </p:nvPr>
        </p:nvSpPr>
        <p:spPr/>
        <p:txBody>
          <a:bodyPr/>
          <a:lstStyle/>
          <a:p>
            <a:fld id="{9EA0BE3B-158A-4EDF-80DC-E394A0D1600F}" type="slidenum">
              <a:rPr lang="en-US" smtClean="0"/>
              <a:pPr/>
              <a:t>8</a:t>
            </a:fld>
            <a:endParaRPr lang="en-US" dirty="0"/>
          </a:p>
        </p:txBody>
      </p:sp>
      <p:sp>
        <p:nvSpPr>
          <p:cNvPr id="9" name="Content Placeholder 2">
            <a:extLst>
              <a:ext uri="{FF2B5EF4-FFF2-40B4-BE49-F238E27FC236}">
                <a16:creationId xmlns:a16="http://schemas.microsoft.com/office/drawing/2014/main" id="{53A52718-F7A7-7A7E-68BD-B8AFA52A3CCB}"/>
              </a:ext>
            </a:extLst>
          </p:cNvPr>
          <p:cNvSpPr txBox="1">
            <a:spLocks/>
          </p:cNvSpPr>
          <p:nvPr/>
        </p:nvSpPr>
        <p:spPr>
          <a:xfrm>
            <a:off x="682589" y="2678219"/>
            <a:ext cx="8550119" cy="50337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Weighted CE loss:</a:t>
            </a:r>
          </a:p>
        </p:txBody>
      </p:sp>
      <p:sp>
        <p:nvSpPr>
          <p:cNvPr id="10" name="Content Placeholder 2">
            <a:extLst>
              <a:ext uri="{FF2B5EF4-FFF2-40B4-BE49-F238E27FC236}">
                <a16:creationId xmlns:a16="http://schemas.microsoft.com/office/drawing/2014/main" id="{23DB1134-7160-ED1F-7DC5-474AE7570244}"/>
              </a:ext>
            </a:extLst>
          </p:cNvPr>
          <p:cNvSpPr txBox="1">
            <a:spLocks/>
          </p:cNvSpPr>
          <p:nvPr/>
        </p:nvSpPr>
        <p:spPr>
          <a:xfrm>
            <a:off x="682589" y="4309548"/>
            <a:ext cx="3889411" cy="52768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Squared EMD loss: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954167F-CCE2-1B0F-940A-FD9E01763399}"/>
                  </a:ext>
                </a:extLst>
              </p:cNvPr>
              <p:cNvSpPr txBox="1"/>
              <p:nvPr/>
            </p:nvSpPr>
            <p:spPr>
              <a:xfrm>
                <a:off x="609440" y="1427946"/>
                <a:ext cx="2460354" cy="10574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smtClean="0">
                              <a:latin typeface="Cambria Math" panose="02040503050406030204" pitchFamily="18" charset="0"/>
                            </a:rPr>
                            <m:t>𝐿</m:t>
                          </m:r>
                        </m:e>
                        <m:sub>
                          <m:r>
                            <a:rPr lang="en-GB" i="1" smtClean="0">
                              <a:latin typeface="Cambria Math" panose="02040503050406030204" pitchFamily="18" charset="0"/>
                            </a:rPr>
                            <m:t>𝐶𝐸</m:t>
                          </m:r>
                        </m:sub>
                      </m:sSub>
                      <m:r>
                        <a:rPr lang="en-GB" i="1" smtClean="0">
                          <a:latin typeface="Cambria Math" panose="02040503050406030204" pitchFamily="18" charset="0"/>
                        </a:rPr>
                        <m:t>=−</m:t>
                      </m:r>
                      <m:nary>
                        <m:naryPr>
                          <m:chr m:val="∑"/>
                          <m:ctrlPr>
                            <a:rPr lang="en-GB" i="1">
                              <a:latin typeface="Cambria Math" panose="02040503050406030204" pitchFamily="18" charset="0"/>
                            </a:rPr>
                          </m:ctrlPr>
                        </m:naryPr>
                        <m:sub>
                          <m:r>
                            <m:rPr>
                              <m:sty m:val="p"/>
                              <m:brk m:alnAt="23"/>
                            </m:rPr>
                            <a:rPr lang="en-US" b="0" i="1" smtClean="0">
                              <a:latin typeface="Cambria Math" panose="02040503050406030204" pitchFamily="18" charset="0"/>
                            </a:rPr>
                            <m:t>c</m:t>
                          </m:r>
                          <m:r>
                            <a:rPr lang="en-GB" i="1">
                              <a:latin typeface="Cambria Math" panose="02040503050406030204" pitchFamily="18" charset="0"/>
                            </a:rPr>
                            <m:t>=1</m:t>
                          </m:r>
                        </m:sub>
                        <m:sup>
                          <m:r>
                            <a:rPr lang="en-GB" i="1">
                              <a:latin typeface="Cambria Math" panose="02040503050406030204" pitchFamily="18" charset="0"/>
                            </a:rPr>
                            <m:t>𝐶</m:t>
                          </m:r>
                        </m:sup>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𝑐</m:t>
                              </m:r>
                            </m:sub>
                          </m:sSub>
                        </m:e>
                      </m:nary>
                      <m:func>
                        <m:funcPr>
                          <m:ctrlPr>
                            <a:rPr lang="en-GB" i="1">
                              <a:latin typeface="Cambria Math" panose="02040503050406030204" pitchFamily="18" charset="0"/>
                            </a:rPr>
                          </m:ctrlPr>
                        </m:funcPr>
                        <m:fName>
                          <m:r>
                            <m:rPr>
                              <m:sty m:val="p"/>
                            </m:rPr>
                            <a:rPr lang="en-GB" i="0">
                              <a:latin typeface="Cambria Math" panose="02040503050406030204" pitchFamily="18" charset="0"/>
                            </a:rPr>
                            <m:t>log</m:t>
                          </m:r>
                        </m:fName>
                        <m:e>
                          <m:d>
                            <m:dPr>
                              <m:ctrlPr>
                                <a:rPr lang="en-GB" i="1">
                                  <a:latin typeface="Cambria Math" panose="02040503050406030204" pitchFamily="18" charset="0"/>
                                </a:rPr>
                              </m:ctrlPr>
                            </m:dPr>
                            <m:e>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𝑐</m:t>
                                      </m:r>
                                    </m:sub>
                                  </m:sSub>
                                </m:e>
                              </m:acc>
                            </m:e>
                          </m:d>
                        </m:e>
                      </m:func>
                    </m:oMath>
                  </m:oMathPara>
                </a14:m>
                <a:endParaRPr lang="en-US"/>
              </a:p>
              <a:p>
                <a:endParaRPr lang="en-GB"/>
              </a:p>
            </p:txBody>
          </p:sp>
        </mc:Choice>
        <mc:Fallback xmlns="">
          <p:sp>
            <p:nvSpPr>
              <p:cNvPr id="7" name="TextBox 6">
                <a:extLst>
                  <a:ext uri="{FF2B5EF4-FFF2-40B4-BE49-F238E27FC236}">
                    <a16:creationId xmlns:a16="http://schemas.microsoft.com/office/drawing/2014/main" id="{B954167F-CCE2-1B0F-940A-FD9E01763399}"/>
                  </a:ext>
                </a:extLst>
              </p:cNvPr>
              <p:cNvSpPr txBox="1">
                <a:spLocks noRot="1" noChangeAspect="1" noMove="1" noResize="1" noEditPoints="1" noAdjustHandles="1" noChangeArrowheads="1" noChangeShapeType="1" noTextEdit="1"/>
              </p:cNvSpPr>
              <p:nvPr/>
            </p:nvSpPr>
            <p:spPr>
              <a:xfrm>
                <a:off x="609440" y="1427946"/>
                <a:ext cx="2460354" cy="1057469"/>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2788F0D-541E-1376-2840-AB2AFDE1164C}"/>
                  </a:ext>
                </a:extLst>
              </p:cNvPr>
              <p:cNvSpPr txBox="1"/>
              <p:nvPr/>
            </p:nvSpPr>
            <p:spPr>
              <a:xfrm>
                <a:off x="682589" y="3216834"/>
                <a:ext cx="2827825" cy="10574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𝑊𝐶𝐸</m:t>
                          </m:r>
                        </m:sub>
                      </m:sSub>
                      <m:r>
                        <a:rPr lang="en-GB"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𝑐</m:t>
                          </m:r>
                          <m:r>
                            <a:rPr lang="en-GB" b="0" i="1" smtClean="0">
                              <a:latin typeface="Cambria Math" panose="02040503050406030204" pitchFamily="18" charset="0"/>
                            </a:rPr>
                            <m:t>=1</m:t>
                          </m:r>
                        </m:sub>
                        <m:sup>
                          <m:r>
                            <a:rPr lang="en-GB" b="0" i="1" smtClean="0">
                              <a:latin typeface="Cambria Math" panose="02040503050406030204" pitchFamily="18" charset="0"/>
                            </a:rPr>
                            <m:t>𝐶</m:t>
                          </m:r>
                        </m:sup>
                        <m:e>
                          <m:sSub>
                            <m:sSubPr>
                              <m:ctrlPr>
                                <a:rPr lang="en-GB"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𝑐</m:t>
                                  </m:r>
                                  <m:r>
                                    <a:rPr lang="en-US" b="0" i="1" smtClean="0">
                                      <a:latin typeface="Cambria Math" panose="02040503050406030204" pitchFamily="18" charset="0"/>
                                    </a:rPr>
                                    <m:t>  </m:t>
                                  </m:r>
                                </m:sub>
                              </m:sSub>
                              <m:r>
                                <a:rPr lang="en-GB" b="0" i="1" smtClean="0">
                                  <a:latin typeface="Cambria Math" panose="02040503050406030204" pitchFamily="18" charset="0"/>
                                </a:rPr>
                                <m:t>𝑦</m:t>
                              </m:r>
                            </m:e>
                            <m:sub>
                              <m:r>
                                <a:rPr lang="en-GB" b="0" i="1" smtClean="0">
                                  <a:latin typeface="Cambria Math" panose="02040503050406030204" pitchFamily="18" charset="0"/>
                                </a:rPr>
                                <m:t>𝑐</m:t>
                              </m:r>
                            </m:sub>
                          </m:sSub>
                          <m:func>
                            <m:funcPr>
                              <m:ctrlPr>
                                <a:rPr lang="en-GB" b="0" i="1" smtClean="0">
                                  <a:latin typeface="Cambria Math" panose="02040503050406030204" pitchFamily="18" charset="0"/>
                                </a:rPr>
                              </m:ctrlPr>
                            </m:funcPr>
                            <m:fName>
                              <m:r>
                                <m:rPr>
                                  <m:sty m:val="p"/>
                                </m:rPr>
                                <a:rPr lang="en-GB" i="0">
                                  <a:latin typeface="Cambria Math" panose="02040503050406030204" pitchFamily="18" charset="0"/>
                                </a:rPr>
                                <m:t>log</m:t>
                              </m:r>
                            </m:fName>
                            <m:e>
                              <m:d>
                                <m:dPr>
                                  <m:ctrlPr>
                                    <a:rPr lang="en-GB" i="1">
                                      <a:latin typeface="Cambria Math" panose="02040503050406030204" pitchFamily="18" charset="0"/>
                                    </a:rPr>
                                  </m:ctrlPr>
                                </m:dPr>
                                <m:e>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𝑐</m:t>
                                          </m:r>
                                        </m:sub>
                                      </m:sSub>
                                    </m:e>
                                  </m:acc>
                                </m:e>
                              </m:d>
                            </m:e>
                          </m:func>
                        </m:e>
                      </m:nary>
                    </m:oMath>
                  </m:oMathPara>
                </a14:m>
                <a:endParaRPr lang="en-US"/>
              </a:p>
              <a:p>
                <a:endParaRPr lang="en-GB"/>
              </a:p>
            </p:txBody>
          </p:sp>
        </mc:Choice>
        <mc:Fallback xmlns="">
          <p:sp>
            <p:nvSpPr>
              <p:cNvPr id="8" name="TextBox 7">
                <a:extLst>
                  <a:ext uri="{FF2B5EF4-FFF2-40B4-BE49-F238E27FC236}">
                    <a16:creationId xmlns:a16="http://schemas.microsoft.com/office/drawing/2014/main" id="{92788F0D-541E-1376-2840-AB2AFDE1164C}"/>
                  </a:ext>
                </a:extLst>
              </p:cNvPr>
              <p:cNvSpPr txBox="1">
                <a:spLocks noRot="1" noChangeAspect="1" noMove="1" noResize="1" noEditPoints="1" noAdjustHandles="1" noChangeArrowheads="1" noChangeShapeType="1" noTextEdit="1"/>
              </p:cNvSpPr>
              <p:nvPr/>
            </p:nvSpPr>
            <p:spPr>
              <a:xfrm>
                <a:off x="682589" y="3216834"/>
                <a:ext cx="2827825" cy="1057469"/>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7178ED5-1BF4-46E4-F730-7CCEEC0B78F7}"/>
                  </a:ext>
                </a:extLst>
              </p:cNvPr>
              <p:cNvSpPr txBox="1"/>
              <p:nvPr/>
            </p:nvSpPr>
            <p:spPr>
              <a:xfrm>
                <a:off x="609440" y="4872477"/>
                <a:ext cx="4235276" cy="122341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GB" i="1" smtClean="0">
                              <a:latin typeface="Cambria Math" panose="02040503050406030204" pitchFamily="18" charset="0"/>
                            </a:rPr>
                            <m:t>𝐿</m:t>
                          </m:r>
                        </m:e>
                        <m:sub>
                          <m:r>
                            <a:rPr lang="en-US" b="0" i="1" smtClean="0">
                              <a:latin typeface="Cambria Math" panose="02040503050406030204" pitchFamily="18" charset="0"/>
                            </a:rPr>
                            <m:t>𝐸𝑀𝐷</m:t>
                          </m:r>
                        </m:sub>
                      </m:sSub>
                      <m:r>
                        <a:rPr lang="en-GB" i="1" smtClean="0">
                          <a:latin typeface="Cambria Math" panose="02040503050406030204" pitchFamily="18" charset="0"/>
                        </a:rPr>
                        <m:t>=</m:t>
                      </m:r>
                      <m:f>
                        <m:fPr>
                          <m:ctrlPr>
                            <a:rPr lang="en-GB" b="0" i="1" smtClean="0">
                              <a:latin typeface="Cambria Math" panose="02040503050406030204" pitchFamily="18" charset="0"/>
                            </a:rPr>
                          </m:ctrlPr>
                        </m:fPr>
                        <m:num>
                          <m:r>
                            <a:rPr lang="en-GB" i="1" smtClean="0">
                              <a:latin typeface="Cambria Math" panose="02040503050406030204" pitchFamily="18" charset="0"/>
                            </a:rPr>
                            <m:t>1</m:t>
                          </m:r>
                        </m:num>
                        <m:den>
                          <m:r>
                            <a:rPr lang="en-US" b="0" i="1" smtClean="0">
                              <a:latin typeface="Cambria Math" panose="02040503050406030204" pitchFamily="18" charset="0"/>
                            </a:rPr>
                            <m:t>𝐶</m:t>
                          </m:r>
                        </m:den>
                      </m:f>
                      <m:nary>
                        <m:naryPr>
                          <m:chr m:val="∑"/>
                          <m:ctrlPr>
                            <a:rPr lang="en-GB" b="0" i="1" smtClean="0">
                              <a:latin typeface="Cambria Math" panose="02040503050406030204" pitchFamily="18" charset="0"/>
                            </a:rPr>
                          </m:ctrlPr>
                        </m:naryPr>
                        <m:sub>
                          <m:r>
                            <a:rPr lang="en-GB" i="1">
                              <a:latin typeface="Cambria Math" panose="02040503050406030204" pitchFamily="18" charset="0"/>
                            </a:rPr>
                            <m:t>𝑘</m:t>
                          </m:r>
                          <m:r>
                            <a:rPr lang="en-GB" i="1">
                              <a:latin typeface="Cambria Math" panose="02040503050406030204" pitchFamily="18" charset="0"/>
                            </a:rPr>
                            <m:t>=1</m:t>
                          </m:r>
                        </m:sub>
                        <m:sup>
                          <m:r>
                            <a:rPr lang="en-GB" i="1">
                              <a:latin typeface="Cambria Math" panose="02040503050406030204" pitchFamily="18" charset="0"/>
                            </a:rPr>
                            <m:t>𝐶</m:t>
                          </m:r>
                        </m:sup>
                        <m:e>
                          <m:sSub>
                            <m:sSubPr>
                              <m:ctrlPr>
                                <a:rPr lang="en-GB" b="0" i="1" smtClean="0">
                                  <a:latin typeface="Cambria Math" panose="02040503050406030204" pitchFamily="18" charset="0"/>
                                </a:rPr>
                              </m:ctrlPr>
                            </m:sSubPr>
                            <m:e>
                              <m:r>
                                <a:rPr lang="en-GB" i="1">
                                  <a:latin typeface="Cambria Math" panose="02040503050406030204" pitchFamily="18" charset="0"/>
                                </a:rPr>
                                <m:t>𝑤</m:t>
                              </m:r>
                            </m:e>
                            <m:sub>
                              <m:r>
                                <a:rPr lang="en-US" i="1">
                                  <a:latin typeface="Cambria Math" panose="02040503050406030204" pitchFamily="18" charset="0"/>
                                </a:rPr>
                                <m:t>𝑐</m:t>
                              </m:r>
                            </m:sub>
                          </m:sSub>
                          <m:sSup>
                            <m:sSupPr>
                              <m:ctrlPr>
                                <a:rPr lang="en-GB" i="1">
                                  <a:latin typeface="Cambria Math" panose="02040503050406030204" pitchFamily="18" charset="0"/>
                                </a:rPr>
                              </m:ctrlPr>
                            </m:sSupPr>
                            <m:e>
                              <m:d>
                                <m:dPr>
                                  <m:ctrlPr>
                                    <a:rPr lang="en-GB" i="1">
                                      <a:latin typeface="Cambria Math" panose="02040503050406030204" pitchFamily="18" charset="0"/>
                                    </a:rPr>
                                  </m:ctrlPr>
                                </m:dPr>
                                <m:e>
                                  <m:nary>
                                    <m:naryPr>
                                      <m:chr m:val="∑"/>
                                      <m:ctrlPr>
                                        <a:rPr lang="en-GB" i="1">
                                          <a:latin typeface="Cambria Math" panose="02040503050406030204" pitchFamily="18" charset="0"/>
                                        </a:rPr>
                                      </m:ctrlPr>
                                    </m:naryPr>
                                    <m:sub>
                                      <m:r>
                                        <a:rPr lang="en-GB" i="1">
                                          <a:latin typeface="Cambria Math" panose="02040503050406030204" pitchFamily="18" charset="0"/>
                                        </a:rPr>
                                        <m:t>𝑗</m:t>
                                      </m:r>
                                      <m:r>
                                        <a:rPr lang="en-GB" i="1">
                                          <a:latin typeface="Cambria Math" panose="02040503050406030204" pitchFamily="18" charset="0"/>
                                        </a:rPr>
                                        <m:t>=1</m:t>
                                      </m:r>
                                    </m:sub>
                                    <m:sup>
                                      <m:r>
                                        <a:rPr lang="en-GB" i="1">
                                          <a:latin typeface="Cambria Math" panose="02040503050406030204" pitchFamily="18" charset="0"/>
                                        </a:rPr>
                                        <m:t>𝑘</m:t>
                                      </m:r>
                                    </m:sup>
                                    <m:e>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e>
                                      </m:acc>
                                    </m:e>
                                  </m:nary>
                                  <m:r>
                                    <a:rPr lang="en-GB" i="1">
                                      <a:latin typeface="Cambria Math" panose="02040503050406030204" pitchFamily="18" charset="0"/>
                                    </a:rPr>
                                    <m:t>−</m:t>
                                  </m:r>
                                  <m:nary>
                                    <m:naryPr>
                                      <m:chr m:val="∑"/>
                                      <m:ctrlPr>
                                        <a:rPr lang="en-GB" i="1">
                                          <a:latin typeface="Cambria Math" panose="02040503050406030204" pitchFamily="18" charset="0"/>
                                        </a:rPr>
                                      </m:ctrlPr>
                                    </m:naryPr>
                                    <m:sub>
                                      <m:r>
                                        <a:rPr lang="en-GB" i="1">
                                          <a:latin typeface="Cambria Math" panose="02040503050406030204" pitchFamily="18" charset="0"/>
                                        </a:rPr>
                                        <m:t>𝑗</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e>
                                  </m:nary>
                                </m:e>
                              </m:d>
                            </m:e>
                            <m:sup>
                              <m:r>
                                <a:rPr lang="en-GB" i="1">
                                  <a:latin typeface="Cambria Math" panose="02040503050406030204" pitchFamily="18" charset="0"/>
                                </a:rPr>
                                <m:t>2</m:t>
                              </m:r>
                            </m:sup>
                          </m:sSup>
                        </m:e>
                      </m:nary>
                    </m:oMath>
                  </m:oMathPara>
                </a14:m>
                <a:endParaRPr lang="en-US"/>
              </a:p>
              <a:p>
                <a:endParaRPr lang="en-GB"/>
              </a:p>
            </p:txBody>
          </p:sp>
        </mc:Choice>
        <mc:Fallback xmlns="">
          <p:sp>
            <p:nvSpPr>
              <p:cNvPr id="11" name="TextBox 10">
                <a:extLst>
                  <a:ext uri="{FF2B5EF4-FFF2-40B4-BE49-F238E27FC236}">
                    <a16:creationId xmlns:a16="http://schemas.microsoft.com/office/drawing/2014/main" id="{87178ED5-1BF4-46E4-F730-7CCEEC0B78F7}"/>
                  </a:ext>
                </a:extLst>
              </p:cNvPr>
              <p:cNvSpPr txBox="1">
                <a:spLocks noRot="1" noChangeAspect="1" noMove="1" noResize="1" noEditPoints="1" noAdjustHandles="1" noChangeArrowheads="1" noChangeShapeType="1" noTextEdit="1"/>
              </p:cNvSpPr>
              <p:nvPr/>
            </p:nvSpPr>
            <p:spPr>
              <a:xfrm>
                <a:off x="609440" y="4872477"/>
                <a:ext cx="4235276" cy="1223412"/>
              </a:xfrm>
              <a:prstGeom prst="rect">
                <a:avLst/>
              </a:prstGeom>
              <a:blipFill>
                <a:blip r:embed="rId4"/>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47525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EAFC3-C86C-54A6-D037-E072A1F7E3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AC380-9869-3F7F-BF70-140C672DD065}"/>
              </a:ext>
            </a:extLst>
          </p:cNvPr>
          <p:cNvSpPr>
            <a:spLocks noGrp="1"/>
          </p:cNvSpPr>
          <p:nvPr>
            <p:ph type="title"/>
          </p:nvPr>
        </p:nvSpPr>
        <p:spPr/>
        <p:txBody>
          <a:bodyPr/>
          <a:lstStyle/>
          <a:p>
            <a:r>
              <a:rPr lang="en-US"/>
              <a:t>6. Losses &amp; Metrics</a:t>
            </a:r>
          </a:p>
        </p:txBody>
      </p:sp>
      <p:sp>
        <p:nvSpPr>
          <p:cNvPr id="4" name="Slide Number Placeholder 3">
            <a:extLst>
              <a:ext uri="{FF2B5EF4-FFF2-40B4-BE49-F238E27FC236}">
                <a16:creationId xmlns:a16="http://schemas.microsoft.com/office/drawing/2014/main" id="{E481D1FB-C7E7-64F9-6C7F-7B8A846F1341}"/>
              </a:ext>
            </a:extLst>
          </p:cNvPr>
          <p:cNvSpPr>
            <a:spLocks noGrp="1"/>
          </p:cNvSpPr>
          <p:nvPr>
            <p:ph type="sldNum" sz="quarter" idx="12"/>
          </p:nvPr>
        </p:nvSpPr>
        <p:spPr/>
        <p:txBody>
          <a:bodyPr/>
          <a:lstStyle/>
          <a:p>
            <a:fld id="{9EA0BE3B-158A-4EDF-80DC-E394A0D1600F}" type="slidenum">
              <a:rPr lang="en-US" smtClean="0"/>
              <a:pPr/>
              <a:t>9</a:t>
            </a:fld>
            <a:endParaRPr lang="en-US" dirty="0"/>
          </a:p>
        </p:txBody>
      </p:sp>
      <p:sp>
        <p:nvSpPr>
          <p:cNvPr id="9" name="Content Placeholder 2">
            <a:extLst>
              <a:ext uri="{FF2B5EF4-FFF2-40B4-BE49-F238E27FC236}">
                <a16:creationId xmlns:a16="http://schemas.microsoft.com/office/drawing/2014/main" id="{C6ADDF19-4C41-FA97-B0D8-35819925EBB0}"/>
              </a:ext>
            </a:extLst>
          </p:cNvPr>
          <p:cNvSpPr txBox="1">
            <a:spLocks/>
          </p:cNvSpPr>
          <p:nvPr/>
        </p:nvSpPr>
        <p:spPr>
          <a:xfrm>
            <a:off x="606391" y="1218596"/>
            <a:ext cx="2026742" cy="50337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Accuracy</a:t>
            </a:r>
          </a:p>
        </p:txBody>
      </p:sp>
      <p:sp>
        <p:nvSpPr>
          <p:cNvPr id="10" name="Content Placeholder 2">
            <a:extLst>
              <a:ext uri="{FF2B5EF4-FFF2-40B4-BE49-F238E27FC236}">
                <a16:creationId xmlns:a16="http://schemas.microsoft.com/office/drawing/2014/main" id="{CECE7325-08AC-F6A2-D1B7-D013AF1A01E9}"/>
              </a:ext>
            </a:extLst>
          </p:cNvPr>
          <p:cNvSpPr txBox="1">
            <a:spLocks/>
          </p:cNvSpPr>
          <p:nvPr/>
        </p:nvSpPr>
        <p:spPr>
          <a:xfrm>
            <a:off x="606390" y="2870597"/>
            <a:ext cx="3889411" cy="52768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MAE</a:t>
            </a:r>
          </a:p>
        </p:txBody>
      </p:sp>
      <p:sp>
        <p:nvSpPr>
          <p:cNvPr id="11" name="Content Placeholder 2">
            <a:extLst>
              <a:ext uri="{FF2B5EF4-FFF2-40B4-BE49-F238E27FC236}">
                <a16:creationId xmlns:a16="http://schemas.microsoft.com/office/drawing/2014/main" id="{E40D0123-6A0C-9A02-FE1E-47211EBB560A}"/>
              </a:ext>
            </a:extLst>
          </p:cNvPr>
          <p:cNvSpPr txBox="1">
            <a:spLocks/>
          </p:cNvSpPr>
          <p:nvPr/>
        </p:nvSpPr>
        <p:spPr>
          <a:xfrm>
            <a:off x="606391" y="4621302"/>
            <a:ext cx="2858704" cy="50337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Cohen’s Kappa</a:t>
            </a:r>
          </a:p>
        </p:txBody>
      </p:sp>
      <p:sp>
        <p:nvSpPr>
          <p:cNvPr id="12" name="Content Placeholder 2">
            <a:extLst>
              <a:ext uri="{FF2B5EF4-FFF2-40B4-BE49-F238E27FC236}">
                <a16:creationId xmlns:a16="http://schemas.microsoft.com/office/drawing/2014/main" id="{2CFC0B32-F07D-48B9-3BE5-3518CEE1A4FC}"/>
              </a:ext>
            </a:extLst>
          </p:cNvPr>
          <p:cNvSpPr txBox="1">
            <a:spLocks/>
          </p:cNvSpPr>
          <p:nvPr/>
        </p:nvSpPr>
        <p:spPr>
          <a:xfrm>
            <a:off x="5531764" y="1218596"/>
            <a:ext cx="3195142" cy="50337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Macro Accuracy</a:t>
            </a:r>
          </a:p>
        </p:txBody>
      </p:sp>
      <p:sp>
        <p:nvSpPr>
          <p:cNvPr id="13" name="Content Placeholder 2">
            <a:extLst>
              <a:ext uri="{FF2B5EF4-FFF2-40B4-BE49-F238E27FC236}">
                <a16:creationId xmlns:a16="http://schemas.microsoft.com/office/drawing/2014/main" id="{426215A3-BF1E-DF59-CCD2-771D2080AA45}"/>
              </a:ext>
            </a:extLst>
          </p:cNvPr>
          <p:cNvSpPr txBox="1">
            <a:spLocks/>
          </p:cNvSpPr>
          <p:nvPr/>
        </p:nvSpPr>
        <p:spPr>
          <a:xfrm>
            <a:off x="5531763" y="2851255"/>
            <a:ext cx="3889411" cy="52768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Macro MAE</a:t>
            </a:r>
          </a:p>
        </p:txBody>
      </p:sp>
      <p:sp>
        <p:nvSpPr>
          <p:cNvPr id="3" name="Content Placeholder 2">
            <a:extLst>
              <a:ext uri="{FF2B5EF4-FFF2-40B4-BE49-F238E27FC236}">
                <a16:creationId xmlns:a16="http://schemas.microsoft.com/office/drawing/2014/main" id="{9CEF55B3-1394-0D8F-D915-3CA80FF900E0}"/>
              </a:ext>
            </a:extLst>
          </p:cNvPr>
          <p:cNvSpPr txBox="1">
            <a:spLocks/>
          </p:cNvSpPr>
          <p:nvPr/>
        </p:nvSpPr>
        <p:spPr>
          <a:xfrm>
            <a:off x="5531763" y="4626547"/>
            <a:ext cx="4931221" cy="50337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Quadratic Weighted Kappa</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1B876DF-0DAA-A758-2043-18FDDB75DC2F}"/>
                  </a:ext>
                </a:extLst>
              </p:cNvPr>
              <p:cNvSpPr txBox="1"/>
              <p:nvPr/>
            </p:nvSpPr>
            <p:spPr>
              <a:xfrm>
                <a:off x="606390" y="1716732"/>
                <a:ext cx="2797754" cy="77893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nor/>
                        </m:rPr>
                        <a:rPr lang="en-GB" i="0" smtClean="0">
                          <a:latin typeface="Cambria Math" panose="02040503050406030204" pitchFamily="18" charset="0"/>
                        </a:rPr>
                        <m:t>Accuracy</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r>
                            <a:rPr lang="en-GB" i="1">
                              <a:latin typeface="Cambria Math" panose="02040503050406030204" pitchFamily="18" charset="0"/>
                            </a:rPr>
                            <m:t>𝕀</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acc>
                            </m:e>
                          </m:d>
                        </m:e>
                      </m:nary>
                    </m:oMath>
                  </m:oMathPara>
                </a14:m>
                <a:endParaRPr lang="en-GB"/>
              </a:p>
            </p:txBody>
          </p:sp>
        </mc:Choice>
        <mc:Fallback xmlns="">
          <p:sp>
            <p:nvSpPr>
              <p:cNvPr id="5" name="TextBox 4">
                <a:extLst>
                  <a:ext uri="{FF2B5EF4-FFF2-40B4-BE49-F238E27FC236}">
                    <a16:creationId xmlns:a16="http://schemas.microsoft.com/office/drawing/2014/main" id="{D1B876DF-0DAA-A758-2043-18FDDB75DC2F}"/>
                  </a:ext>
                </a:extLst>
              </p:cNvPr>
              <p:cNvSpPr txBox="1">
                <a:spLocks noRot="1" noChangeAspect="1" noMove="1" noResize="1" noEditPoints="1" noAdjustHandles="1" noChangeArrowheads="1" noChangeShapeType="1" noTextEdit="1"/>
              </p:cNvSpPr>
              <p:nvPr/>
            </p:nvSpPr>
            <p:spPr>
              <a:xfrm>
                <a:off x="606390" y="1716732"/>
                <a:ext cx="2797754" cy="778931"/>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0212002-0F4E-3A9A-6DF2-33860C06A22E}"/>
                  </a:ext>
                </a:extLst>
              </p:cNvPr>
              <p:cNvSpPr txBox="1"/>
              <p:nvPr/>
            </p:nvSpPr>
            <p:spPr>
              <a:xfrm>
                <a:off x="5531763" y="1716732"/>
                <a:ext cx="4733604" cy="78047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nor/>
                        </m:rPr>
                        <a:rPr lang="en-GB" i="0" smtClean="0">
                          <a:latin typeface="Cambria Math" panose="02040503050406030204" pitchFamily="18" charset="0"/>
                        </a:rPr>
                        <m:t>Macro</m:t>
                      </m:r>
                      <m:r>
                        <m:rPr>
                          <m:nor/>
                        </m:rPr>
                        <a:rPr lang="en-GB" i="0" smtClean="0">
                          <a:latin typeface="Cambria Math" panose="02040503050406030204" pitchFamily="18" charset="0"/>
                        </a:rPr>
                        <m:t>−</m:t>
                      </m:r>
                      <m:r>
                        <m:rPr>
                          <m:nor/>
                        </m:rPr>
                        <a:rPr lang="en-GB" i="0" smtClean="0">
                          <a:latin typeface="Cambria Math" panose="02040503050406030204" pitchFamily="18" charset="0"/>
                        </a:rPr>
                        <m:t>Accuracy</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𝐶</m:t>
                          </m:r>
                        </m:den>
                      </m:f>
                      <m:nary>
                        <m:naryPr>
                          <m:chr m:val="∑"/>
                          <m:ctrlPr>
                            <a:rPr lang="en-GB" i="1">
                              <a:latin typeface="Cambria Math" panose="02040503050406030204" pitchFamily="18" charset="0"/>
                            </a:rPr>
                          </m:ctrlPr>
                        </m:naryPr>
                        <m:sub>
                          <m:r>
                            <a:rPr lang="en-GB" i="1">
                              <a:latin typeface="Cambria Math" panose="02040503050406030204" pitchFamily="18" charset="0"/>
                            </a:rPr>
                            <m:t>𝑐</m:t>
                          </m:r>
                          <m:r>
                            <a:rPr lang="en-GB" i="1">
                              <a:latin typeface="Cambria Math" panose="02040503050406030204" pitchFamily="18" charset="0"/>
                            </a:rPr>
                            <m:t>=1</m:t>
                          </m:r>
                        </m:sub>
                        <m:sup>
                          <m:r>
                            <a:rPr lang="en-GB" i="1">
                              <a:latin typeface="Cambria Math" panose="02040503050406030204" pitchFamily="18" charset="0"/>
                            </a:rPr>
                            <m:t>𝐶</m:t>
                          </m:r>
                        </m:sup>
                        <m:e>
                          <m:d>
                            <m:dPr>
                              <m:ctrlPr>
                                <a:rPr lang="en-GB" i="1">
                                  <a:latin typeface="Cambria Math" panose="02040503050406030204" pitchFamily="18" charset="0"/>
                                </a:rPr>
                              </m:ctrlPr>
                            </m:dPr>
                            <m:e>
                              <m:f>
                                <m:fPr>
                                  <m:ctrlPr>
                                    <a:rPr lang="en-GB" i="1">
                                      <a:latin typeface="Cambria Math" panose="02040503050406030204" pitchFamily="18" charset="0"/>
                                    </a:rPr>
                                  </m:ctrlPr>
                                </m:fPr>
                                <m:num>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r>
                                        <a:rPr lang="en-GB" i="1">
                                          <a:latin typeface="Cambria Math" panose="02040503050406030204" pitchFamily="18" charset="0"/>
                                        </a:rPr>
                                        <m:t>𝕀</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smtClean="0">
                                              <a:latin typeface="Cambria Math" panose="02040503050406030204" pitchFamily="18" charset="0"/>
                                            </a:rPr>
                                            <m:t>=</m:t>
                                          </m:r>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acc>
                                          <m:r>
                                            <a:rPr lang="en-GB" i="1">
                                              <a:latin typeface="Cambria Math" panose="02040503050406030204" pitchFamily="18" charset="0"/>
                                            </a:rPr>
                                            <m:t>=</m:t>
                                          </m:r>
                                          <m:r>
                                            <a:rPr lang="en-GB" i="1">
                                              <a:latin typeface="Cambria Math" panose="02040503050406030204" pitchFamily="18" charset="0"/>
                                            </a:rPr>
                                            <m:t>𝑐</m:t>
                                          </m:r>
                                        </m:e>
                                      </m:d>
                                    </m:e>
                                  </m:nary>
                                </m:num>
                                <m:den>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r>
                                        <a:rPr lang="en-GB" i="1">
                                          <a:latin typeface="Cambria Math" panose="02040503050406030204" pitchFamily="18" charset="0"/>
                                        </a:rPr>
                                        <m:t>𝕀</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𝑐</m:t>
                                          </m:r>
                                        </m:e>
                                      </m:d>
                                    </m:e>
                                  </m:nary>
                                </m:den>
                              </m:f>
                            </m:e>
                          </m:d>
                        </m:e>
                      </m:nary>
                    </m:oMath>
                  </m:oMathPara>
                </a14:m>
                <a:endParaRPr lang="en-GB"/>
              </a:p>
            </p:txBody>
          </p:sp>
        </mc:Choice>
        <mc:Fallback xmlns="">
          <p:sp>
            <p:nvSpPr>
              <p:cNvPr id="6" name="TextBox 5">
                <a:extLst>
                  <a:ext uri="{FF2B5EF4-FFF2-40B4-BE49-F238E27FC236}">
                    <a16:creationId xmlns:a16="http://schemas.microsoft.com/office/drawing/2014/main" id="{50212002-0F4E-3A9A-6DF2-33860C06A22E}"/>
                  </a:ext>
                </a:extLst>
              </p:cNvPr>
              <p:cNvSpPr txBox="1">
                <a:spLocks noRot="1" noChangeAspect="1" noMove="1" noResize="1" noEditPoints="1" noAdjustHandles="1" noChangeArrowheads="1" noChangeShapeType="1" noTextEdit="1"/>
              </p:cNvSpPr>
              <p:nvPr/>
            </p:nvSpPr>
            <p:spPr>
              <a:xfrm>
                <a:off x="5531763" y="1716732"/>
                <a:ext cx="4733604" cy="78047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5D04AA4-FF64-F9F2-AAC5-84EF4EDF866E}"/>
                  </a:ext>
                </a:extLst>
              </p:cNvPr>
              <p:cNvSpPr txBox="1"/>
              <p:nvPr/>
            </p:nvSpPr>
            <p:spPr>
              <a:xfrm>
                <a:off x="606390" y="3440701"/>
                <a:ext cx="2117375" cy="7562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MAE</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𝑛</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𝑛</m:t>
                          </m:r>
                        </m:sup>
                        <m:e>
                          <m:d>
                            <m:dPr>
                              <m:begChr m:val="|"/>
                              <m:endChr m:val="|"/>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acc>
                            </m:e>
                          </m:d>
                        </m:e>
                      </m:nary>
                    </m:oMath>
                  </m:oMathPara>
                </a14:m>
                <a:endParaRPr lang="en-GB"/>
              </a:p>
            </p:txBody>
          </p:sp>
        </mc:Choice>
        <mc:Fallback xmlns="">
          <p:sp>
            <p:nvSpPr>
              <p:cNvPr id="7" name="TextBox 6">
                <a:extLst>
                  <a:ext uri="{FF2B5EF4-FFF2-40B4-BE49-F238E27FC236}">
                    <a16:creationId xmlns:a16="http://schemas.microsoft.com/office/drawing/2014/main" id="{B5D04AA4-FF64-F9F2-AAC5-84EF4EDF866E}"/>
                  </a:ext>
                </a:extLst>
              </p:cNvPr>
              <p:cNvSpPr txBox="1">
                <a:spLocks noRot="1" noChangeAspect="1" noMove="1" noResize="1" noEditPoints="1" noAdjustHandles="1" noChangeArrowheads="1" noChangeShapeType="1" noTextEdit="1"/>
              </p:cNvSpPr>
              <p:nvPr/>
            </p:nvSpPr>
            <p:spPr>
              <a:xfrm>
                <a:off x="606390" y="3440701"/>
                <a:ext cx="2117375" cy="75623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BBCFEB6-FF78-A262-A271-963B44EC3BA3}"/>
                  </a:ext>
                </a:extLst>
              </p:cNvPr>
              <p:cNvSpPr txBox="1"/>
              <p:nvPr/>
            </p:nvSpPr>
            <p:spPr>
              <a:xfrm>
                <a:off x="5531763" y="3281296"/>
                <a:ext cx="3936912" cy="7861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Macro</m:t>
                      </m:r>
                      <m:r>
                        <a:rPr lang="en-US" b="0" i="1" smtClean="0">
                          <a:latin typeface="Cambria Math" panose="02040503050406030204" pitchFamily="18" charset="0"/>
                        </a:rPr>
                        <m:t>−</m:t>
                      </m:r>
                      <m:r>
                        <m:rPr>
                          <m:sty m:val="p"/>
                        </m:rPr>
                        <a:rPr lang="en-US" b="0" i="1" smtClean="0">
                          <a:latin typeface="Cambria Math" panose="02040503050406030204" pitchFamily="18" charset="0"/>
                        </a:rPr>
                        <m:t>MAE</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m:rPr>
                              <m:sty m:val="p"/>
                            </m:rPr>
                            <a:rPr lang="en-US" b="0" i="1" smtClean="0">
                              <a:latin typeface="Cambria Math" panose="02040503050406030204" pitchFamily="18" charset="0"/>
                            </a:rPr>
                            <m:t>C</m:t>
                          </m:r>
                        </m:den>
                      </m:f>
                      <m:nary>
                        <m:naryPr>
                          <m:chr m:val="∑"/>
                          <m:ctrlPr>
                            <a:rPr lang="en-GB" i="1">
                              <a:latin typeface="Cambria Math" panose="02040503050406030204" pitchFamily="18" charset="0"/>
                            </a:rPr>
                          </m:ctrlPr>
                        </m:naryPr>
                        <m:sub>
                          <m:r>
                            <m:rPr>
                              <m:sty m:val="p"/>
                              <m:brk m:alnAt="23"/>
                            </m:rPr>
                            <a:rPr lang="en-GB" i="1" smtClean="0">
                              <a:latin typeface="Cambria Math" panose="02040503050406030204" pitchFamily="18" charset="0"/>
                            </a:rPr>
                            <m:t>c</m:t>
                          </m:r>
                          <m:r>
                            <a:rPr lang="en-GB" i="1">
                              <a:latin typeface="Cambria Math" panose="02040503050406030204" pitchFamily="18" charset="0"/>
                            </a:rPr>
                            <m:t>=1</m:t>
                          </m:r>
                        </m:sub>
                        <m:sup>
                          <m:r>
                            <m:rPr>
                              <m:sty m:val="p"/>
                            </m:rPr>
                            <a:rPr lang="en-US" b="0" i="1" smtClean="0">
                              <a:latin typeface="Cambria Math" panose="02040503050406030204" pitchFamily="18" charset="0"/>
                            </a:rPr>
                            <m:t>C</m:t>
                          </m:r>
                        </m:sup>
                        <m:e>
                          <m:d>
                            <m:dPr>
                              <m:ctrlPr>
                                <a:rPr lang="en-GB" i="1">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1</m:t>
                                  </m:r>
                                </m:num>
                                <m:den>
                                  <m:sSub>
                                    <m:sSubPr>
                                      <m:ctrlPr>
                                        <a:rPr lang="en-GB" i="1" smtClean="0">
                                          <a:latin typeface="Cambria Math" panose="02040503050406030204" pitchFamily="18" charset="0"/>
                                        </a:rPr>
                                      </m:ctrlPr>
                                    </m:sSubPr>
                                    <m:e>
                                      <m:r>
                                        <a:rPr lang="en-GB" i="1">
                                          <a:latin typeface="Cambria Math" panose="02040503050406030204" pitchFamily="18" charset="0"/>
                                        </a:rPr>
                                        <m:t>𝑛</m:t>
                                      </m:r>
                                    </m:e>
                                    <m:sub>
                                      <m:r>
                                        <m:rPr>
                                          <m:sty m:val="p"/>
                                        </m:rPr>
                                        <a:rPr lang="en-GB" i="1" smtClean="0">
                                          <a:latin typeface="Cambria Math" panose="02040503050406030204" pitchFamily="18" charset="0"/>
                                        </a:rPr>
                                        <m:t>c</m:t>
                                      </m:r>
                                    </m:sub>
                                  </m:sSub>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sSub>
                                    <m:sSubPr>
                                      <m:ctrlPr>
                                        <a:rPr lang="en-GB" i="1" smtClean="0">
                                          <a:latin typeface="Cambria Math" panose="02040503050406030204" pitchFamily="18" charset="0"/>
                                        </a:rPr>
                                      </m:ctrlPr>
                                    </m:sSubPr>
                                    <m:e>
                                      <m:r>
                                        <a:rPr lang="en-GB" i="1">
                                          <a:latin typeface="Cambria Math" panose="02040503050406030204" pitchFamily="18" charset="0"/>
                                        </a:rPr>
                                        <m:t>𝑛</m:t>
                                      </m:r>
                                    </m:e>
                                    <m:sub>
                                      <m:r>
                                        <m:rPr>
                                          <m:sty m:val="p"/>
                                        </m:rPr>
                                        <a:rPr lang="en-US" b="0" i="1" smtClean="0">
                                          <a:latin typeface="Cambria Math" panose="02040503050406030204" pitchFamily="18" charset="0"/>
                                        </a:rPr>
                                        <m:t>c</m:t>
                                      </m:r>
                                    </m:sub>
                                  </m:sSub>
                                </m:sup>
                                <m:e>
                                  <m:d>
                                    <m:dPr>
                                      <m:begChr m:val="|"/>
                                      <m:endChr m:val="|"/>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m:rPr>
                                              <m:sty m:val="p"/>
                                            </m:rPr>
                                            <a:rPr lang="en-US" b="0" i="1" smtClean="0">
                                              <a:latin typeface="Cambria Math" panose="02040503050406030204" pitchFamily="18" charset="0"/>
                                            </a:rPr>
                                            <m:t>c</m:t>
                                          </m:r>
                                        </m:sub>
                                      </m:sSub>
                                      <m:r>
                                        <a:rPr lang="en-GB" i="1">
                                          <a:latin typeface="Cambria Math" panose="02040503050406030204" pitchFamily="18" charset="0"/>
                                        </a:rPr>
                                        <m:t>−</m:t>
                                      </m:r>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m:rPr>
                                                  <m:sty m:val="p"/>
                                                </m:rPr>
                                                <a:rPr lang="en-US" b="0" i="1" smtClean="0">
                                                  <a:latin typeface="Cambria Math" panose="02040503050406030204" pitchFamily="18" charset="0"/>
                                                </a:rPr>
                                                <m:t>c</m:t>
                                              </m:r>
                                            </m:sub>
                                          </m:sSub>
                                        </m:e>
                                      </m:acc>
                                    </m:e>
                                  </m:d>
                                </m:e>
                              </m:nary>
                            </m:e>
                          </m:d>
                        </m:e>
                      </m:nary>
                    </m:oMath>
                  </m:oMathPara>
                </a14:m>
                <a:endParaRPr lang="en-GB"/>
              </a:p>
            </p:txBody>
          </p:sp>
        </mc:Choice>
        <mc:Fallback xmlns="">
          <p:sp>
            <p:nvSpPr>
              <p:cNvPr id="8" name="TextBox 7">
                <a:extLst>
                  <a:ext uri="{FF2B5EF4-FFF2-40B4-BE49-F238E27FC236}">
                    <a16:creationId xmlns:a16="http://schemas.microsoft.com/office/drawing/2014/main" id="{ABBCFEB6-FF78-A262-A271-963B44EC3BA3}"/>
                  </a:ext>
                </a:extLst>
              </p:cNvPr>
              <p:cNvSpPr txBox="1">
                <a:spLocks noRot="1" noChangeAspect="1" noMove="1" noResize="1" noEditPoints="1" noAdjustHandles="1" noChangeArrowheads="1" noChangeShapeType="1" noTextEdit="1"/>
              </p:cNvSpPr>
              <p:nvPr/>
            </p:nvSpPr>
            <p:spPr>
              <a:xfrm>
                <a:off x="5531763" y="3281296"/>
                <a:ext cx="3936912" cy="786177"/>
              </a:xfrm>
              <a:prstGeom prst="rect">
                <a:avLst/>
              </a:prstGeom>
              <a:blipFill>
                <a:blip r:embed="rId5"/>
                <a:stretch>
                  <a:fillRect r="-263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F7E7BC30-479E-3432-B53C-34033DD39D47}"/>
                  </a:ext>
                </a:extLst>
              </p:cNvPr>
              <p:cNvSpPr txBox="1"/>
              <p:nvPr/>
            </p:nvSpPr>
            <p:spPr>
              <a:xfrm>
                <a:off x="606390" y="5124672"/>
                <a:ext cx="1347292" cy="5638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𝜅</m:t>
                      </m:r>
                      <m:r>
                        <a:rPr lang="en-GB"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𝑂</m:t>
                              </m:r>
                            </m:sub>
                          </m:sSub>
                          <m:r>
                            <a:rPr lang="en-US" b="0" i="1" smtClean="0">
                              <a:latin typeface="Cambria Math" panose="02040503050406030204" pitchFamily="18" charset="0"/>
                            </a:rPr>
                            <m:t> − 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𝐸</m:t>
                              </m:r>
                            </m:sub>
                          </m:sSub>
                        </m:num>
                        <m:den>
                          <m:r>
                            <a:rPr lang="en-US" b="0" i="1" smtClean="0">
                              <a:latin typeface="Cambria Math" panose="02040503050406030204" pitchFamily="18" charset="0"/>
                            </a:rPr>
                            <m:t>1 − 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𝐸</m:t>
                              </m:r>
                            </m:sub>
                          </m:sSub>
                        </m:den>
                      </m:f>
                    </m:oMath>
                  </m:oMathPara>
                </a14:m>
                <a:endParaRPr lang="en-GB"/>
              </a:p>
            </p:txBody>
          </p:sp>
        </mc:Choice>
        <mc:Fallback xmlns="">
          <p:sp>
            <p:nvSpPr>
              <p:cNvPr id="17" name="TextBox 16">
                <a:extLst>
                  <a:ext uri="{FF2B5EF4-FFF2-40B4-BE49-F238E27FC236}">
                    <a16:creationId xmlns:a16="http://schemas.microsoft.com/office/drawing/2014/main" id="{F7E7BC30-479E-3432-B53C-34033DD39D47}"/>
                  </a:ext>
                </a:extLst>
              </p:cNvPr>
              <p:cNvSpPr txBox="1">
                <a:spLocks noRot="1" noChangeAspect="1" noMove="1" noResize="1" noEditPoints="1" noAdjustHandles="1" noChangeArrowheads="1" noChangeShapeType="1" noTextEdit="1"/>
              </p:cNvSpPr>
              <p:nvPr/>
            </p:nvSpPr>
            <p:spPr>
              <a:xfrm>
                <a:off x="606390" y="5124672"/>
                <a:ext cx="1347292" cy="56387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5B5E64A6-942C-6CDE-C604-3BE50D784E50}"/>
                  </a:ext>
                </a:extLst>
              </p:cNvPr>
              <p:cNvSpPr txBox="1"/>
              <p:nvPr/>
            </p:nvSpPr>
            <p:spPr>
              <a:xfrm>
                <a:off x="5531763" y="5127856"/>
                <a:ext cx="2191369" cy="65453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QWK</m:t>
                      </m:r>
                      <m:r>
                        <a:rPr lang="en-GB" i="1" smtClean="0">
                          <a:latin typeface="Cambria Math" panose="02040503050406030204" pitchFamily="18" charset="0"/>
                        </a:rPr>
                        <m:t>=1−</m:t>
                      </m:r>
                      <m:f>
                        <m:fPr>
                          <m:ctrlPr>
                            <a:rPr lang="en-GB" i="1">
                              <a:latin typeface="Cambria Math" panose="02040503050406030204" pitchFamily="18" charset="0"/>
                            </a:rPr>
                          </m:ctrlPr>
                        </m:fPr>
                        <m:num>
                          <m:nary>
                            <m:naryPr>
                              <m:chr m:val="∑"/>
                              <m:limLoc m:val="subSup"/>
                              <m:supHide m:val="on"/>
                              <m:ctrlPr>
                                <a:rPr lang="en-GB" i="1" smtClean="0">
                                  <a:latin typeface="Cambria Math" panose="02040503050406030204" pitchFamily="18" charset="0"/>
                                </a:rPr>
                              </m:ctrlPr>
                            </m:naryPr>
                            <m:sub>
                              <m:r>
                                <m:rPr>
                                  <m:sty m:val="p"/>
                                  <m:brk m:alnAt="9"/>
                                </m:rPr>
                                <a:rPr lang="en-US" b="0" i="1" smtClean="0">
                                  <a:latin typeface="Cambria Math" panose="02040503050406030204" pitchFamily="18" charset="0"/>
                                </a:rPr>
                                <m:t>i</m:t>
                              </m:r>
                              <m:r>
                                <m:rPr>
                                  <m:sty m:val="p"/>
                                </m:rPr>
                                <a:rPr lang="en-US" b="0" i="1" smtClean="0">
                                  <a:latin typeface="Cambria Math" panose="02040503050406030204" pitchFamily="18" charset="0"/>
                                </a:rPr>
                                <m:t>j</m:t>
                              </m:r>
                            </m:sub>
                            <m:sup/>
                            <m:e>
                              <m:sSub>
                                <m:sSubPr>
                                  <m:ctrlPr>
                                    <a:rPr lang="en-GB" i="1">
                                      <a:latin typeface="Cambria Math" panose="02040503050406030204" pitchFamily="18" charset="0"/>
                                    </a:rPr>
                                  </m:ctrlPr>
                                </m:sSubPr>
                                <m:e>
                                  <m:r>
                                    <a:rPr lang="en-GB" i="1">
                                      <a:latin typeface="Cambria Math" panose="02040503050406030204" pitchFamily="18" charset="0"/>
                                    </a:rPr>
                                    <m:t>𝑤</m:t>
                                  </m:r>
                                </m:e>
                                <m:sub>
                                  <m:r>
                                    <a:rPr lang="en-GB" i="1">
                                      <a:latin typeface="Cambria Math" panose="02040503050406030204" pitchFamily="18" charset="0"/>
                                    </a:rPr>
                                    <m:t>𝑖𝑗</m:t>
                                  </m:r>
                                </m:sub>
                              </m:sSub>
                              <m:sSub>
                                <m:sSubPr>
                                  <m:ctrlPr>
                                    <a:rPr lang="en-GB" i="1">
                                      <a:latin typeface="Cambria Math" panose="02040503050406030204" pitchFamily="18" charset="0"/>
                                    </a:rPr>
                                  </m:ctrlPr>
                                </m:sSubPr>
                                <m:e>
                                  <m:r>
                                    <a:rPr lang="en-GB" i="1">
                                      <a:latin typeface="Cambria Math" panose="02040503050406030204" pitchFamily="18" charset="0"/>
                                    </a:rPr>
                                    <m:t>𝑂</m:t>
                                  </m:r>
                                </m:e>
                                <m:sub>
                                  <m:r>
                                    <a:rPr lang="en-GB" i="1">
                                      <a:latin typeface="Cambria Math" panose="02040503050406030204" pitchFamily="18" charset="0"/>
                                    </a:rPr>
                                    <m:t>𝑖𝑗</m:t>
                                  </m:r>
                                </m:sub>
                              </m:sSub>
                            </m:e>
                          </m:nary>
                        </m:num>
                        <m:den>
                          <m:nary>
                            <m:naryPr>
                              <m:chr m:val="∑"/>
                              <m:limLoc m:val="subSup"/>
                              <m:supHide m:val="on"/>
                              <m:ctrlPr>
                                <a:rPr lang="en-GB" i="1">
                                  <a:latin typeface="Cambria Math" panose="02040503050406030204" pitchFamily="18" charset="0"/>
                                </a:rPr>
                              </m:ctrlPr>
                            </m:naryPr>
                            <m:sub>
                              <m:r>
                                <m:rPr>
                                  <m:sty m:val="p"/>
                                  <m:brk m:alnAt="9"/>
                                </m:rPr>
                                <a:rPr lang="en-US" i="1">
                                  <a:latin typeface="Cambria Math" panose="02040503050406030204" pitchFamily="18" charset="0"/>
                                </a:rPr>
                                <m:t>i</m:t>
                              </m:r>
                              <m:r>
                                <m:rPr>
                                  <m:sty m:val="p"/>
                                </m:rPr>
                                <a:rPr lang="en-US" i="1">
                                  <a:latin typeface="Cambria Math" panose="02040503050406030204" pitchFamily="18" charset="0"/>
                                </a:rPr>
                                <m:t>j</m:t>
                              </m:r>
                            </m:sub>
                            <m:sup/>
                            <m:e>
                              <m:sSub>
                                <m:sSubPr>
                                  <m:ctrlPr>
                                    <a:rPr lang="en-GB" i="1">
                                      <a:latin typeface="Cambria Math" panose="02040503050406030204" pitchFamily="18" charset="0"/>
                                    </a:rPr>
                                  </m:ctrlPr>
                                </m:sSubPr>
                                <m:e>
                                  <m:r>
                                    <a:rPr lang="en-GB" i="1">
                                      <a:latin typeface="Cambria Math" panose="02040503050406030204" pitchFamily="18" charset="0"/>
                                    </a:rPr>
                                    <m:t>𝑤</m:t>
                                  </m:r>
                                </m:e>
                                <m:sub>
                                  <m:r>
                                    <a:rPr lang="en-GB" i="1">
                                      <a:latin typeface="Cambria Math" panose="02040503050406030204" pitchFamily="18" charset="0"/>
                                    </a:rPr>
                                    <m:t>𝑖𝑗</m:t>
                                  </m:r>
                                </m:sub>
                              </m:sSub>
                              <m:sSub>
                                <m:sSubPr>
                                  <m:ctrlPr>
                                    <a:rPr lang="en-GB" i="1">
                                      <a:latin typeface="Cambria Math" panose="02040503050406030204" pitchFamily="18" charset="0"/>
                                    </a:rPr>
                                  </m:ctrlPr>
                                </m:sSubPr>
                                <m:e>
                                  <m:r>
                                    <m:rPr>
                                      <m:sty m:val="p"/>
                                    </m:rPr>
                                    <a:rPr lang="en-US" b="0" i="1" smtClean="0">
                                      <a:latin typeface="Cambria Math" panose="02040503050406030204" pitchFamily="18" charset="0"/>
                                    </a:rPr>
                                    <m:t>E</m:t>
                                  </m:r>
                                </m:e>
                                <m:sub>
                                  <m:r>
                                    <a:rPr lang="en-GB" i="1">
                                      <a:latin typeface="Cambria Math" panose="02040503050406030204" pitchFamily="18" charset="0"/>
                                    </a:rPr>
                                    <m:t>𝑖𝑗</m:t>
                                  </m:r>
                                </m:sub>
                              </m:sSub>
                            </m:e>
                          </m:nary>
                        </m:den>
                      </m:f>
                    </m:oMath>
                  </m:oMathPara>
                </a14:m>
                <a:endParaRPr lang="en-GB"/>
              </a:p>
            </p:txBody>
          </p:sp>
        </mc:Choice>
        <mc:Fallback xmlns="">
          <p:sp>
            <p:nvSpPr>
              <p:cNvPr id="18" name="TextBox 17">
                <a:extLst>
                  <a:ext uri="{FF2B5EF4-FFF2-40B4-BE49-F238E27FC236}">
                    <a16:creationId xmlns:a16="http://schemas.microsoft.com/office/drawing/2014/main" id="{5B5E64A6-942C-6CDE-C604-3BE50D784E50}"/>
                  </a:ext>
                </a:extLst>
              </p:cNvPr>
              <p:cNvSpPr txBox="1">
                <a:spLocks noRot="1" noChangeAspect="1" noMove="1" noResize="1" noEditPoints="1" noAdjustHandles="1" noChangeArrowheads="1" noChangeShapeType="1" noTextEdit="1"/>
              </p:cNvSpPr>
              <p:nvPr/>
            </p:nvSpPr>
            <p:spPr>
              <a:xfrm>
                <a:off x="5531763" y="5127856"/>
                <a:ext cx="2191369" cy="654538"/>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56CC0AD-4263-09CF-81C8-5B2AE698003E}"/>
                  </a:ext>
                </a:extLst>
              </p:cNvPr>
              <p:cNvSpPr txBox="1"/>
              <p:nvPr/>
            </p:nvSpPr>
            <p:spPr>
              <a:xfrm>
                <a:off x="8726906" y="5122604"/>
                <a:ext cx="1509579" cy="5950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𝑤</m:t>
                          </m:r>
                        </m:e>
                        <m:sub>
                          <m:r>
                            <a:rPr lang="en-GB" i="1">
                              <a:latin typeface="Cambria Math" panose="02040503050406030204" pitchFamily="18" charset="0"/>
                            </a:rPr>
                            <m:t>𝑖𝑗</m:t>
                          </m:r>
                        </m:sub>
                      </m:sSub>
                      <m:r>
                        <a:rPr lang="en-GB" i="1">
                          <a:latin typeface="Cambria Math" panose="02040503050406030204" pitchFamily="18" charset="0"/>
                        </a:rPr>
                        <m:t>=</m:t>
                      </m:r>
                      <m:f>
                        <m:fPr>
                          <m:ctrlPr>
                            <a:rPr lang="en-GB" i="1">
                              <a:latin typeface="Cambria Math" panose="02040503050406030204" pitchFamily="18" charset="0"/>
                            </a:rPr>
                          </m:ctrlPr>
                        </m:fPr>
                        <m:num>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e>
                              </m:d>
                            </m:e>
                            <m:sup>
                              <m:r>
                                <a:rPr lang="en-GB" i="1">
                                  <a:latin typeface="Cambria Math" panose="02040503050406030204" pitchFamily="18" charset="0"/>
                                </a:rPr>
                                <m:t>2</m:t>
                              </m:r>
                            </m:sup>
                          </m:sSup>
                        </m:num>
                        <m:den>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𝑛</m:t>
                                  </m:r>
                                  <m:r>
                                    <a:rPr lang="en-GB" i="1">
                                      <a:latin typeface="Cambria Math" panose="02040503050406030204" pitchFamily="18" charset="0"/>
                                    </a:rPr>
                                    <m:t>−1</m:t>
                                  </m:r>
                                </m:e>
                              </m:d>
                            </m:e>
                            <m:sup>
                              <m:r>
                                <a:rPr lang="en-GB" i="1">
                                  <a:latin typeface="Cambria Math" panose="02040503050406030204" pitchFamily="18" charset="0"/>
                                </a:rPr>
                                <m:t>2</m:t>
                              </m:r>
                            </m:sup>
                          </m:sSup>
                        </m:den>
                      </m:f>
                    </m:oMath>
                  </m:oMathPara>
                </a14:m>
                <a:endParaRPr lang="en-GB"/>
              </a:p>
            </p:txBody>
          </p:sp>
        </mc:Choice>
        <mc:Fallback xmlns="">
          <p:sp>
            <p:nvSpPr>
              <p:cNvPr id="19" name="TextBox 18">
                <a:extLst>
                  <a:ext uri="{FF2B5EF4-FFF2-40B4-BE49-F238E27FC236}">
                    <a16:creationId xmlns:a16="http://schemas.microsoft.com/office/drawing/2014/main" id="{356CC0AD-4263-09CF-81C8-5B2AE698003E}"/>
                  </a:ext>
                </a:extLst>
              </p:cNvPr>
              <p:cNvSpPr txBox="1">
                <a:spLocks noRot="1" noChangeAspect="1" noMove="1" noResize="1" noEditPoints="1" noAdjustHandles="1" noChangeArrowheads="1" noChangeShapeType="1" noTextEdit="1"/>
              </p:cNvSpPr>
              <p:nvPr/>
            </p:nvSpPr>
            <p:spPr>
              <a:xfrm>
                <a:off x="8726906" y="5122604"/>
                <a:ext cx="1509579" cy="595035"/>
              </a:xfrm>
              <a:prstGeom prst="rect">
                <a:avLst/>
              </a:prstGeom>
              <a:blipFill>
                <a:blip r:embed="rId8"/>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7744219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C9D35-0993-8647-6915-5859DC229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9E9301-6B16-6AB3-DF0F-1DA234E27880}"/>
              </a:ext>
            </a:extLst>
          </p:cNvPr>
          <p:cNvSpPr>
            <a:spLocks noGrp="1"/>
          </p:cNvSpPr>
          <p:nvPr>
            <p:ph type="title"/>
          </p:nvPr>
        </p:nvSpPr>
        <p:spPr/>
        <p:txBody>
          <a:bodyPr/>
          <a:lstStyle/>
          <a:p>
            <a:r>
              <a:rPr lang="en-US"/>
              <a:t>7. Result</a:t>
            </a:r>
          </a:p>
        </p:txBody>
      </p:sp>
      <p:sp>
        <p:nvSpPr>
          <p:cNvPr id="3" name="Content Placeholder 2">
            <a:extLst>
              <a:ext uri="{FF2B5EF4-FFF2-40B4-BE49-F238E27FC236}">
                <a16:creationId xmlns:a16="http://schemas.microsoft.com/office/drawing/2014/main" id="{0FE22A64-F4F0-650F-6B51-DBFB99AE0D8E}"/>
              </a:ext>
            </a:extLst>
          </p:cNvPr>
          <p:cNvSpPr>
            <a:spLocks noGrp="1"/>
          </p:cNvSpPr>
          <p:nvPr>
            <p:ph sz="quarter" idx="13"/>
          </p:nvPr>
        </p:nvSpPr>
        <p:spPr>
          <a:xfrm>
            <a:off x="606392" y="1066196"/>
            <a:ext cx="6107675" cy="4909124"/>
          </a:xfrm>
        </p:spPr>
        <p:txBody>
          <a:bodyPr/>
          <a:lstStyle/>
          <a:p>
            <a:r>
              <a:rPr lang="en-US"/>
              <a:t>On CMOSE dataset</a:t>
            </a:r>
          </a:p>
          <a:p>
            <a:pPr lvl="1"/>
            <a:r>
              <a:rPr lang="en-US"/>
              <a:t>CE loss exploit class imbalance, </a:t>
            </a:r>
          </a:p>
          <a:p>
            <a:pPr marL="457200" lvl="1" indent="0">
              <a:buNone/>
            </a:pPr>
            <a:r>
              <a:rPr lang="en-US"/>
              <a:t>causes class copalse.</a:t>
            </a:r>
          </a:p>
          <a:p>
            <a:pPr lvl="1"/>
            <a:r>
              <a:rPr lang="en-US"/>
              <a:t>Weighted CE still have bias.</a:t>
            </a:r>
          </a:p>
          <a:p>
            <a:pPr lvl="1"/>
            <a:r>
              <a:rPr lang="en-US"/>
              <a:t>Ordinal produce more diverse output.</a:t>
            </a:r>
          </a:p>
          <a:p>
            <a:pPr lvl="1"/>
            <a:endParaRPr lang="en-US"/>
          </a:p>
        </p:txBody>
      </p:sp>
      <p:sp>
        <p:nvSpPr>
          <p:cNvPr id="4" name="Slide Number Placeholder 3">
            <a:extLst>
              <a:ext uri="{FF2B5EF4-FFF2-40B4-BE49-F238E27FC236}">
                <a16:creationId xmlns:a16="http://schemas.microsoft.com/office/drawing/2014/main" id="{B9702225-507C-E942-1C8C-C4D6629DDB38}"/>
              </a:ext>
            </a:extLst>
          </p:cNvPr>
          <p:cNvSpPr>
            <a:spLocks noGrp="1"/>
          </p:cNvSpPr>
          <p:nvPr>
            <p:ph type="sldNum" sz="quarter" idx="12"/>
          </p:nvPr>
        </p:nvSpPr>
        <p:spPr/>
        <p:txBody>
          <a:bodyPr/>
          <a:lstStyle/>
          <a:p>
            <a:fld id="{9EA0BE3B-158A-4EDF-80DC-E394A0D1600F}" type="slidenum">
              <a:rPr lang="en-US" smtClean="0"/>
              <a:pPr/>
              <a:t>10</a:t>
            </a:fld>
            <a:endParaRPr lang="en-US" dirty="0"/>
          </a:p>
        </p:txBody>
      </p:sp>
      <p:pic>
        <p:nvPicPr>
          <p:cNvPr id="7" name="Picture 6">
            <a:extLst>
              <a:ext uri="{FF2B5EF4-FFF2-40B4-BE49-F238E27FC236}">
                <a16:creationId xmlns:a16="http://schemas.microsoft.com/office/drawing/2014/main" id="{48DAE1AD-FBDD-8E1A-061C-A5C112DEE9B1}"/>
              </a:ext>
            </a:extLst>
          </p:cNvPr>
          <p:cNvPicPr>
            <a:picLocks noChangeAspect="1"/>
          </p:cNvPicPr>
          <p:nvPr/>
        </p:nvPicPr>
        <p:blipFill>
          <a:blip r:embed="rId2"/>
          <a:stretch>
            <a:fillRect/>
          </a:stretch>
        </p:blipFill>
        <p:spPr>
          <a:xfrm>
            <a:off x="1440581" y="3681219"/>
            <a:ext cx="4488580" cy="2461119"/>
          </a:xfrm>
          <a:prstGeom prst="rect">
            <a:avLst/>
          </a:prstGeom>
        </p:spPr>
      </p:pic>
      <p:pic>
        <p:nvPicPr>
          <p:cNvPr id="8" name="Picture 7">
            <a:extLst>
              <a:ext uri="{FF2B5EF4-FFF2-40B4-BE49-F238E27FC236}">
                <a16:creationId xmlns:a16="http://schemas.microsoft.com/office/drawing/2014/main" id="{F1FC964F-FE3B-16FC-2457-3705A79BA8F7}"/>
              </a:ext>
            </a:extLst>
          </p:cNvPr>
          <p:cNvPicPr>
            <a:picLocks noChangeAspect="1"/>
          </p:cNvPicPr>
          <p:nvPr/>
        </p:nvPicPr>
        <p:blipFill>
          <a:blip r:embed="rId3"/>
          <a:stretch>
            <a:fillRect/>
          </a:stretch>
        </p:blipFill>
        <p:spPr>
          <a:xfrm>
            <a:off x="7097027" y="3681220"/>
            <a:ext cx="4488580" cy="2461119"/>
          </a:xfrm>
          <a:prstGeom prst="rect">
            <a:avLst/>
          </a:prstGeom>
        </p:spPr>
      </p:pic>
      <p:pic>
        <p:nvPicPr>
          <p:cNvPr id="10" name="Picture 9">
            <a:extLst>
              <a:ext uri="{FF2B5EF4-FFF2-40B4-BE49-F238E27FC236}">
                <a16:creationId xmlns:a16="http://schemas.microsoft.com/office/drawing/2014/main" id="{046F9423-2B84-BB5A-AFDE-9C42508EC2F4}"/>
              </a:ext>
            </a:extLst>
          </p:cNvPr>
          <p:cNvPicPr>
            <a:picLocks noChangeAspect="1"/>
          </p:cNvPicPr>
          <p:nvPr/>
        </p:nvPicPr>
        <p:blipFill>
          <a:blip r:embed="rId4"/>
          <a:stretch>
            <a:fillRect/>
          </a:stretch>
        </p:blipFill>
        <p:spPr>
          <a:xfrm>
            <a:off x="7097026" y="876123"/>
            <a:ext cx="4488580" cy="2805097"/>
          </a:xfrm>
          <a:prstGeom prst="rect">
            <a:avLst/>
          </a:prstGeom>
        </p:spPr>
      </p:pic>
    </p:spTree>
    <p:extLst>
      <p:ext uri="{BB962C8B-B14F-4D97-AF65-F5344CB8AC3E}">
        <p14:creationId xmlns:p14="http://schemas.microsoft.com/office/powerpoint/2010/main" val="1667840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A404E0-0A60-E9F1-70ED-1E51529740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1758CC-30B2-D5E3-B878-D1FDF8D364A0}"/>
              </a:ext>
            </a:extLst>
          </p:cNvPr>
          <p:cNvSpPr>
            <a:spLocks noGrp="1"/>
          </p:cNvSpPr>
          <p:nvPr>
            <p:ph type="title"/>
          </p:nvPr>
        </p:nvSpPr>
        <p:spPr/>
        <p:txBody>
          <a:bodyPr/>
          <a:lstStyle/>
          <a:p>
            <a:r>
              <a:rPr lang="en-US"/>
              <a:t>7. Result</a:t>
            </a:r>
          </a:p>
        </p:txBody>
      </p:sp>
      <p:sp>
        <p:nvSpPr>
          <p:cNvPr id="3" name="Content Placeholder 2">
            <a:extLst>
              <a:ext uri="{FF2B5EF4-FFF2-40B4-BE49-F238E27FC236}">
                <a16:creationId xmlns:a16="http://schemas.microsoft.com/office/drawing/2014/main" id="{746340BE-7706-CC40-665F-479D6263AF6A}"/>
              </a:ext>
            </a:extLst>
          </p:cNvPr>
          <p:cNvSpPr>
            <a:spLocks noGrp="1"/>
          </p:cNvSpPr>
          <p:nvPr>
            <p:ph sz="quarter" idx="13"/>
          </p:nvPr>
        </p:nvSpPr>
        <p:spPr>
          <a:xfrm>
            <a:off x="606392" y="1066196"/>
            <a:ext cx="11293319" cy="1571126"/>
          </a:xfrm>
        </p:spPr>
        <p:txBody>
          <a:bodyPr/>
          <a:lstStyle/>
          <a:p>
            <a:r>
              <a:rPr lang="en-US"/>
              <a:t>On CMOSE dataset</a:t>
            </a:r>
          </a:p>
          <a:p>
            <a:pPr lvl="1"/>
            <a:r>
              <a:rPr lang="en-US"/>
              <a:t>CE are best at accuracy and MAE.</a:t>
            </a:r>
          </a:p>
          <a:p>
            <a:pPr lvl="1"/>
            <a:r>
              <a:rPr lang="en-US"/>
              <a:t>Weighted CE and Ordinal outperform in macro metrics.</a:t>
            </a:r>
          </a:p>
          <a:p>
            <a:pPr lvl="1"/>
            <a:r>
              <a:rPr lang="en-US"/>
              <a:t>Architecture is less impactful.</a:t>
            </a:r>
          </a:p>
        </p:txBody>
      </p:sp>
      <p:sp>
        <p:nvSpPr>
          <p:cNvPr id="4" name="Slide Number Placeholder 3">
            <a:extLst>
              <a:ext uri="{FF2B5EF4-FFF2-40B4-BE49-F238E27FC236}">
                <a16:creationId xmlns:a16="http://schemas.microsoft.com/office/drawing/2014/main" id="{55CA8BE1-D5AF-1E5A-F4E8-BDE119651610}"/>
              </a:ext>
            </a:extLst>
          </p:cNvPr>
          <p:cNvSpPr>
            <a:spLocks noGrp="1"/>
          </p:cNvSpPr>
          <p:nvPr>
            <p:ph type="sldNum" sz="quarter" idx="12"/>
          </p:nvPr>
        </p:nvSpPr>
        <p:spPr/>
        <p:txBody>
          <a:bodyPr/>
          <a:lstStyle/>
          <a:p>
            <a:fld id="{9EA0BE3B-158A-4EDF-80DC-E394A0D1600F}" type="slidenum">
              <a:rPr lang="en-US" smtClean="0"/>
              <a:pPr/>
              <a:t>11</a:t>
            </a:fld>
            <a:endParaRPr lang="en-US" dirty="0"/>
          </a:p>
        </p:txBody>
      </p:sp>
      <p:pic>
        <p:nvPicPr>
          <p:cNvPr id="9" name="Picture 8">
            <a:extLst>
              <a:ext uri="{FF2B5EF4-FFF2-40B4-BE49-F238E27FC236}">
                <a16:creationId xmlns:a16="http://schemas.microsoft.com/office/drawing/2014/main" id="{4C6051CC-ADFB-932A-ACE8-C8DD38531E39}"/>
              </a:ext>
            </a:extLst>
          </p:cNvPr>
          <p:cNvPicPr>
            <a:picLocks noChangeAspect="1"/>
          </p:cNvPicPr>
          <p:nvPr/>
        </p:nvPicPr>
        <p:blipFill>
          <a:blip r:embed="rId2"/>
          <a:stretch>
            <a:fillRect/>
          </a:stretch>
        </p:blipFill>
        <p:spPr>
          <a:xfrm>
            <a:off x="2518514" y="2637322"/>
            <a:ext cx="7154972" cy="3597472"/>
          </a:xfrm>
          <a:prstGeom prst="rect">
            <a:avLst/>
          </a:prstGeom>
        </p:spPr>
      </p:pic>
    </p:spTree>
    <p:extLst>
      <p:ext uri="{BB962C8B-B14F-4D97-AF65-F5344CB8AC3E}">
        <p14:creationId xmlns:p14="http://schemas.microsoft.com/office/powerpoint/2010/main" val="2670723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6E6D8-1F43-13A3-81E8-1D5C4CF61A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635D-A238-BFF5-BFB0-05D87454DFDD}"/>
              </a:ext>
            </a:extLst>
          </p:cNvPr>
          <p:cNvSpPr>
            <a:spLocks noGrp="1"/>
          </p:cNvSpPr>
          <p:nvPr>
            <p:ph type="title"/>
          </p:nvPr>
        </p:nvSpPr>
        <p:spPr/>
        <p:txBody>
          <a:bodyPr/>
          <a:lstStyle/>
          <a:p>
            <a:r>
              <a:rPr lang="en-US"/>
              <a:t>7. Result</a:t>
            </a:r>
          </a:p>
        </p:txBody>
      </p:sp>
      <p:sp>
        <p:nvSpPr>
          <p:cNvPr id="3" name="Content Placeholder 2">
            <a:extLst>
              <a:ext uri="{FF2B5EF4-FFF2-40B4-BE49-F238E27FC236}">
                <a16:creationId xmlns:a16="http://schemas.microsoft.com/office/drawing/2014/main" id="{F68F8F6A-E690-5CE6-7642-FA5F6190DC60}"/>
              </a:ext>
            </a:extLst>
          </p:cNvPr>
          <p:cNvSpPr>
            <a:spLocks noGrp="1"/>
          </p:cNvSpPr>
          <p:nvPr>
            <p:ph sz="quarter" idx="13"/>
          </p:nvPr>
        </p:nvSpPr>
        <p:spPr>
          <a:xfrm>
            <a:off x="606392" y="1066197"/>
            <a:ext cx="6458551" cy="2963936"/>
          </a:xfrm>
        </p:spPr>
        <p:txBody>
          <a:bodyPr/>
          <a:lstStyle/>
          <a:p>
            <a:r>
              <a:rPr lang="en-US"/>
              <a:t>On private dataset</a:t>
            </a:r>
          </a:p>
          <a:p>
            <a:pPr lvl="1"/>
            <a:r>
              <a:rPr lang="en-US"/>
              <a:t>CE models collapse even harder on private data.</a:t>
            </a:r>
          </a:p>
          <a:p>
            <a:pPr lvl="1"/>
            <a:r>
              <a:rPr lang="en-US"/>
              <a:t>Model using I3D features have extreme prediction distribution shift.</a:t>
            </a:r>
          </a:p>
          <a:p>
            <a:pPr lvl="1"/>
            <a:endParaRPr lang="en-US"/>
          </a:p>
        </p:txBody>
      </p:sp>
      <p:sp>
        <p:nvSpPr>
          <p:cNvPr id="4" name="Slide Number Placeholder 3">
            <a:extLst>
              <a:ext uri="{FF2B5EF4-FFF2-40B4-BE49-F238E27FC236}">
                <a16:creationId xmlns:a16="http://schemas.microsoft.com/office/drawing/2014/main" id="{0852FA77-680B-91FB-E30C-B467CD580BBF}"/>
              </a:ext>
            </a:extLst>
          </p:cNvPr>
          <p:cNvSpPr>
            <a:spLocks noGrp="1"/>
          </p:cNvSpPr>
          <p:nvPr>
            <p:ph type="sldNum" sz="quarter" idx="12"/>
          </p:nvPr>
        </p:nvSpPr>
        <p:spPr/>
        <p:txBody>
          <a:bodyPr/>
          <a:lstStyle/>
          <a:p>
            <a:fld id="{9EA0BE3B-158A-4EDF-80DC-E394A0D1600F}" type="slidenum">
              <a:rPr lang="en-US" smtClean="0"/>
              <a:pPr/>
              <a:t>12</a:t>
            </a:fld>
            <a:endParaRPr lang="en-US" dirty="0"/>
          </a:p>
        </p:txBody>
      </p:sp>
      <p:pic>
        <p:nvPicPr>
          <p:cNvPr id="7" name="Picture 6">
            <a:extLst>
              <a:ext uri="{FF2B5EF4-FFF2-40B4-BE49-F238E27FC236}">
                <a16:creationId xmlns:a16="http://schemas.microsoft.com/office/drawing/2014/main" id="{414B9821-1F64-730C-3854-9CD67F260408}"/>
              </a:ext>
            </a:extLst>
          </p:cNvPr>
          <p:cNvPicPr>
            <a:picLocks noChangeAspect="1"/>
          </p:cNvPicPr>
          <p:nvPr/>
        </p:nvPicPr>
        <p:blipFill>
          <a:blip r:embed="rId2"/>
          <a:stretch>
            <a:fillRect/>
          </a:stretch>
        </p:blipFill>
        <p:spPr>
          <a:xfrm>
            <a:off x="1405204" y="3604207"/>
            <a:ext cx="4690796" cy="2581093"/>
          </a:xfrm>
          <a:prstGeom prst="rect">
            <a:avLst/>
          </a:prstGeom>
        </p:spPr>
      </p:pic>
      <p:pic>
        <p:nvPicPr>
          <p:cNvPr id="6" name="Picture 5">
            <a:extLst>
              <a:ext uri="{FF2B5EF4-FFF2-40B4-BE49-F238E27FC236}">
                <a16:creationId xmlns:a16="http://schemas.microsoft.com/office/drawing/2014/main" id="{866A0A3D-F023-D9F6-3877-9CE8BD6372EF}"/>
              </a:ext>
            </a:extLst>
          </p:cNvPr>
          <p:cNvPicPr>
            <a:picLocks noChangeAspect="1"/>
          </p:cNvPicPr>
          <p:nvPr/>
        </p:nvPicPr>
        <p:blipFill>
          <a:blip r:embed="rId3"/>
          <a:stretch>
            <a:fillRect/>
          </a:stretch>
        </p:blipFill>
        <p:spPr>
          <a:xfrm>
            <a:off x="6994752" y="3604207"/>
            <a:ext cx="4690796" cy="2581091"/>
          </a:xfrm>
          <a:prstGeom prst="rect">
            <a:avLst/>
          </a:prstGeom>
        </p:spPr>
      </p:pic>
      <p:pic>
        <p:nvPicPr>
          <p:cNvPr id="10" name="Picture 9">
            <a:extLst>
              <a:ext uri="{FF2B5EF4-FFF2-40B4-BE49-F238E27FC236}">
                <a16:creationId xmlns:a16="http://schemas.microsoft.com/office/drawing/2014/main" id="{91B04DA2-1566-0626-E186-136850705FEB}"/>
              </a:ext>
            </a:extLst>
          </p:cNvPr>
          <p:cNvPicPr>
            <a:picLocks noChangeAspect="1"/>
          </p:cNvPicPr>
          <p:nvPr/>
        </p:nvPicPr>
        <p:blipFill>
          <a:blip r:embed="rId4"/>
          <a:stretch>
            <a:fillRect/>
          </a:stretch>
        </p:blipFill>
        <p:spPr>
          <a:xfrm>
            <a:off x="6994754" y="939666"/>
            <a:ext cx="4690794" cy="2581091"/>
          </a:xfrm>
          <a:prstGeom prst="rect">
            <a:avLst/>
          </a:prstGeom>
        </p:spPr>
      </p:pic>
    </p:spTree>
    <p:extLst>
      <p:ext uri="{BB962C8B-B14F-4D97-AF65-F5344CB8AC3E}">
        <p14:creationId xmlns:p14="http://schemas.microsoft.com/office/powerpoint/2010/main" val="937111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0BA6E-1919-5A1A-08DB-82C21BF0E9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C6DE4A-1FE0-1E20-2967-9685764A6913}"/>
              </a:ext>
            </a:extLst>
          </p:cNvPr>
          <p:cNvSpPr>
            <a:spLocks noGrp="1"/>
          </p:cNvSpPr>
          <p:nvPr>
            <p:ph type="title"/>
          </p:nvPr>
        </p:nvSpPr>
        <p:spPr/>
        <p:txBody>
          <a:bodyPr/>
          <a:lstStyle/>
          <a:p>
            <a:r>
              <a:rPr lang="en-US"/>
              <a:t>7. Result</a:t>
            </a:r>
          </a:p>
        </p:txBody>
      </p:sp>
      <p:sp>
        <p:nvSpPr>
          <p:cNvPr id="3" name="Content Placeholder 2">
            <a:extLst>
              <a:ext uri="{FF2B5EF4-FFF2-40B4-BE49-F238E27FC236}">
                <a16:creationId xmlns:a16="http://schemas.microsoft.com/office/drawing/2014/main" id="{4612F5D5-32E7-40B8-6168-6273BECA3CC7}"/>
              </a:ext>
            </a:extLst>
          </p:cNvPr>
          <p:cNvSpPr>
            <a:spLocks noGrp="1"/>
          </p:cNvSpPr>
          <p:nvPr>
            <p:ph sz="quarter" idx="13"/>
          </p:nvPr>
        </p:nvSpPr>
        <p:spPr>
          <a:xfrm>
            <a:off x="606392" y="1066196"/>
            <a:ext cx="11415562" cy="1696255"/>
          </a:xfrm>
        </p:spPr>
        <p:txBody>
          <a:bodyPr/>
          <a:lstStyle/>
          <a:p>
            <a:r>
              <a:rPr lang="en-US"/>
              <a:t>On private dataset</a:t>
            </a:r>
          </a:p>
          <a:p>
            <a:pPr lvl="1"/>
            <a:r>
              <a:rPr lang="en-US"/>
              <a:t>High accuracy despite high Macro MAE is misleading.</a:t>
            </a:r>
          </a:p>
          <a:p>
            <a:pPr lvl="1"/>
            <a:r>
              <a:rPr lang="en-US"/>
              <a:t>All models suffer significant domain shift.</a:t>
            </a:r>
          </a:p>
          <a:p>
            <a:pPr lvl="1"/>
            <a:r>
              <a:rPr lang="en-US"/>
              <a:t>TCN and Transformer using Weighted CE and Ordinal Loss are more robust.</a:t>
            </a:r>
          </a:p>
        </p:txBody>
      </p:sp>
      <p:sp>
        <p:nvSpPr>
          <p:cNvPr id="4" name="Slide Number Placeholder 3">
            <a:extLst>
              <a:ext uri="{FF2B5EF4-FFF2-40B4-BE49-F238E27FC236}">
                <a16:creationId xmlns:a16="http://schemas.microsoft.com/office/drawing/2014/main" id="{A62FE809-DDDB-2D3A-E256-DB4C01E1F983}"/>
              </a:ext>
            </a:extLst>
          </p:cNvPr>
          <p:cNvSpPr>
            <a:spLocks noGrp="1"/>
          </p:cNvSpPr>
          <p:nvPr>
            <p:ph type="sldNum" sz="quarter" idx="12"/>
          </p:nvPr>
        </p:nvSpPr>
        <p:spPr/>
        <p:txBody>
          <a:bodyPr/>
          <a:lstStyle/>
          <a:p>
            <a:fld id="{9EA0BE3B-158A-4EDF-80DC-E394A0D1600F}" type="slidenum">
              <a:rPr lang="en-US" smtClean="0"/>
              <a:pPr/>
              <a:t>13</a:t>
            </a:fld>
            <a:endParaRPr lang="en-US" dirty="0"/>
          </a:p>
        </p:txBody>
      </p:sp>
      <p:pic>
        <p:nvPicPr>
          <p:cNvPr id="10" name="Picture 9">
            <a:extLst>
              <a:ext uri="{FF2B5EF4-FFF2-40B4-BE49-F238E27FC236}">
                <a16:creationId xmlns:a16="http://schemas.microsoft.com/office/drawing/2014/main" id="{8224392D-87D5-EE06-F4DE-4688DB6A8438}"/>
              </a:ext>
            </a:extLst>
          </p:cNvPr>
          <p:cNvPicPr>
            <a:picLocks noChangeAspect="1"/>
          </p:cNvPicPr>
          <p:nvPr/>
        </p:nvPicPr>
        <p:blipFill>
          <a:blip r:embed="rId2"/>
          <a:stretch>
            <a:fillRect/>
          </a:stretch>
        </p:blipFill>
        <p:spPr>
          <a:xfrm>
            <a:off x="2674219" y="2762451"/>
            <a:ext cx="6843562" cy="3440897"/>
          </a:xfrm>
          <a:prstGeom prst="rect">
            <a:avLst/>
          </a:prstGeom>
        </p:spPr>
      </p:pic>
    </p:spTree>
    <p:extLst>
      <p:ext uri="{BB962C8B-B14F-4D97-AF65-F5344CB8AC3E}">
        <p14:creationId xmlns:p14="http://schemas.microsoft.com/office/powerpoint/2010/main" val="13303338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A017C-92EE-FD41-B439-FE31B4F897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A93A2-C4D4-66C7-26E4-7FC6455D3C65}"/>
              </a:ext>
            </a:extLst>
          </p:cNvPr>
          <p:cNvSpPr>
            <a:spLocks noGrp="1"/>
          </p:cNvSpPr>
          <p:nvPr>
            <p:ph type="title"/>
          </p:nvPr>
        </p:nvSpPr>
        <p:spPr/>
        <p:txBody>
          <a:bodyPr/>
          <a:lstStyle/>
          <a:p>
            <a:r>
              <a:rPr lang="en-US"/>
              <a:t>8. Conclusion</a:t>
            </a:r>
          </a:p>
        </p:txBody>
      </p:sp>
      <p:sp>
        <p:nvSpPr>
          <p:cNvPr id="3" name="Content Placeholder 2">
            <a:extLst>
              <a:ext uri="{FF2B5EF4-FFF2-40B4-BE49-F238E27FC236}">
                <a16:creationId xmlns:a16="http://schemas.microsoft.com/office/drawing/2014/main" id="{91B47115-D02A-7156-F935-496273EB66FA}"/>
              </a:ext>
            </a:extLst>
          </p:cNvPr>
          <p:cNvSpPr>
            <a:spLocks noGrp="1"/>
          </p:cNvSpPr>
          <p:nvPr>
            <p:ph sz="quarter" idx="13"/>
          </p:nvPr>
        </p:nvSpPr>
        <p:spPr>
          <a:xfrm>
            <a:off x="606392" y="1066196"/>
            <a:ext cx="10366408" cy="4909124"/>
          </a:xfrm>
        </p:spPr>
        <p:txBody>
          <a:bodyPr/>
          <a:lstStyle/>
          <a:p>
            <a:r>
              <a:rPr lang="en-US"/>
              <a:t>Contribution: </a:t>
            </a:r>
          </a:p>
          <a:p>
            <a:pPr lvl="1"/>
            <a:r>
              <a:rPr lang="en-US"/>
              <a:t>Collected and labeled a small online engagement dataset of Vietnamese online class.</a:t>
            </a:r>
          </a:p>
          <a:p>
            <a:pPr lvl="1"/>
            <a:r>
              <a:rPr lang="en-US"/>
              <a:t>Compared loss functions and architectures for ordinal engagement recognition.</a:t>
            </a:r>
          </a:p>
          <a:p>
            <a:r>
              <a:rPr lang="en-US"/>
              <a:t>Limitation: </a:t>
            </a:r>
          </a:p>
          <a:p>
            <a:pPr lvl="1"/>
            <a:r>
              <a:rPr lang="en-US"/>
              <a:t>No configuration fully overcame domain shift.</a:t>
            </a:r>
          </a:p>
          <a:p>
            <a:r>
              <a:rPr lang="en-US"/>
              <a:t>Future work: </a:t>
            </a:r>
          </a:p>
          <a:p>
            <a:pPr lvl="1"/>
            <a:r>
              <a:rPr lang="en-US"/>
              <a:t>Use more diverse training data.</a:t>
            </a:r>
          </a:p>
          <a:p>
            <a:pPr lvl="1"/>
            <a:r>
              <a:rPr lang="en-US"/>
              <a:t>Expand private dataset.</a:t>
            </a:r>
          </a:p>
          <a:p>
            <a:pPr lvl="1"/>
            <a:r>
              <a:rPr lang="en-US"/>
              <a:t>Modality-robust fusion that transfer well on private dataset.</a:t>
            </a:r>
          </a:p>
        </p:txBody>
      </p:sp>
      <p:sp>
        <p:nvSpPr>
          <p:cNvPr id="4" name="Slide Number Placeholder 3">
            <a:extLst>
              <a:ext uri="{FF2B5EF4-FFF2-40B4-BE49-F238E27FC236}">
                <a16:creationId xmlns:a16="http://schemas.microsoft.com/office/drawing/2014/main" id="{48B122AE-A7DD-F39B-35DE-D341413FDCD3}"/>
              </a:ext>
            </a:extLst>
          </p:cNvPr>
          <p:cNvSpPr>
            <a:spLocks noGrp="1"/>
          </p:cNvSpPr>
          <p:nvPr>
            <p:ph type="sldNum" sz="quarter" idx="12"/>
          </p:nvPr>
        </p:nvSpPr>
        <p:spPr/>
        <p:txBody>
          <a:bodyPr/>
          <a:lstStyle/>
          <a:p>
            <a:fld id="{9EA0BE3B-158A-4EDF-80DC-E394A0D1600F}" type="slidenum">
              <a:rPr lang="en-US" smtClean="0"/>
              <a:pPr/>
              <a:t>14</a:t>
            </a:fld>
            <a:endParaRPr lang="en-US" dirty="0"/>
          </a:p>
        </p:txBody>
      </p:sp>
    </p:spTree>
    <p:extLst>
      <p:ext uri="{BB962C8B-B14F-4D97-AF65-F5344CB8AC3E}">
        <p14:creationId xmlns:p14="http://schemas.microsoft.com/office/powerpoint/2010/main" val="2811473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6">
            <a:extLst>
              <a:ext uri="{FF2B5EF4-FFF2-40B4-BE49-F238E27FC236}">
                <a16:creationId xmlns:a16="http://schemas.microsoft.com/office/drawing/2014/main" id="{5945A2BB-ABB6-48FB-A491-502474D93E34}"/>
              </a:ext>
            </a:extLst>
          </p:cNvPr>
          <p:cNvSpPr txBox="1">
            <a:spLocks/>
          </p:cNvSpPr>
          <p:nvPr/>
        </p:nvSpPr>
        <p:spPr>
          <a:xfrm>
            <a:off x="5605763" y="2869457"/>
            <a:ext cx="5422456" cy="971304"/>
          </a:xfrm>
          <a:prstGeom prst="rect">
            <a:avLst/>
          </a:prstGeom>
        </p:spPr>
        <p:txBody>
          <a:bodyPr/>
          <a:lstStyle>
            <a:lvl1pPr algn="l" defTabSz="914400" rtl="0" eaLnBrk="1" latinLnBrk="0" hangingPunct="1">
              <a:lnSpc>
                <a:spcPct val="90000"/>
              </a:lnSpc>
              <a:spcBef>
                <a:spcPct val="0"/>
              </a:spcBef>
              <a:buNone/>
              <a:defRPr sz="72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6000" dirty="0"/>
              <a:t>THANK YOU !</a:t>
            </a:r>
          </a:p>
        </p:txBody>
      </p:sp>
      <p:sp>
        <p:nvSpPr>
          <p:cNvPr id="3" name="Slide Number Placeholder 2">
            <a:extLst>
              <a:ext uri="{FF2B5EF4-FFF2-40B4-BE49-F238E27FC236}">
                <a16:creationId xmlns:a16="http://schemas.microsoft.com/office/drawing/2014/main" id="{B255FE58-BA70-418C-863F-55066B6675FB}"/>
              </a:ext>
            </a:extLst>
          </p:cNvPr>
          <p:cNvSpPr>
            <a:spLocks noGrp="1"/>
          </p:cNvSpPr>
          <p:nvPr>
            <p:ph type="sldNum" sz="quarter" idx="12"/>
          </p:nvPr>
        </p:nvSpPr>
        <p:spPr/>
        <p:txBody>
          <a:bodyPr/>
          <a:lstStyle/>
          <a:p>
            <a:fld id="{9EA0BE3B-158A-4EDF-80DC-E394A0D1600F}" type="slidenum">
              <a:rPr lang="en-US" smtClean="0"/>
              <a:pPr/>
              <a:t>15</a:t>
            </a:fld>
            <a:endParaRPr lang="en-US"/>
          </a:p>
        </p:txBody>
      </p:sp>
    </p:spTree>
    <p:extLst>
      <p:ext uri="{BB962C8B-B14F-4D97-AF65-F5344CB8AC3E}">
        <p14:creationId xmlns:p14="http://schemas.microsoft.com/office/powerpoint/2010/main" val="27906271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3553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642BA63-383F-45B9-939A-7A3B792A60C4}"/>
              </a:ext>
            </a:extLst>
          </p:cNvPr>
          <p:cNvSpPr>
            <a:spLocks noGrp="1"/>
          </p:cNvSpPr>
          <p:nvPr>
            <p:ph type="title"/>
          </p:nvPr>
        </p:nvSpPr>
        <p:spPr>
          <a:xfrm>
            <a:off x="3788898" y="2461846"/>
            <a:ext cx="4614203" cy="1934307"/>
          </a:xfrm>
        </p:spPr>
        <p:txBody>
          <a:bodyPr/>
          <a:lstStyle/>
          <a:p>
            <a:endParaRPr lang="en-US" dirty="0"/>
          </a:p>
        </p:txBody>
      </p:sp>
    </p:spTree>
    <p:extLst>
      <p:ext uri="{BB962C8B-B14F-4D97-AF65-F5344CB8AC3E}">
        <p14:creationId xmlns:p14="http://schemas.microsoft.com/office/powerpoint/2010/main" val="12340041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EFE0E-299A-46D8-9DF7-2C84CBBCAF45}"/>
              </a:ext>
            </a:extLst>
          </p:cNvPr>
          <p:cNvSpPr>
            <a:spLocks noGrp="1"/>
          </p:cNvSpPr>
          <p:nvPr>
            <p:ph type="title"/>
          </p:nvPr>
        </p:nvSpPr>
        <p:spPr/>
        <p:txBody>
          <a:bodyPr/>
          <a:lstStyle/>
          <a:p>
            <a:endParaRPr lang="en-US"/>
          </a:p>
        </p:txBody>
      </p:sp>
      <p:sp>
        <p:nvSpPr>
          <p:cNvPr id="3" name="Chart Placeholder 2">
            <a:extLst>
              <a:ext uri="{FF2B5EF4-FFF2-40B4-BE49-F238E27FC236}">
                <a16:creationId xmlns:a16="http://schemas.microsoft.com/office/drawing/2014/main" id="{22B1B2EF-F9E2-4625-AD70-EE979A3EA521}"/>
              </a:ext>
            </a:extLst>
          </p:cNvPr>
          <p:cNvSpPr>
            <a:spLocks noGrp="1"/>
          </p:cNvSpPr>
          <p:nvPr>
            <p:ph type="chart" sz="quarter" idx="13"/>
          </p:nvPr>
        </p:nvSpPr>
        <p:spPr/>
        <p:txBody>
          <a:bodyPr/>
          <a:lstStyle/>
          <a:p>
            <a:endParaRPr lang="en-GB"/>
          </a:p>
        </p:txBody>
      </p:sp>
      <p:sp>
        <p:nvSpPr>
          <p:cNvPr id="4" name="Table Placeholder 3">
            <a:extLst>
              <a:ext uri="{FF2B5EF4-FFF2-40B4-BE49-F238E27FC236}">
                <a16:creationId xmlns:a16="http://schemas.microsoft.com/office/drawing/2014/main" id="{9B7570B9-F44D-4F61-BF1F-C3F752BCAAB3}"/>
              </a:ext>
            </a:extLst>
          </p:cNvPr>
          <p:cNvSpPr>
            <a:spLocks noGrp="1"/>
          </p:cNvSpPr>
          <p:nvPr>
            <p:ph type="tbl" sz="quarter" idx="14"/>
          </p:nvPr>
        </p:nvSpPr>
        <p:spPr/>
        <p:txBody>
          <a:bodyPr/>
          <a:lstStyle/>
          <a:p>
            <a:endParaRPr lang="en-GB"/>
          </a:p>
        </p:txBody>
      </p:sp>
      <p:sp>
        <p:nvSpPr>
          <p:cNvPr id="5" name="Slide Number Placeholder 4">
            <a:extLst>
              <a:ext uri="{FF2B5EF4-FFF2-40B4-BE49-F238E27FC236}">
                <a16:creationId xmlns:a16="http://schemas.microsoft.com/office/drawing/2014/main" id="{E8B4E653-E636-4EED-9A37-BC263FE84A93}"/>
              </a:ext>
            </a:extLst>
          </p:cNvPr>
          <p:cNvSpPr>
            <a:spLocks noGrp="1"/>
          </p:cNvSpPr>
          <p:nvPr>
            <p:ph type="sldNum" sz="quarter" idx="12"/>
          </p:nvPr>
        </p:nvSpPr>
        <p:spPr/>
        <p:txBody>
          <a:bodyPr/>
          <a:lstStyle/>
          <a:p>
            <a:fld id="{9EA0BE3B-158A-4EDF-80DC-E394A0D1600F}" type="slidenum">
              <a:rPr lang="en-US" smtClean="0"/>
              <a:pPr/>
              <a:t>18</a:t>
            </a:fld>
            <a:endParaRPr lang="en-US"/>
          </a:p>
        </p:txBody>
      </p:sp>
    </p:spTree>
    <p:extLst>
      <p:ext uri="{BB962C8B-B14F-4D97-AF65-F5344CB8AC3E}">
        <p14:creationId xmlns:p14="http://schemas.microsoft.com/office/powerpoint/2010/main" val="22877002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CB19AD86CDF2D4DBF9DAD694EFBC09D" ma:contentTypeVersion="7" ma:contentTypeDescription="Create a new document." ma:contentTypeScope="" ma:versionID="6423fc3df46fff0625ec86a02e55459f">
  <xsd:schema xmlns:xsd="http://www.w3.org/2001/XMLSchema" xmlns:xs="http://www.w3.org/2001/XMLSchema" xmlns:p="http://schemas.microsoft.com/office/2006/metadata/properties" xmlns:ns2="757826ba-dfa3-48aa-98b2-1e988427fee5" xmlns:ns3="e4770848-7955-4ec6-9f06-ace3904740ab" targetNamespace="http://schemas.microsoft.com/office/2006/metadata/properties" ma:root="true" ma:fieldsID="24cf96f43bac35fd0bad3b1a63bec25f" ns2:_="" ns3:_="">
    <xsd:import namespace="757826ba-dfa3-48aa-98b2-1e988427fee5"/>
    <xsd:import namespace="e4770848-7955-4ec6-9f06-ace3904740ab"/>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57826ba-dfa3-48aa-98b2-1e988427fee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e4770848-7955-4ec6-9f06-ace3904740ab"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BC316FA-151E-4EDB-9E09-98DAB3D0971A}">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4D971-5E4A-4DCB-9925-F7DA6878D485}">
  <ds:schemaRefs>
    <ds:schemaRef ds:uri="http://schemas.microsoft.com/sharepoint/v3/contenttype/forms"/>
  </ds:schemaRefs>
</ds:datastoreItem>
</file>

<file path=customXml/itemProps3.xml><?xml version="1.0" encoding="utf-8"?>
<ds:datastoreItem xmlns:ds="http://schemas.openxmlformats.org/officeDocument/2006/customXml" ds:itemID="{698E78E3-0A98-4D61-9B64-F38933067CC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57826ba-dfa3-48aa-98b2-1e988427fee5"/>
    <ds:schemaRef ds:uri="e4770848-7955-4ec6-9f06-ace3904740a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3773</TotalTime>
  <Words>695</Words>
  <Application>Microsoft Office PowerPoint</Application>
  <PresentationFormat>Widescreen</PresentationFormat>
  <Paragraphs>120</Paragraphs>
  <Slides>18</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Cambria Math</vt:lpstr>
      <vt:lpstr>Lato</vt:lpstr>
      <vt:lpstr>Office Theme</vt:lpstr>
      <vt:lpstr>PowerPoint Presentation</vt:lpstr>
      <vt:lpstr>Content</vt:lpstr>
      <vt:lpstr>1. Introduction</vt:lpstr>
      <vt:lpstr>2. Problem Statement</vt:lpstr>
      <vt:lpstr>3. Datasets</vt:lpstr>
      <vt:lpstr>4. Feature Extraction</vt:lpstr>
      <vt:lpstr>5. Architectures</vt:lpstr>
      <vt:lpstr>6. Losses &amp; Metrics</vt:lpstr>
      <vt:lpstr>6. Losses &amp; Metrics</vt:lpstr>
      <vt:lpstr>7. Result</vt:lpstr>
      <vt:lpstr>7. Result</vt:lpstr>
      <vt:lpstr>7. Result</vt:lpstr>
      <vt:lpstr>7. Result</vt:lpstr>
      <vt:lpstr>8. Conclusion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Hòa Phan Minh</cp:lastModifiedBy>
  <cp:revision>18</cp:revision>
  <dcterms:created xsi:type="dcterms:W3CDTF">2021-05-28T04:32:29Z</dcterms:created>
  <dcterms:modified xsi:type="dcterms:W3CDTF">2026-06-23T12:03:17Z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0x010100ECB19AD86CDF2D4DBF9DAD694EFBC09D</vt:lpwstr>
  </property>
</Properties>
</file>